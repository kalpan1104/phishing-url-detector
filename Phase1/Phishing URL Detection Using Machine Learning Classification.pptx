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0" r:id="rId3"/>
  </p:sldMasterIdLst>
  <p:notesMasterIdLst>
    <p:notesMasterId r:id="rId4"/>
  </p:notesMasterIdLst>
  <p:sldIdLst>
    <p:sldId id="256" r:id="rId5"/>
    <p:sldId id="257" r:id="rId6"/>
    <p:sldId id="258" r:id="rId7"/>
    <p:sldId id="259" r:id="rId8"/>
    <p:sldId id="260" r:id="rId9"/>
    <p:sldId id="261" r:id="rId10"/>
    <p:sldId id="262" r:id="rId11"/>
    <p:sldId id="263" r:id="rId12"/>
  </p:sldIdLst>
  <p:sldSz cy="6858000" cx="12192000"/>
  <p:notesSz cx="6858000" cy="12192000"/>
  <p:embeddedFontLst>
    <p:embeddedFont>
      <p:font typeface="Sorts Mill Goudy"/>
      <p:regular r:id="rId13"/>
      <p:italic r:id="rId1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font" Target="fonts/SortsMillGoudy-regular.fntdata"/><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4" Type="http://schemas.openxmlformats.org/officeDocument/2006/relationships/font" Target="fonts/SortsMillGoudy-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t>‹#›</a:t>
            </a:fld>
            <a:endParaRPr b="0" i="0" sz="1200" u="none" cap="none" strike="noStrik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 name="Shape 12"/>
        <p:cNvGrpSpPr/>
        <p:nvPr/>
      </p:nvGrpSpPr>
      <p:grpSpPr>
        <a:xfrm>
          <a:off x="0" y="0"/>
          <a:ext cx="0" cy="0"/>
          <a:chOff x="0" y="0"/>
          <a:chExt cx="0" cy="0"/>
        </a:xfrm>
      </p:grpSpPr>
      <p:sp>
        <p:nvSpPr>
          <p:cNvPr id="13" name="Google Shape;1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 name="Google Shape;1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 name="Google Shape;15;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 name="Google Shape;2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 name="Google Shape;2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 name="Google Shape;6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 name="Google Shape;6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 name="Google Shape;11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 name="Google Shape;15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 name="Google Shape;22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0" name="Google Shape;27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5" name="Google Shape;33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6" name="Google Shape;33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PTIST_MASTER">
  <p:cSld name="PPTIST_MASTER">
    <p:bg>
      <p:bgPr>
        <a:solidFill>
          <a:srgbClr val="FFFFFF"/>
        </a:solidFill>
      </p:bgPr>
    </p:bg>
    <p:spTree>
      <p:nvGrpSpPr>
        <p:cNvPr id="11" name="Shape 1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 name="Shape 16"/>
        <p:cNvGrpSpPr/>
        <p:nvPr/>
      </p:nvGrpSpPr>
      <p:grpSpPr>
        <a:xfrm>
          <a:off x="0" y="0"/>
          <a:ext cx="0" cy="0"/>
          <a:chOff x="0" y="0"/>
          <a:chExt cx="0" cy="0"/>
        </a:xfrm>
      </p:grpSpPr>
      <p:sp>
        <p:nvSpPr>
          <p:cNvPr id="17" name="Google Shape;17;p4"/>
          <p:cNvSpPr/>
          <p:nvPr/>
        </p:nvSpPr>
        <p:spPr>
          <a:xfrm>
            <a:off x="381000" y="1309688"/>
            <a:ext cx="11715750" cy="214312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4500" u="none" cap="none" strike="noStrike">
                <a:solidFill>
                  <a:srgbClr val="1F2937"/>
                </a:solidFill>
                <a:latin typeface="Sorts Mill Goudy"/>
                <a:ea typeface="Sorts Mill Goudy"/>
                <a:cs typeface="Sorts Mill Goudy"/>
                <a:sym typeface="Sorts Mill Goudy"/>
              </a:rPr>
              <a:t>Phishing URL Detection</a:t>
            </a:r>
            <a:endParaRPr b="0" i="0" sz="1600" u="none" cap="none" strike="noStrike"/>
          </a:p>
          <a:p>
            <a:pPr indent="0" lvl="0" marL="0" marR="0" rtl="0" algn="l">
              <a:lnSpc>
                <a:spcPct val="100000"/>
              </a:lnSpc>
              <a:spcBef>
                <a:spcPts val="0"/>
              </a:spcBef>
              <a:spcAft>
                <a:spcPts val="0"/>
              </a:spcAft>
              <a:buNone/>
            </a:pPr>
            <a:r>
              <a:rPr b="1" i="0" lang="en-US" sz="4500" u="none" cap="none" strike="noStrike">
                <a:solidFill>
                  <a:srgbClr val="8B0000"/>
                </a:solidFill>
                <a:latin typeface="Sorts Mill Goudy"/>
                <a:ea typeface="Sorts Mill Goudy"/>
                <a:cs typeface="Sorts Mill Goudy"/>
                <a:sym typeface="Sorts Mill Goudy"/>
              </a:rPr>
              <a:t>Using Machine Learning</a:t>
            </a:r>
            <a:endParaRPr b="0" i="0" sz="1600" u="none" cap="none" strike="noStrike"/>
          </a:p>
          <a:p>
            <a:pPr indent="0" lvl="0" marL="0" marR="0" rtl="0" algn="l">
              <a:lnSpc>
                <a:spcPct val="100000"/>
              </a:lnSpc>
              <a:spcBef>
                <a:spcPts val="0"/>
              </a:spcBef>
              <a:spcAft>
                <a:spcPts val="0"/>
              </a:spcAft>
              <a:buNone/>
            </a:pPr>
            <a:r>
              <a:rPr b="1" i="0" lang="en-US" sz="4500" u="none" cap="none" strike="noStrike">
                <a:solidFill>
                  <a:srgbClr val="1F2937"/>
                </a:solidFill>
                <a:latin typeface="Sorts Mill Goudy"/>
                <a:ea typeface="Sorts Mill Goudy"/>
                <a:cs typeface="Sorts Mill Goudy"/>
                <a:sym typeface="Sorts Mill Goudy"/>
              </a:rPr>
              <a:t>Classification</a:t>
            </a:r>
            <a:endParaRPr b="0" i="0" sz="1600" u="none" cap="none" strike="noStrike"/>
          </a:p>
        </p:txBody>
      </p:sp>
      <p:sp>
        <p:nvSpPr>
          <p:cNvPr id="18" name="Google Shape;18;p4"/>
          <p:cNvSpPr/>
          <p:nvPr/>
        </p:nvSpPr>
        <p:spPr>
          <a:xfrm>
            <a:off x="381000" y="3681413"/>
            <a:ext cx="1219200" cy="38100"/>
          </a:xfrm>
          <a:custGeom>
            <a:rect b="b" l="l" r="r" t="t"/>
            <a:pathLst>
              <a:path extrusionOk="0" h="38100" w="1219200">
                <a:moveTo>
                  <a:pt x="0" y="0"/>
                </a:moveTo>
                <a:lnTo>
                  <a:pt x="1219200" y="0"/>
                </a:lnTo>
                <a:lnTo>
                  <a:pt x="1219200" y="38100"/>
                </a:lnTo>
                <a:lnTo>
                  <a:pt x="0" y="38100"/>
                </a:lnTo>
                <a:lnTo>
                  <a:pt x="0" y="0"/>
                </a:lnTo>
                <a:close/>
              </a:path>
            </a:pathLst>
          </a:custGeom>
          <a:solidFill>
            <a:srgbClr val="8B0000"/>
          </a:solidFill>
          <a:ln>
            <a:noFill/>
          </a:ln>
        </p:spPr>
      </p:sp>
      <p:sp>
        <p:nvSpPr>
          <p:cNvPr id="19" name="Google Shape;19;p4"/>
          <p:cNvSpPr/>
          <p:nvPr/>
        </p:nvSpPr>
        <p:spPr>
          <a:xfrm>
            <a:off x="381000" y="4329113"/>
            <a:ext cx="11544300" cy="3048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i="0" lang="en-US" sz="1800" u="none" cap="none" strike="noStrike">
                <a:solidFill>
                  <a:srgbClr val="1F2937"/>
                </a:solidFill>
                <a:latin typeface="Sorts Mill Goudy"/>
                <a:ea typeface="Sorts Mill Goudy"/>
                <a:cs typeface="Sorts Mill Goudy"/>
                <a:sym typeface="Sorts Mill Goudy"/>
              </a:rPr>
              <a:t>Kalpan Pankajbhai Shah</a:t>
            </a:r>
            <a:endParaRPr b="0" i="0" sz="1600" u="none" cap="none" strike="noStrike"/>
          </a:p>
        </p:txBody>
      </p:sp>
      <p:sp>
        <p:nvSpPr>
          <p:cNvPr id="20" name="Google Shape;20;p4"/>
          <p:cNvSpPr/>
          <p:nvPr/>
        </p:nvSpPr>
        <p:spPr>
          <a:xfrm>
            <a:off x="381000" y="4748213"/>
            <a:ext cx="11544300" cy="3048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i="0" lang="en-US" sz="1800" u="none" cap="none" strike="noStrike">
                <a:solidFill>
                  <a:srgbClr val="1F2937"/>
                </a:solidFill>
                <a:latin typeface="Sorts Mill Goudy"/>
                <a:ea typeface="Sorts Mill Goudy"/>
                <a:cs typeface="Sorts Mill Goudy"/>
                <a:sym typeface="Sorts Mill Goudy"/>
              </a:rPr>
              <a:t>Shaikh Basim Mushtaque Ahmed</a:t>
            </a:r>
            <a:endParaRPr b="0" i="0" sz="1600" u="none" cap="none" strike="noStrike"/>
          </a:p>
        </p:txBody>
      </p:sp>
      <p:sp>
        <p:nvSpPr>
          <p:cNvPr id="21" name="Google Shape;21;p4"/>
          <p:cNvSpPr/>
          <p:nvPr/>
        </p:nvSpPr>
        <p:spPr>
          <a:xfrm>
            <a:off x="381000" y="5167313"/>
            <a:ext cx="11544300" cy="3048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i="0" lang="en-US" sz="1800" u="none" cap="none" strike="noStrike">
                <a:solidFill>
                  <a:srgbClr val="1F2937"/>
                </a:solidFill>
                <a:latin typeface="Sorts Mill Goudy"/>
                <a:ea typeface="Sorts Mill Goudy"/>
                <a:cs typeface="Sorts Mill Goudy"/>
                <a:sym typeface="Sorts Mill Goudy"/>
              </a:rPr>
              <a:t>Navaneeth Maruthi</a:t>
            </a:r>
            <a:endParaRPr b="0" i="0" sz="1600" u="none" cap="none" strike="noStrike"/>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 name="Shape 26"/>
        <p:cNvGrpSpPr/>
        <p:nvPr/>
      </p:nvGrpSpPr>
      <p:grpSpPr>
        <a:xfrm>
          <a:off x="0" y="0"/>
          <a:ext cx="0" cy="0"/>
          <a:chOff x="0" y="0"/>
          <a:chExt cx="0" cy="0"/>
        </a:xfrm>
      </p:grpSpPr>
      <p:sp>
        <p:nvSpPr>
          <p:cNvPr id="27" name="Google Shape;27;p5"/>
          <p:cNvSpPr/>
          <p:nvPr/>
        </p:nvSpPr>
        <p:spPr>
          <a:xfrm>
            <a:off x="381000" y="400050"/>
            <a:ext cx="238125"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2250" u="none" cap="none" strike="noStrike">
                <a:solidFill>
                  <a:srgbClr val="8B0000"/>
                </a:solidFill>
                <a:latin typeface="Sorts Mill Goudy"/>
                <a:ea typeface="Sorts Mill Goudy"/>
                <a:cs typeface="Sorts Mill Goudy"/>
                <a:sym typeface="Sorts Mill Goudy"/>
              </a:rPr>
              <a:t>1</a:t>
            </a:r>
            <a:endParaRPr b="0" i="0" sz="1600" u="none" cap="none" strike="noStrike"/>
          </a:p>
        </p:txBody>
      </p:sp>
      <p:sp>
        <p:nvSpPr>
          <p:cNvPr id="28" name="Google Shape;28;p5"/>
          <p:cNvSpPr/>
          <p:nvPr/>
        </p:nvSpPr>
        <p:spPr>
          <a:xfrm>
            <a:off x="592485" y="381000"/>
            <a:ext cx="2066925" cy="3810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1" i="0" lang="en-US" sz="2700" u="none" cap="none" strike="noStrike">
                <a:solidFill>
                  <a:srgbClr val="1F2937"/>
                </a:solidFill>
                <a:latin typeface="Sorts Mill Goudy"/>
                <a:ea typeface="Sorts Mill Goudy"/>
                <a:cs typeface="Sorts Mill Goudy"/>
                <a:sym typeface="Sorts Mill Goudy"/>
              </a:rPr>
              <a:t>Introduction</a:t>
            </a:r>
            <a:endParaRPr b="0" i="0" sz="1600" u="none" cap="none" strike="noStrike"/>
          </a:p>
        </p:txBody>
      </p:sp>
      <p:sp>
        <p:nvSpPr>
          <p:cNvPr id="29" name="Google Shape;29;p5"/>
          <p:cNvSpPr/>
          <p:nvPr/>
        </p:nvSpPr>
        <p:spPr>
          <a:xfrm>
            <a:off x="838200" y="838200"/>
            <a:ext cx="914400" cy="38100"/>
          </a:xfrm>
          <a:custGeom>
            <a:rect b="b" l="l" r="r" t="t"/>
            <a:pathLst>
              <a:path extrusionOk="0" h="38100" w="914400">
                <a:moveTo>
                  <a:pt x="0" y="0"/>
                </a:moveTo>
                <a:lnTo>
                  <a:pt x="914400" y="0"/>
                </a:lnTo>
                <a:lnTo>
                  <a:pt x="914400" y="38100"/>
                </a:lnTo>
                <a:lnTo>
                  <a:pt x="0" y="38100"/>
                </a:lnTo>
                <a:lnTo>
                  <a:pt x="0" y="0"/>
                </a:lnTo>
                <a:close/>
              </a:path>
            </a:pathLst>
          </a:custGeom>
          <a:solidFill>
            <a:srgbClr val="8B0000"/>
          </a:solidFill>
          <a:ln>
            <a:noFill/>
          </a:ln>
        </p:spPr>
      </p:sp>
      <p:sp>
        <p:nvSpPr>
          <p:cNvPr id="30" name="Google Shape;30;p5"/>
          <p:cNvSpPr/>
          <p:nvPr/>
        </p:nvSpPr>
        <p:spPr>
          <a:xfrm>
            <a:off x="381000" y="1028700"/>
            <a:ext cx="323850" cy="3048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i="0" lang="en-US" sz="1800" u="none" cap="none" strike="noStrike">
                <a:solidFill>
                  <a:srgbClr val="8B0000"/>
                </a:solidFill>
                <a:latin typeface="Sorts Mill Goudy"/>
                <a:ea typeface="Sorts Mill Goudy"/>
                <a:cs typeface="Sorts Mill Goudy"/>
                <a:sym typeface="Sorts Mill Goudy"/>
              </a:rPr>
              <a:t>1.1</a:t>
            </a:r>
            <a:endParaRPr b="0" i="0" sz="1600" u="none" cap="none" strike="noStrike"/>
          </a:p>
        </p:txBody>
      </p:sp>
      <p:sp>
        <p:nvSpPr>
          <p:cNvPr id="31" name="Google Shape;31;p5"/>
          <p:cNvSpPr/>
          <p:nvPr/>
        </p:nvSpPr>
        <p:spPr>
          <a:xfrm>
            <a:off x="708422" y="1028700"/>
            <a:ext cx="3600450" cy="3048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i="0" lang="en-US" sz="1800" u="none" cap="none" strike="noStrike">
                <a:solidFill>
                  <a:srgbClr val="1F2937"/>
                </a:solidFill>
                <a:latin typeface="Sorts Mill Goudy"/>
                <a:ea typeface="Sorts Mill Goudy"/>
                <a:cs typeface="Sorts Mill Goudy"/>
                <a:sym typeface="Sorts Mill Goudy"/>
              </a:rPr>
              <a:t>Problem Definition and Importance</a:t>
            </a:r>
            <a:endParaRPr b="0" i="0" sz="1600" u="none" cap="none" strike="noStrike"/>
          </a:p>
        </p:txBody>
      </p:sp>
      <p:sp>
        <p:nvSpPr>
          <p:cNvPr id="32" name="Google Shape;32;p5"/>
          <p:cNvSpPr/>
          <p:nvPr/>
        </p:nvSpPr>
        <p:spPr>
          <a:xfrm>
            <a:off x="708425" y="1485900"/>
            <a:ext cx="6391200" cy="16653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US" sz="1350">
                <a:solidFill>
                  <a:srgbClr val="1F2937"/>
                </a:solidFill>
                <a:latin typeface="Sorts Mill Goudy"/>
                <a:ea typeface="Sorts Mill Goudy"/>
                <a:cs typeface="Sorts Mill Goudy"/>
                <a:sym typeface="Sorts Mill Goudy"/>
              </a:rPr>
              <a:t>Due to u</a:t>
            </a:r>
            <a:r>
              <a:rPr lang="en-US" sz="1350">
                <a:solidFill>
                  <a:srgbClr val="1F2937"/>
                </a:solidFill>
                <a:latin typeface="Sorts Mill Goudy"/>
                <a:ea typeface="Sorts Mill Goudy"/>
                <a:cs typeface="Sorts Mill Goudy"/>
                <a:sym typeface="Sorts Mill Goudy"/>
              </a:rPr>
              <a:t>sers' preferences shifting from traditional shopping to electronic commerce, </a:t>
            </a:r>
            <a:r>
              <a:rPr b="1" i="0" lang="en-US" sz="1350" u="none" cap="none" strike="noStrike">
                <a:solidFill>
                  <a:srgbClr val="8B0000"/>
                </a:solidFill>
                <a:latin typeface="Sorts Mill Goudy"/>
                <a:ea typeface="Sorts Mill Goudy"/>
                <a:cs typeface="Sorts Mill Goudy"/>
                <a:sym typeface="Sorts Mill Goudy"/>
              </a:rPr>
              <a:t>Phishing</a:t>
            </a:r>
            <a:r>
              <a:rPr b="1" i="0" lang="en-US" sz="1350" u="none" cap="none" strike="noStrike">
                <a:solidFill>
                  <a:srgbClr val="8B0000"/>
                </a:solidFill>
                <a:latin typeface="Sorts Mill Goudy"/>
                <a:ea typeface="Sorts Mill Goudy"/>
                <a:cs typeface="Sorts Mill Goudy"/>
                <a:sym typeface="Sorts Mill Goudy"/>
              </a:rPr>
              <a:t> attacks</a:t>
            </a:r>
            <a:r>
              <a:rPr b="0" i="0" lang="en-US" sz="1350" u="none" cap="none" strike="noStrike">
                <a:solidFill>
                  <a:srgbClr val="1F2937"/>
                </a:solidFill>
                <a:latin typeface="Sorts Mill Goudy"/>
                <a:ea typeface="Sorts Mill Goudy"/>
                <a:cs typeface="Sorts Mill Goudy"/>
                <a:sym typeface="Sorts Mill Goudy"/>
              </a:rPr>
              <a:t> continue to pose a major threat for computer system defenders, often forming the first step in a multi-stage attack. </a:t>
            </a:r>
            <a:r>
              <a:rPr lang="en-US" sz="1350">
                <a:solidFill>
                  <a:srgbClr val="1F2937"/>
                </a:solidFill>
                <a:latin typeface="Sorts Mill Goudy"/>
                <a:ea typeface="Sorts Mill Goudy"/>
                <a:cs typeface="Sorts Mill Goudy"/>
                <a:sym typeface="Sorts Mill Goudy"/>
              </a:rPr>
              <a:t>Instead of robbing banks or shops, thieves now use sophisticated techniques to locate victims online. Attackers trick victims into visiting fake websites to steal private information, including passwords, usernames, and account IDs.</a:t>
            </a:r>
            <a:endParaRPr b="0" i="0" sz="1600" u="none" cap="none" strike="noStrike"/>
          </a:p>
        </p:txBody>
      </p:sp>
      <p:sp>
        <p:nvSpPr>
          <p:cNvPr id="33" name="Google Shape;33;p5"/>
          <p:cNvSpPr/>
          <p:nvPr/>
        </p:nvSpPr>
        <p:spPr>
          <a:xfrm>
            <a:off x="7380908" y="1033462"/>
            <a:ext cx="4429125" cy="3038475"/>
          </a:xfrm>
          <a:custGeom>
            <a:rect b="b" l="l" r="r" t="t"/>
            <a:pathLst>
              <a:path extrusionOk="0" h="3038475" w="4429125">
                <a:moveTo>
                  <a:pt x="0" y="0"/>
                </a:moveTo>
                <a:lnTo>
                  <a:pt x="4429125" y="0"/>
                </a:lnTo>
                <a:lnTo>
                  <a:pt x="4429125" y="3038475"/>
                </a:lnTo>
                <a:lnTo>
                  <a:pt x="0" y="3038475"/>
                </a:lnTo>
                <a:lnTo>
                  <a:pt x="0" y="0"/>
                </a:lnTo>
                <a:close/>
              </a:path>
            </a:pathLst>
          </a:custGeom>
          <a:solidFill>
            <a:srgbClr val="F9FAFB"/>
          </a:solidFill>
          <a:ln cap="flat" cmpd="sng" w="12700">
            <a:solidFill>
              <a:srgbClr val="E5E7EB"/>
            </a:solidFill>
            <a:prstDash val="solid"/>
            <a:round/>
            <a:headEnd len="sm" w="sm" type="none"/>
            <a:tailEnd len="sm" w="sm" type="none"/>
          </a:ln>
        </p:spPr>
      </p:sp>
      <p:sp>
        <p:nvSpPr>
          <p:cNvPr id="34" name="Google Shape;34;p5"/>
          <p:cNvSpPr/>
          <p:nvPr/>
        </p:nvSpPr>
        <p:spPr>
          <a:xfrm>
            <a:off x="7599983" y="1266825"/>
            <a:ext cx="190500" cy="190500"/>
          </a:xfrm>
          <a:custGeom>
            <a:rect b="b" l="l" r="r" t="t"/>
            <a:pathLst>
              <a:path extrusionOk="0" h="190500" w="190500">
                <a:moveTo>
                  <a:pt x="23812" y="23812"/>
                </a:moveTo>
                <a:cubicBezTo>
                  <a:pt x="23812" y="17227"/>
                  <a:pt x="18492" y="11906"/>
                  <a:pt x="11906" y="11906"/>
                </a:cubicBezTo>
                <a:cubicBezTo>
                  <a:pt x="5321" y="11906"/>
                  <a:pt x="0" y="17227"/>
                  <a:pt x="0" y="23812"/>
                </a:cubicBezTo>
                <a:lnTo>
                  <a:pt x="0" y="148828"/>
                </a:lnTo>
                <a:cubicBezTo>
                  <a:pt x="0" y="165274"/>
                  <a:pt x="13320" y="178594"/>
                  <a:pt x="29766" y="178594"/>
                </a:cubicBezTo>
                <a:lnTo>
                  <a:pt x="178594" y="178594"/>
                </a:lnTo>
                <a:cubicBezTo>
                  <a:pt x="185179" y="178594"/>
                  <a:pt x="190500" y="173273"/>
                  <a:pt x="190500" y="166688"/>
                </a:cubicBezTo>
                <a:cubicBezTo>
                  <a:pt x="190500" y="160102"/>
                  <a:pt x="185179" y="154781"/>
                  <a:pt x="178594" y="154781"/>
                </a:cubicBezTo>
                <a:lnTo>
                  <a:pt x="29766" y="154781"/>
                </a:lnTo>
                <a:cubicBezTo>
                  <a:pt x="26491" y="154781"/>
                  <a:pt x="23812" y="152102"/>
                  <a:pt x="23812" y="148828"/>
                </a:cubicBezTo>
                <a:lnTo>
                  <a:pt x="23812" y="23812"/>
                </a:lnTo>
                <a:close/>
                <a:moveTo>
                  <a:pt x="175096" y="56034"/>
                </a:moveTo>
                <a:cubicBezTo>
                  <a:pt x="179747" y="51383"/>
                  <a:pt x="179747" y="43830"/>
                  <a:pt x="175096" y="39179"/>
                </a:cubicBezTo>
                <a:cubicBezTo>
                  <a:pt x="170445" y="34528"/>
                  <a:pt x="162892" y="34528"/>
                  <a:pt x="158242" y="39179"/>
                </a:cubicBezTo>
                <a:lnTo>
                  <a:pt x="119063" y="78395"/>
                </a:lnTo>
                <a:lnTo>
                  <a:pt x="97706" y="57076"/>
                </a:lnTo>
                <a:cubicBezTo>
                  <a:pt x="93055" y="52425"/>
                  <a:pt x="85502" y="52425"/>
                  <a:pt x="80851" y="57076"/>
                </a:cubicBezTo>
                <a:lnTo>
                  <a:pt x="45132" y="92794"/>
                </a:lnTo>
                <a:cubicBezTo>
                  <a:pt x="40481" y="97445"/>
                  <a:pt x="40481" y="104998"/>
                  <a:pt x="45132" y="109649"/>
                </a:cubicBezTo>
                <a:cubicBezTo>
                  <a:pt x="49783" y="114300"/>
                  <a:pt x="57336" y="114300"/>
                  <a:pt x="61987" y="109649"/>
                </a:cubicBezTo>
                <a:lnTo>
                  <a:pt x="89297" y="82339"/>
                </a:lnTo>
                <a:lnTo>
                  <a:pt x="110654" y="103696"/>
                </a:lnTo>
                <a:cubicBezTo>
                  <a:pt x="115305" y="108347"/>
                  <a:pt x="122858" y="108347"/>
                  <a:pt x="127508" y="103696"/>
                </a:cubicBezTo>
                <a:lnTo>
                  <a:pt x="175133" y="56071"/>
                </a:lnTo>
                <a:close/>
              </a:path>
            </a:pathLst>
          </a:custGeom>
          <a:solidFill>
            <a:srgbClr val="8B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a:off x="7814295" y="1228725"/>
            <a:ext cx="3895725" cy="2667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500" u="none" cap="none" strike="noStrike">
                <a:solidFill>
                  <a:srgbClr val="8B0000"/>
                </a:solidFill>
                <a:latin typeface="Sorts Mill Goudy"/>
                <a:ea typeface="Sorts Mill Goudy"/>
                <a:cs typeface="Sorts Mill Goudy"/>
                <a:sym typeface="Sorts Mill Goudy"/>
              </a:rPr>
              <a:t>Attack Statistics</a:t>
            </a:r>
            <a:endParaRPr b="0" i="0" sz="1600" u="none" cap="none" strike="noStrike"/>
          </a:p>
        </p:txBody>
      </p:sp>
      <p:sp>
        <p:nvSpPr>
          <p:cNvPr id="36" name="Google Shape;36;p5"/>
          <p:cNvSpPr/>
          <p:nvPr/>
        </p:nvSpPr>
        <p:spPr>
          <a:xfrm>
            <a:off x="7576170" y="1647825"/>
            <a:ext cx="1114425"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0" i="0" lang="en-US" sz="1200" u="none" cap="none" strike="noStrike">
                <a:solidFill>
                  <a:srgbClr val="1F2937"/>
                </a:solidFill>
                <a:latin typeface="Sorts Mill Goudy"/>
                <a:ea typeface="Sorts Mill Goudy"/>
                <a:cs typeface="Sorts Mill Goudy"/>
                <a:sym typeface="Sorts Mill Goudy"/>
              </a:rPr>
              <a:t>Phishing Emails</a:t>
            </a:r>
            <a:endParaRPr b="0" i="0" sz="1600" u="none" cap="none" strike="noStrike"/>
          </a:p>
        </p:txBody>
      </p:sp>
      <p:sp>
        <p:nvSpPr>
          <p:cNvPr id="37" name="Google Shape;37;p5"/>
          <p:cNvSpPr/>
          <p:nvPr/>
        </p:nvSpPr>
        <p:spPr>
          <a:xfrm>
            <a:off x="11042452" y="1647825"/>
            <a:ext cx="647700"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i="0" lang="en-US" sz="1200" u="none" cap="none" strike="noStrike">
                <a:solidFill>
                  <a:srgbClr val="8B0000"/>
                </a:solidFill>
                <a:latin typeface="Sorts Mill Goudy"/>
                <a:ea typeface="Sorts Mill Goudy"/>
                <a:cs typeface="Sorts Mill Goudy"/>
                <a:sym typeface="Sorts Mill Goudy"/>
              </a:rPr>
              <a:t>3.4B/day</a:t>
            </a:r>
            <a:endParaRPr b="0" i="0" sz="1600" u="none" cap="none" strike="noStrike"/>
          </a:p>
        </p:txBody>
      </p:sp>
      <p:sp>
        <p:nvSpPr>
          <p:cNvPr id="38" name="Google Shape;38;p5"/>
          <p:cNvSpPr/>
          <p:nvPr/>
        </p:nvSpPr>
        <p:spPr>
          <a:xfrm>
            <a:off x="7576170" y="1914525"/>
            <a:ext cx="4038600" cy="76200"/>
          </a:xfrm>
          <a:custGeom>
            <a:rect b="b" l="l" r="r" t="t"/>
            <a:pathLst>
              <a:path extrusionOk="0" h="76200" w="4038600">
                <a:moveTo>
                  <a:pt x="0" y="0"/>
                </a:moveTo>
                <a:lnTo>
                  <a:pt x="4038600" y="0"/>
                </a:lnTo>
                <a:lnTo>
                  <a:pt x="4038600" y="76200"/>
                </a:lnTo>
                <a:lnTo>
                  <a:pt x="0" y="76200"/>
                </a:lnTo>
                <a:lnTo>
                  <a:pt x="0" y="0"/>
                </a:lnTo>
                <a:close/>
              </a:path>
            </a:pathLst>
          </a:custGeom>
          <a:solidFill>
            <a:srgbClr val="E5E7EB"/>
          </a:solidFill>
          <a:ln>
            <a:noFill/>
          </a:ln>
        </p:spPr>
      </p:sp>
      <p:sp>
        <p:nvSpPr>
          <p:cNvPr id="39" name="Google Shape;39;p5"/>
          <p:cNvSpPr/>
          <p:nvPr/>
        </p:nvSpPr>
        <p:spPr>
          <a:xfrm>
            <a:off x="7576170" y="1914525"/>
            <a:ext cx="3429000" cy="76200"/>
          </a:xfrm>
          <a:custGeom>
            <a:rect b="b" l="l" r="r" t="t"/>
            <a:pathLst>
              <a:path extrusionOk="0" h="76200" w="3429000">
                <a:moveTo>
                  <a:pt x="0" y="0"/>
                </a:moveTo>
                <a:lnTo>
                  <a:pt x="3429000" y="0"/>
                </a:lnTo>
                <a:lnTo>
                  <a:pt x="3429000" y="76200"/>
                </a:lnTo>
                <a:lnTo>
                  <a:pt x="0" y="76200"/>
                </a:lnTo>
                <a:lnTo>
                  <a:pt x="0" y="0"/>
                </a:lnTo>
                <a:close/>
              </a:path>
            </a:pathLst>
          </a:custGeom>
          <a:solidFill>
            <a:srgbClr val="8B0000"/>
          </a:solidFill>
          <a:ln>
            <a:noFill/>
          </a:ln>
        </p:spPr>
      </p:sp>
      <p:sp>
        <p:nvSpPr>
          <p:cNvPr id="40" name="Google Shape;40;p5"/>
          <p:cNvSpPr/>
          <p:nvPr/>
        </p:nvSpPr>
        <p:spPr>
          <a:xfrm>
            <a:off x="7576170" y="2143125"/>
            <a:ext cx="914400"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0" i="0" lang="en-US" sz="1200" u="none" cap="none" strike="noStrike">
                <a:solidFill>
                  <a:srgbClr val="1F2937"/>
                </a:solidFill>
                <a:latin typeface="Sorts Mill Goudy"/>
                <a:ea typeface="Sorts Mill Goudy"/>
                <a:cs typeface="Sorts Mill Goudy"/>
                <a:sym typeface="Sorts Mill Goudy"/>
              </a:rPr>
              <a:t>Success Rate</a:t>
            </a:r>
            <a:endParaRPr b="0" i="0" sz="1600" u="none" cap="none" strike="noStrike"/>
          </a:p>
        </p:txBody>
      </p:sp>
      <p:sp>
        <p:nvSpPr>
          <p:cNvPr id="41" name="Google Shape;41;p5"/>
          <p:cNvSpPr/>
          <p:nvPr/>
        </p:nvSpPr>
        <p:spPr>
          <a:xfrm>
            <a:off x="11351270" y="2143125"/>
            <a:ext cx="333375"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i="0" lang="en-US" sz="1200" u="none" cap="none" strike="noStrike">
                <a:solidFill>
                  <a:srgbClr val="8B0000"/>
                </a:solidFill>
                <a:latin typeface="Sorts Mill Goudy"/>
                <a:ea typeface="Sorts Mill Goudy"/>
                <a:cs typeface="Sorts Mill Goudy"/>
                <a:sym typeface="Sorts Mill Goudy"/>
              </a:rPr>
              <a:t>30%</a:t>
            </a:r>
            <a:endParaRPr b="0" i="0" sz="1600" u="none" cap="none" strike="noStrike"/>
          </a:p>
        </p:txBody>
      </p:sp>
      <p:sp>
        <p:nvSpPr>
          <p:cNvPr id="42" name="Google Shape;42;p5"/>
          <p:cNvSpPr/>
          <p:nvPr/>
        </p:nvSpPr>
        <p:spPr>
          <a:xfrm>
            <a:off x="7576170" y="2409825"/>
            <a:ext cx="4038600" cy="76200"/>
          </a:xfrm>
          <a:custGeom>
            <a:rect b="b" l="l" r="r" t="t"/>
            <a:pathLst>
              <a:path extrusionOk="0" h="76200" w="4038600">
                <a:moveTo>
                  <a:pt x="0" y="0"/>
                </a:moveTo>
                <a:lnTo>
                  <a:pt x="4038600" y="0"/>
                </a:lnTo>
                <a:lnTo>
                  <a:pt x="4038600" y="76200"/>
                </a:lnTo>
                <a:lnTo>
                  <a:pt x="0" y="76200"/>
                </a:lnTo>
                <a:lnTo>
                  <a:pt x="0" y="0"/>
                </a:lnTo>
                <a:close/>
              </a:path>
            </a:pathLst>
          </a:custGeom>
          <a:solidFill>
            <a:srgbClr val="E5E7EB"/>
          </a:solidFill>
          <a:ln>
            <a:noFill/>
          </a:ln>
        </p:spPr>
      </p:sp>
      <p:sp>
        <p:nvSpPr>
          <p:cNvPr id="43" name="Google Shape;43;p5"/>
          <p:cNvSpPr/>
          <p:nvPr/>
        </p:nvSpPr>
        <p:spPr>
          <a:xfrm>
            <a:off x="7576170" y="2409825"/>
            <a:ext cx="1209675" cy="76200"/>
          </a:xfrm>
          <a:custGeom>
            <a:rect b="b" l="l" r="r" t="t"/>
            <a:pathLst>
              <a:path extrusionOk="0" h="76200" w="1209675">
                <a:moveTo>
                  <a:pt x="0" y="0"/>
                </a:moveTo>
                <a:lnTo>
                  <a:pt x="1209675" y="0"/>
                </a:lnTo>
                <a:lnTo>
                  <a:pt x="1209675" y="76200"/>
                </a:lnTo>
                <a:lnTo>
                  <a:pt x="0" y="76200"/>
                </a:lnTo>
                <a:lnTo>
                  <a:pt x="0" y="0"/>
                </a:lnTo>
                <a:close/>
              </a:path>
            </a:pathLst>
          </a:custGeom>
          <a:solidFill>
            <a:srgbClr val="8B0000"/>
          </a:solidFill>
          <a:ln>
            <a:noFill/>
          </a:ln>
        </p:spPr>
      </p:sp>
      <p:sp>
        <p:nvSpPr>
          <p:cNvPr id="44" name="Google Shape;44;p5"/>
          <p:cNvSpPr/>
          <p:nvPr/>
        </p:nvSpPr>
        <p:spPr>
          <a:xfrm>
            <a:off x="7576170" y="2638425"/>
            <a:ext cx="1009650"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0" i="0" lang="en-US" sz="1200" u="none" cap="none" strike="noStrike">
                <a:solidFill>
                  <a:srgbClr val="1F2937"/>
                </a:solidFill>
                <a:latin typeface="Sorts Mill Goudy"/>
                <a:ea typeface="Sorts Mill Goudy"/>
                <a:cs typeface="Sorts Mill Goudy"/>
                <a:sym typeface="Sorts Mill Goudy"/>
              </a:rPr>
              <a:t>Financial Loss</a:t>
            </a:r>
            <a:endParaRPr b="0" i="0" sz="1600" u="none" cap="none" strike="noStrike"/>
          </a:p>
        </p:txBody>
      </p:sp>
      <p:sp>
        <p:nvSpPr>
          <p:cNvPr id="45" name="Google Shape;45;p5"/>
          <p:cNvSpPr/>
          <p:nvPr/>
        </p:nvSpPr>
        <p:spPr>
          <a:xfrm>
            <a:off x="10923017" y="2638425"/>
            <a:ext cx="762000"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i="0" lang="en-US" sz="1200" u="none" cap="none" strike="noStrike">
                <a:solidFill>
                  <a:srgbClr val="8B0000"/>
                </a:solidFill>
                <a:latin typeface="Sorts Mill Goudy"/>
                <a:ea typeface="Sorts Mill Goudy"/>
                <a:cs typeface="Sorts Mill Goudy"/>
                <a:sym typeface="Sorts Mill Goudy"/>
              </a:rPr>
              <a:t>$54M/year</a:t>
            </a:r>
            <a:endParaRPr b="0" i="0" sz="1600" u="none" cap="none" strike="noStrike"/>
          </a:p>
        </p:txBody>
      </p:sp>
      <p:sp>
        <p:nvSpPr>
          <p:cNvPr id="46" name="Google Shape;46;p5"/>
          <p:cNvSpPr/>
          <p:nvPr/>
        </p:nvSpPr>
        <p:spPr>
          <a:xfrm>
            <a:off x="7576170" y="2905125"/>
            <a:ext cx="4038600" cy="76200"/>
          </a:xfrm>
          <a:custGeom>
            <a:rect b="b" l="l" r="r" t="t"/>
            <a:pathLst>
              <a:path extrusionOk="0" h="76200" w="4038600">
                <a:moveTo>
                  <a:pt x="0" y="0"/>
                </a:moveTo>
                <a:lnTo>
                  <a:pt x="4038600" y="0"/>
                </a:lnTo>
                <a:lnTo>
                  <a:pt x="4038600" y="76200"/>
                </a:lnTo>
                <a:lnTo>
                  <a:pt x="0" y="76200"/>
                </a:lnTo>
                <a:lnTo>
                  <a:pt x="0" y="0"/>
                </a:lnTo>
                <a:close/>
              </a:path>
            </a:pathLst>
          </a:custGeom>
          <a:solidFill>
            <a:srgbClr val="E5E7EB"/>
          </a:solidFill>
          <a:ln>
            <a:noFill/>
          </a:ln>
        </p:spPr>
      </p:sp>
      <p:sp>
        <p:nvSpPr>
          <p:cNvPr id="47" name="Google Shape;47;p5"/>
          <p:cNvSpPr/>
          <p:nvPr/>
        </p:nvSpPr>
        <p:spPr>
          <a:xfrm>
            <a:off x="7576170" y="2905125"/>
            <a:ext cx="2828925" cy="76200"/>
          </a:xfrm>
          <a:custGeom>
            <a:rect b="b" l="l" r="r" t="t"/>
            <a:pathLst>
              <a:path extrusionOk="0" h="76200" w="2828925">
                <a:moveTo>
                  <a:pt x="0" y="0"/>
                </a:moveTo>
                <a:lnTo>
                  <a:pt x="2828925" y="0"/>
                </a:lnTo>
                <a:lnTo>
                  <a:pt x="2828925" y="76200"/>
                </a:lnTo>
                <a:lnTo>
                  <a:pt x="0" y="76200"/>
                </a:lnTo>
                <a:lnTo>
                  <a:pt x="0" y="0"/>
                </a:lnTo>
                <a:close/>
              </a:path>
            </a:pathLst>
          </a:custGeom>
          <a:solidFill>
            <a:srgbClr val="8B0000"/>
          </a:solidFill>
          <a:ln>
            <a:noFill/>
          </a:ln>
        </p:spPr>
      </p:sp>
      <p:sp>
        <p:nvSpPr>
          <p:cNvPr id="48" name="Google Shape;48;p5"/>
          <p:cNvSpPr/>
          <p:nvPr/>
        </p:nvSpPr>
        <p:spPr>
          <a:xfrm>
            <a:off x="7376145" y="4229100"/>
            <a:ext cx="4438650" cy="1943100"/>
          </a:xfrm>
          <a:custGeom>
            <a:rect b="b" l="l" r="r" t="t"/>
            <a:pathLst>
              <a:path extrusionOk="0" h="1943100" w="4438650">
                <a:moveTo>
                  <a:pt x="0" y="0"/>
                </a:moveTo>
                <a:lnTo>
                  <a:pt x="4438650" y="0"/>
                </a:lnTo>
                <a:lnTo>
                  <a:pt x="4438650" y="1943100"/>
                </a:lnTo>
                <a:lnTo>
                  <a:pt x="0" y="1943100"/>
                </a:lnTo>
                <a:lnTo>
                  <a:pt x="0" y="0"/>
                </a:lnTo>
                <a:close/>
              </a:path>
            </a:pathLst>
          </a:custGeom>
          <a:solidFill>
            <a:srgbClr val="1F2937"/>
          </a:solidFill>
          <a:ln>
            <a:noFill/>
          </a:ln>
        </p:spPr>
      </p:sp>
      <p:sp>
        <p:nvSpPr>
          <p:cNvPr id="49" name="Google Shape;49;p5"/>
          <p:cNvSpPr/>
          <p:nvPr/>
        </p:nvSpPr>
        <p:spPr>
          <a:xfrm>
            <a:off x="7614270" y="4457700"/>
            <a:ext cx="142875" cy="190500"/>
          </a:xfrm>
          <a:custGeom>
            <a:rect b="b" l="l" r="r" t="t"/>
            <a:pathLst>
              <a:path extrusionOk="0" h="190500" w="142875">
                <a:moveTo>
                  <a:pt x="108979" y="142875"/>
                </a:moveTo>
                <a:cubicBezTo>
                  <a:pt x="111696" y="134578"/>
                  <a:pt x="117128" y="127062"/>
                  <a:pt x="123267" y="120588"/>
                </a:cubicBezTo>
                <a:cubicBezTo>
                  <a:pt x="135434" y="107789"/>
                  <a:pt x="142875" y="90488"/>
                  <a:pt x="142875" y="71438"/>
                </a:cubicBezTo>
                <a:cubicBezTo>
                  <a:pt x="142875" y="31998"/>
                  <a:pt x="110877" y="0"/>
                  <a:pt x="71437" y="0"/>
                </a:cubicBezTo>
                <a:cubicBezTo>
                  <a:pt x="31998" y="0"/>
                  <a:pt x="0" y="31998"/>
                  <a:pt x="0" y="71438"/>
                </a:cubicBezTo>
                <a:cubicBezTo>
                  <a:pt x="0" y="90488"/>
                  <a:pt x="7441" y="107789"/>
                  <a:pt x="19608" y="120588"/>
                </a:cubicBezTo>
                <a:cubicBezTo>
                  <a:pt x="25747" y="127062"/>
                  <a:pt x="31217" y="134578"/>
                  <a:pt x="33896" y="142875"/>
                </a:cubicBezTo>
                <a:lnTo>
                  <a:pt x="108942" y="142875"/>
                </a:lnTo>
                <a:close/>
                <a:moveTo>
                  <a:pt x="107156" y="160734"/>
                </a:moveTo>
                <a:lnTo>
                  <a:pt x="35719" y="160734"/>
                </a:lnTo>
                <a:lnTo>
                  <a:pt x="35719" y="166688"/>
                </a:lnTo>
                <a:cubicBezTo>
                  <a:pt x="35719" y="183133"/>
                  <a:pt x="49039" y="196453"/>
                  <a:pt x="65484" y="196453"/>
                </a:cubicBezTo>
                <a:lnTo>
                  <a:pt x="77391" y="196453"/>
                </a:lnTo>
                <a:cubicBezTo>
                  <a:pt x="93836" y="196453"/>
                  <a:pt x="107156" y="183133"/>
                  <a:pt x="107156" y="166688"/>
                </a:cubicBezTo>
                <a:lnTo>
                  <a:pt x="107156" y="160734"/>
                </a:lnTo>
                <a:close/>
                <a:moveTo>
                  <a:pt x="68461" y="41672"/>
                </a:moveTo>
                <a:cubicBezTo>
                  <a:pt x="53653" y="41672"/>
                  <a:pt x="41672" y="53653"/>
                  <a:pt x="41672" y="68461"/>
                </a:cubicBezTo>
                <a:cubicBezTo>
                  <a:pt x="41672" y="73409"/>
                  <a:pt x="37691" y="77391"/>
                  <a:pt x="32742" y="77391"/>
                </a:cubicBezTo>
                <a:cubicBezTo>
                  <a:pt x="27794" y="77391"/>
                  <a:pt x="23812" y="73409"/>
                  <a:pt x="23812" y="68461"/>
                </a:cubicBezTo>
                <a:cubicBezTo>
                  <a:pt x="23812" y="43793"/>
                  <a:pt x="43793" y="23812"/>
                  <a:pt x="68461" y="23812"/>
                </a:cubicBezTo>
                <a:cubicBezTo>
                  <a:pt x="73409" y="23812"/>
                  <a:pt x="77391" y="27794"/>
                  <a:pt x="77391" y="32742"/>
                </a:cubicBezTo>
                <a:cubicBezTo>
                  <a:pt x="77391" y="37691"/>
                  <a:pt x="73409" y="41672"/>
                  <a:pt x="68461" y="41672"/>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5"/>
          <p:cNvSpPr/>
          <p:nvPr/>
        </p:nvSpPr>
        <p:spPr>
          <a:xfrm>
            <a:off x="7804770" y="4419600"/>
            <a:ext cx="3914775" cy="2667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500" u="none" cap="none" strike="noStrike">
                <a:solidFill>
                  <a:srgbClr val="FFFFFF"/>
                </a:solidFill>
                <a:latin typeface="Sorts Mill Goudy"/>
                <a:ea typeface="Sorts Mill Goudy"/>
                <a:cs typeface="Sorts Mill Goudy"/>
                <a:sym typeface="Sorts Mill Goudy"/>
              </a:rPr>
              <a:t>Why Machine Learning?</a:t>
            </a:r>
            <a:endParaRPr b="0" i="0" sz="1600" u="none" cap="none" strike="noStrike"/>
          </a:p>
        </p:txBody>
      </p:sp>
      <p:sp>
        <p:nvSpPr>
          <p:cNvPr id="51" name="Google Shape;51;p5"/>
          <p:cNvSpPr/>
          <p:nvPr/>
        </p:nvSpPr>
        <p:spPr>
          <a:xfrm>
            <a:off x="7566645" y="4838700"/>
            <a:ext cx="4133850"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0" i="0" lang="en-US" sz="1200" u="none" cap="none" strike="noStrike">
                <a:solidFill>
                  <a:srgbClr val="FFFFFF"/>
                </a:solidFill>
                <a:latin typeface="Sorts Mill Goudy"/>
                <a:ea typeface="Sorts Mill Goudy"/>
                <a:cs typeface="Sorts Mill Goudy"/>
                <a:sym typeface="Sorts Mill Goudy"/>
              </a:rPr>
              <a:t>• Adapt to evolving attack patterns</a:t>
            </a:r>
            <a:endParaRPr b="0" i="0" sz="1600" u="none" cap="none" strike="noStrike"/>
          </a:p>
        </p:txBody>
      </p:sp>
      <p:sp>
        <p:nvSpPr>
          <p:cNvPr id="52" name="Google Shape;52;p5"/>
          <p:cNvSpPr/>
          <p:nvPr/>
        </p:nvSpPr>
        <p:spPr>
          <a:xfrm>
            <a:off x="7566645" y="5143500"/>
            <a:ext cx="4133850"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0" i="0" lang="en-US" sz="1200" u="none" cap="none" strike="noStrike">
                <a:solidFill>
                  <a:srgbClr val="FFFFFF"/>
                </a:solidFill>
                <a:latin typeface="Sorts Mill Goudy"/>
                <a:ea typeface="Sorts Mill Goudy"/>
                <a:cs typeface="Sorts Mill Goudy"/>
                <a:sym typeface="Sorts Mill Goudy"/>
              </a:rPr>
              <a:t>• Learn from large datasets</a:t>
            </a:r>
            <a:endParaRPr b="0" i="0" sz="1600" u="none" cap="none" strike="noStrike"/>
          </a:p>
        </p:txBody>
      </p:sp>
      <p:sp>
        <p:nvSpPr>
          <p:cNvPr id="53" name="Google Shape;53;p5"/>
          <p:cNvSpPr/>
          <p:nvPr/>
        </p:nvSpPr>
        <p:spPr>
          <a:xfrm>
            <a:off x="7566645" y="5448300"/>
            <a:ext cx="4133850"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0" i="0" lang="en-US" sz="1200" u="none" cap="none" strike="noStrike">
                <a:solidFill>
                  <a:srgbClr val="FFFFFF"/>
                </a:solidFill>
                <a:latin typeface="Sorts Mill Goudy"/>
                <a:ea typeface="Sorts Mill Goudy"/>
                <a:cs typeface="Sorts Mill Goudy"/>
                <a:sym typeface="Sorts Mill Goudy"/>
              </a:rPr>
              <a:t>• Identify subtle patterns</a:t>
            </a:r>
            <a:endParaRPr b="0" i="0" sz="1600" u="none" cap="none" strike="noStrike"/>
          </a:p>
        </p:txBody>
      </p:sp>
      <p:sp>
        <p:nvSpPr>
          <p:cNvPr id="54" name="Google Shape;54;p5"/>
          <p:cNvSpPr/>
          <p:nvPr/>
        </p:nvSpPr>
        <p:spPr>
          <a:xfrm>
            <a:off x="7566645" y="5753100"/>
            <a:ext cx="4133850"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0" i="0" lang="en-US" sz="1200" u="none" cap="none" strike="noStrike">
                <a:solidFill>
                  <a:srgbClr val="FFFFFF"/>
                </a:solidFill>
                <a:latin typeface="Sorts Mill Goudy"/>
                <a:ea typeface="Sorts Mill Goudy"/>
                <a:cs typeface="Sorts Mill Goudy"/>
                <a:sym typeface="Sorts Mill Goudy"/>
              </a:rPr>
              <a:t>• Enable real-time detection</a:t>
            </a:r>
            <a:endParaRPr b="0" i="0" sz="1600" u="none" cap="none" strike="noStrike"/>
          </a:p>
        </p:txBody>
      </p:sp>
      <p:sp>
        <p:nvSpPr>
          <p:cNvPr id="55" name="Google Shape;55;p5"/>
          <p:cNvSpPr/>
          <p:nvPr/>
        </p:nvSpPr>
        <p:spPr>
          <a:xfrm>
            <a:off x="704838" y="3448038"/>
            <a:ext cx="5553075" cy="2724150"/>
          </a:xfrm>
          <a:custGeom>
            <a:rect b="b" l="l" r="r" t="t"/>
            <a:pathLst>
              <a:path extrusionOk="0" h="2724150" w="5553075">
                <a:moveTo>
                  <a:pt x="0" y="0"/>
                </a:moveTo>
                <a:lnTo>
                  <a:pt x="5553075" y="0"/>
                </a:lnTo>
                <a:lnTo>
                  <a:pt x="5553075" y="2724150"/>
                </a:lnTo>
                <a:lnTo>
                  <a:pt x="0" y="2724150"/>
                </a:lnTo>
                <a:lnTo>
                  <a:pt x="0" y="0"/>
                </a:lnTo>
                <a:close/>
              </a:path>
            </a:pathLst>
          </a:custGeom>
          <a:solidFill>
            <a:srgbClr val="F9FAFB"/>
          </a:solidFill>
          <a:ln cap="flat" cmpd="sng" w="12700">
            <a:solidFill>
              <a:srgbClr val="E5E7EB"/>
            </a:solidFill>
            <a:prstDash val="solid"/>
            <a:round/>
            <a:headEnd len="sm" w="sm" type="none"/>
            <a:tailEnd len="sm" w="sm" type="none"/>
          </a:ln>
        </p:spPr>
      </p:sp>
      <p:sp>
        <p:nvSpPr>
          <p:cNvPr id="56" name="Google Shape;56;p5"/>
          <p:cNvSpPr/>
          <p:nvPr/>
        </p:nvSpPr>
        <p:spPr>
          <a:xfrm>
            <a:off x="966775" y="3719500"/>
            <a:ext cx="228600" cy="228600"/>
          </a:xfrm>
          <a:custGeom>
            <a:rect b="b" l="l" r="r" t="t"/>
            <a:pathLst>
              <a:path extrusionOk="0" h="228600" w="228600">
                <a:moveTo>
                  <a:pt x="200025" y="114300"/>
                </a:moveTo>
                <a:cubicBezTo>
                  <a:pt x="200025" y="66987"/>
                  <a:pt x="161613" y="28575"/>
                  <a:pt x="114300" y="28575"/>
                </a:cubicBezTo>
                <a:cubicBezTo>
                  <a:pt x="66987" y="28575"/>
                  <a:pt x="28575" y="66987"/>
                  <a:pt x="28575" y="114300"/>
                </a:cubicBezTo>
                <a:cubicBezTo>
                  <a:pt x="28575" y="161613"/>
                  <a:pt x="66987" y="200025"/>
                  <a:pt x="114300" y="200025"/>
                </a:cubicBezTo>
                <a:cubicBezTo>
                  <a:pt x="161613" y="200025"/>
                  <a:pt x="200025" y="161613"/>
                  <a:pt x="200025" y="114300"/>
                </a:cubicBezTo>
                <a:close/>
                <a:moveTo>
                  <a:pt x="0" y="114300"/>
                </a:moveTo>
                <a:cubicBezTo>
                  <a:pt x="0" y="51216"/>
                  <a:pt x="51216" y="0"/>
                  <a:pt x="114300" y="0"/>
                </a:cubicBezTo>
                <a:cubicBezTo>
                  <a:pt x="177384" y="0"/>
                  <a:pt x="228600" y="51216"/>
                  <a:pt x="228600" y="114300"/>
                </a:cubicBezTo>
                <a:cubicBezTo>
                  <a:pt x="228600" y="177384"/>
                  <a:pt x="177384" y="228600"/>
                  <a:pt x="114300" y="228600"/>
                </a:cubicBezTo>
                <a:cubicBezTo>
                  <a:pt x="51216" y="228600"/>
                  <a:pt x="0" y="177384"/>
                  <a:pt x="0" y="114300"/>
                </a:cubicBezTo>
                <a:close/>
                <a:moveTo>
                  <a:pt x="114300" y="150019"/>
                </a:moveTo>
                <a:cubicBezTo>
                  <a:pt x="134014" y="150019"/>
                  <a:pt x="150019" y="134014"/>
                  <a:pt x="150019" y="114300"/>
                </a:cubicBezTo>
                <a:cubicBezTo>
                  <a:pt x="150019" y="94586"/>
                  <a:pt x="134014" y="78581"/>
                  <a:pt x="114300" y="78581"/>
                </a:cubicBezTo>
                <a:cubicBezTo>
                  <a:pt x="94586" y="78581"/>
                  <a:pt x="78581" y="94586"/>
                  <a:pt x="78581" y="114300"/>
                </a:cubicBezTo>
                <a:cubicBezTo>
                  <a:pt x="78581" y="134014"/>
                  <a:pt x="94586" y="150019"/>
                  <a:pt x="114300" y="150019"/>
                </a:cubicBezTo>
                <a:close/>
                <a:moveTo>
                  <a:pt x="114300" y="50006"/>
                </a:moveTo>
                <a:cubicBezTo>
                  <a:pt x="149785" y="50006"/>
                  <a:pt x="178594" y="78815"/>
                  <a:pt x="178594" y="114300"/>
                </a:cubicBezTo>
                <a:cubicBezTo>
                  <a:pt x="178594" y="149785"/>
                  <a:pt x="149785" y="178594"/>
                  <a:pt x="114300" y="178594"/>
                </a:cubicBezTo>
                <a:cubicBezTo>
                  <a:pt x="78815" y="178594"/>
                  <a:pt x="50006" y="149785"/>
                  <a:pt x="50006" y="114300"/>
                </a:cubicBezTo>
                <a:cubicBezTo>
                  <a:pt x="50006" y="78815"/>
                  <a:pt x="78815" y="50006"/>
                  <a:pt x="114300" y="50006"/>
                </a:cubicBezTo>
                <a:close/>
                <a:moveTo>
                  <a:pt x="100013" y="114300"/>
                </a:moveTo>
                <a:cubicBezTo>
                  <a:pt x="100013" y="106415"/>
                  <a:pt x="106415" y="100013"/>
                  <a:pt x="114300" y="100013"/>
                </a:cubicBezTo>
                <a:cubicBezTo>
                  <a:pt x="122185" y="100013"/>
                  <a:pt x="128588" y="106415"/>
                  <a:pt x="128588" y="114300"/>
                </a:cubicBezTo>
                <a:cubicBezTo>
                  <a:pt x="128588" y="122185"/>
                  <a:pt x="122185" y="128588"/>
                  <a:pt x="114300" y="128588"/>
                </a:cubicBezTo>
                <a:cubicBezTo>
                  <a:pt x="106415" y="128588"/>
                  <a:pt x="100013" y="122185"/>
                  <a:pt x="100013" y="114300"/>
                </a:cubicBezTo>
                <a:close/>
              </a:path>
            </a:pathLst>
          </a:custGeom>
          <a:solidFill>
            <a:srgbClr val="8B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5"/>
          <p:cNvSpPr/>
          <p:nvPr/>
        </p:nvSpPr>
        <p:spPr>
          <a:xfrm>
            <a:off x="1223950" y="3681400"/>
            <a:ext cx="4914900" cy="3048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lang="en-US" sz="1800">
                <a:solidFill>
                  <a:srgbClr val="8B0000"/>
                </a:solidFill>
                <a:latin typeface="Sorts Mill Goudy"/>
                <a:ea typeface="Sorts Mill Goudy"/>
                <a:cs typeface="Sorts Mill Goudy"/>
                <a:sym typeface="Sorts Mill Goudy"/>
              </a:rPr>
              <a:t>Project</a:t>
            </a:r>
            <a:r>
              <a:rPr b="1" i="0" lang="en-US" sz="1800" u="none" cap="none" strike="noStrike">
                <a:solidFill>
                  <a:srgbClr val="8B0000"/>
                </a:solidFill>
                <a:latin typeface="Sorts Mill Goudy"/>
                <a:ea typeface="Sorts Mill Goudy"/>
                <a:cs typeface="Sorts Mill Goudy"/>
                <a:sym typeface="Sorts Mill Goudy"/>
              </a:rPr>
              <a:t> Objective</a:t>
            </a:r>
            <a:endParaRPr b="0" i="0" sz="1600" u="none" cap="none" strike="noStrike"/>
          </a:p>
        </p:txBody>
      </p:sp>
      <p:sp>
        <p:nvSpPr>
          <p:cNvPr id="58" name="Google Shape;58;p5"/>
          <p:cNvSpPr/>
          <p:nvPr/>
        </p:nvSpPr>
        <p:spPr>
          <a:xfrm>
            <a:off x="938200" y="4138600"/>
            <a:ext cx="5181600" cy="6192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b="0" i="0" lang="en-US" sz="1500" u="none" cap="none" strike="noStrike">
                <a:solidFill>
                  <a:srgbClr val="1F2937"/>
                </a:solidFill>
                <a:latin typeface="Sorts Mill Goudy"/>
                <a:ea typeface="Sorts Mill Goudy"/>
                <a:cs typeface="Sorts Mill Goudy"/>
                <a:sym typeface="Sorts Mill Goudy"/>
              </a:rPr>
              <a:t>Develop a </a:t>
            </a:r>
            <a:r>
              <a:rPr b="1" i="0" lang="en-US" sz="1500" u="none" cap="none" strike="noStrike">
                <a:solidFill>
                  <a:srgbClr val="1F2937"/>
                </a:solidFill>
                <a:latin typeface="Sorts Mill Goudy"/>
                <a:ea typeface="Sorts Mill Goudy"/>
                <a:cs typeface="Sorts Mill Goudy"/>
                <a:sym typeface="Sorts Mill Goudy"/>
              </a:rPr>
              <a:t>machine learning classification model</a:t>
            </a:r>
            <a:r>
              <a:rPr b="0" i="0" lang="en-US" sz="1500" u="none" cap="none" strike="noStrike">
                <a:solidFill>
                  <a:srgbClr val="1F2937"/>
                </a:solidFill>
                <a:latin typeface="Sorts Mill Goudy"/>
                <a:ea typeface="Sorts Mill Goudy"/>
                <a:cs typeface="Sorts Mill Goudy"/>
                <a:sym typeface="Sorts Mill Goudy"/>
              </a:rPr>
              <a:t> that predicts if a website is phishing or legitimate using URL characteristics.</a:t>
            </a:r>
            <a:endParaRPr b="0" i="0" sz="1600" u="none" cap="none" strike="noStrike"/>
          </a:p>
        </p:txBody>
      </p:sp>
      <p:sp>
        <p:nvSpPr>
          <p:cNvPr id="59" name="Google Shape;59;p5"/>
          <p:cNvSpPr/>
          <p:nvPr/>
        </p:nvSpPr>
        <p:spPr>
          <a:xfrm>
            <a:off x="962013" y="4948225"/>
            <a:ext cx="171450" cy="171450"/>
          </a:xfrm>
          <a:custGeom>
            <a:rect b="b" l="l" r="r" t="t"/>
            <a:pathLst>
              <a:path extrusionOk="0" h="171450" w="171450">
                <a:moveTo>
                  <a:pt x="85725" y="171450"/>
                </a:moveTo>
                <a:cubicBezTo>
                  <a:pt x="133038" y="171450"/>
                  <a:pt x="171450" y="133038"/>
                  <a:pt x="171450" y="85725"/>
                </a:cubicBezTo>
                <a:cubicBezTo>
                  <a:pt x="171450" y="38412"/>
                  <a:pt x="133038" y="0"/>
                  <a:pt x="85725" y="0"/>
                </a:cubicBezTo>
                <a:cubicBezTo>
                  <a:pt x="38412" y="0"/>
                  <a:pt x="0" y="38412"/>
                  <a:pt x="0" y="85725"/>
                </a:cubicBezTo>
                <a:cubicBezTo>
                  <a:pt x="0" y="133038"/>
                  <a:pt x="38412" y="171450"/>
                  <a:pt x="85725" y="171450"/>
                </a:cubicBezTo>
                <a:close/>
                <a:moveTo>
                  <a:pt x="113987" y="71225"/>
                </a:moveTo>
                <a:lnTo>
                  <a:pt x="87198" y="114088"/>
                </a:lnTo>
                <a:cubicBezTo>
                  <a:pt x="85792" y="116332"/>
                  <a:pt x="83381" y="117738"/>
                  <a:pt x="80736" y="117872"/>
                </a:cubicBezTo>
                <a:cubicBezTo>
                  <a:pt x="78090" y="118006"/>
                  <a:pt x="75545" y="116800"/>
                  <a:pt x="73971" y="114657"/>
                </a:cubicBezTo>
                <a:lnTo>
                  <a:pt x="57898" y="93226"/>
                </a:lnTo>
                <a:cubicBezTo>
                  <a:pt x="55219" y="89676"/>
                  <a:pt x="55956" y="84653"/>
                  <a:pt x="59505" y="81975"/>
                </a:cubicBezTo>
                <a:cubicBezTo>
                  <a:pt x="63055" y="79296"/>
                  <a:pt x="68078" y="80032"/>
                  <a:pt x="70757" y="83582"/>
                </a:cubicBezTo>
                <a:lnTo>
                  <a:pt x="79798" y="95637"/>
                </a:lnTo>
                <a:lnTo>
                  <a:pt x="100359" y="62720"/>
                </a:lnTo>
                <a:cubicBezTo>
                  <a:pt x="102703" y="58969"/>
                  <a:pt x="107659" y="57797"/>
                  <a:pt x="111443" y="60175"/>
                </a:cubicBezTo>
                <a:cubicBezTo>
                  <a:pt x="115226" y="62552"/>
                  <a:pt x="116365" y="67475"/>
                  <a:pt x="113987" y="71259"/>
                </a:cubicBezTo>
                <a:close/>
              </a:path>
            </a:pathLst>
          </a:custGeom>
          <a:solidFill>
            <a:srgbClr val="8B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p:nvPr/>
        </p:nvSpPr>
        <p:spPr>
          <a:xfrm>
            <a:off x="1266813" y="4910125"/>
            <a:ext cx="2390700" cy="2667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0" i="0" lang="en-US" sz="1350" u="none" cap="none" strike="noStrike">
                <a:solidFill>
                  <a:srgbClr val="1F2937"/>
                </a:solidFill>
                <a:latin typeface="Sorts Mill Goudy"/>
                <a:ea typeface="Sorts Mill Goudy"/>
                <a:cs typeface="Sorts Mill Goudy"/>
                <a:sym typeface="Sorts Mill Goudy"/>
              </a:rPr>
              <a:t>Improve cybersecurity defenses</a:t>
            </a:r>
            <a:endParaRPr b="0" i="0" sz="1600" u="none" cap="none" strike="noStrike"/>
          </a:p>
        </p:txBody>
      </p:sp>
      <p:sp>
        <p:nvSpPr>
          <p:cNvPr id="61" name="Google Shape;61;p5"/>
          <p:cNvSpPr/>
          <p:nvPr/>
        </p:nvSpPr>
        <p:spPr>
          <a:xfrm>
            <a:off x="962013" y="5329225"/>
            <a:ext cx="171450" cy="171450"/>
          </a:xfrm>
          <a:custGeom>
            <a:rect b="b" l="l" r="r" t="t"/>
            <a:pathLst>
              <a:path extrusionOk="0" h="171450" w="171450">
                <a:moveTo>
                  <a:pt x="85725" y="171450"/>
                </a:moveTo>
                <a:cubicBezTo>
                  <a:pt x="133038" y="171450"/>
                  <a:pt x="171450" y="133038"/>
                  <a:pt x="171450" y="85725"/>
                </a:cubicBezTo>
                <a:cubicBezTo>
                  <a:pt x="171450" y="38412"/>
                  <a:pt x="133038" y="0"/>
                  <a:pt x="85725" y="0"/>
                </a:cubicBezTo>
                <a:cubicBezTo>
                  <a:pt x="38412" y="0"/>
                  <a:pt x="0" y="38412"/>
                  <a:pt x="0" y="85725"/>
                </a:cubicBezTo>
                <a:cubicBezTo>
                  <a:pt x="0" y="133038"/>
                  <a:pt x="38412" y="171450"/>
                  <a:pt x="85725" y="171450"/>
                </a:cubicBezTo>
                <a:close/>
                <a:moveTo>
                  <a:pt x="113987" y="71225"/>
                </a:moveTo>
                <a:lnTo>
                  <a:pt x="87198" y="114088"/>
                </a:lnTo>
                <a:cubicBezTo>
                  <a:pt x="85792" y="116332"/>
                  <a:pt x="83381" y="117738"/>
                  <a:pt x="80736" y="117872"/>
                </a:cubicBezTo>
                <a:cubicBezTo>
                  <a:pt x="78090" y="118006"/>
                  <a:pt x="75545" y="116800"/>
                  <a:pt x="73971" y="114657"/>
                </a:cubicBezTo>
                <a:lnTo>
                  <a:pt x="57898" y="93226"/>
                </a:lnTo>
                <a:cubicBezTo>
                  <a:pt x="55219" y="89676"/>
                  <a:pt x="55956" y="84653"/>
                  <a:pt x="59505" y="81975"/>
                </a:cubicBezTo>
                <a:cubicBezTo>
                  <a:pt x="63055" y="79296"/>
                  <a:pt x="68078" y="80032"/>
                  <a:pt x="70757" y="83582"/>
                </a:cubicBezTo>
                <a:lnTo>
                  <a:pt x="79798" y="95637"/>
                </a:lnTo>
                <a:lnTo>
                  <a:pt x="100359" y="62720"/>
                </a:lnTo>
                <a:cubicBezTo>
                  <a:pt x="102703" y="58969"/>
                  <a:pt x="107659" y="57797"/>
                  <a:pt x="111443" y="60175"/>
                </a:cubicBezTo>
                <a:cubicBezTo>
                  <a:pt x="115226" y="62552"/>
                  <a:pt x="116365" y="67475"/>
                  <a:pt x="113987" y="71259"/>
                </a:cubicBezTo>
                <a:close/>
              </a:path>
            </a:pathLst>
          </a:custGeom>
          <a:solidFill>
            <a:srgbClr val="8B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5"/>
          <p:cNvSpPr/>
          <p:nvPr/>
        </p:nvSpPr>
        <p:spPr>
          <a:xfrm>
            <a:off x="1266813" y="5291125"/>
            <a:ext cx="3181200" cy="2667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0" i="0" lang="en-US" sz="1350" u="none" cap="none" strike="noStrike">
                <a:solidFill>
                  <a:srgbClr val="1F2937"/>
                </a:solidFill>
                <a:latin typeface="Sorts Mill Goudy"/>
                <a:ea typeface="Sorts Mill Goudy"/>
                <a:cs typeface="Sorts Mill Goudy"/>
                <a:sym typeface="Sorts Mill Goudy"/>
              </a:rPr>
              <a:t>Protect users from fraud and identity theft</a:t>
            </a:r>
            <a:endParaRPr b="0" i="0" sz="1600" u="none" cap="none" strike="noStrike"/>
          </a:p>
        </p:txBody>
      </p:sp>
      <p:sp>
        <p:nvSpPr>
          <p:cNvPr id="63" name="Google Shape;63;p5"/>
          <p:cNvSpPr/>
          <p:nvPr/>
        </p:nvSpPr>
        <p:spPr>
          <a:xfrm>
            <a:off x="962013" y="5710225"/>
            <a:ext cx="171450" cy="171450"/>
          </a:xfrm>
          <a:custGeom>
            <a:rect b="b" l="l" r="r" t="t"/>
            <a:pathLst>
              <a:path extrusionOk="0" h="171450" w="171450">
                <a:moveTo>
                  <a:pt x="85725" y="171450"/>
                </a:moveTo>
                <a:cubicBezTo>
                  <a:pt x="133038" y="171450"/>
                  <a:pt x="171450" y="133038"/>
                  <a:pt x="171450" y="85725"/>
                </a:cubicBezTo>
                <a:cubicBezTo>
                  <a:pt x="171450" y="38412"/>
                  <a:pt x="133038" y="0"/>
                  <a:pt x="85725" y="0"/>
                </a:cubicBezTo>
                <a:cubicBezTo>
                  <a:pt x="38412" y="0"/>
                  <a:pt x="0" y="38412"/>
                  <a:pt x="0" y="85725"/>
                </a:cubicBezTo>
                <a:cubicBezTo>
                  <a:pt x="0" y="133038"/>
                  <a:pt x="38412" y="171450"/>
                  <a:pt x="85725" y="171450"/>
                </a:cubicBezTo>
                <a:close/>
                <a:moveTo>
                  <a:pt x="113987" y="71225"/>
                </a:moveTo>
                <a:lnTo>
                  <a:pt x="87198" y="114088"/>
                </a:lnTo>
                <a:cubicBezTo>
                  <a:pt x="85792" y="116332"/>
                  <a:pt x="83381" y="117738"/>
                  <a:pt x="80736" y="117872"/>
                </a:cubicBezTo>
                <a:cubicBezTo>
                  <a:pt x="78090" y="118006"/>
                  <a:pt x="75545" y="116800"/>
                  <a:pt x="73971" y="114657"/>
                </a:cubicBezTo>
                <a:lnTo>
                  <a:pt x="57898" y="93226"/>
                </a:lnTo>
                <a:cubicBezTo>
                  <a:pt x="55219" y="89676"/>
                  <a:pt x="55956" y="84653"/>
                  <a:pt x="59505" y="81975"/>
                </a:cubicBezTo>
                <a:cubicBezTo>
                  <a:pt x="63055" y="79296"/>
                  <a:pt x="68078" y="80032"/>
                  <a:pt x="70757" y="83582"/>
                </a:cubicBezTo>
                <a:lnTo>
                  <a:pt x="79798" y="95637"/>
                </a:lnTo>
                <a:lnTo>
                  <a:pt x="100359" y="62720"/>
                </a:lnTo>
                <a:cubicBezTo>
                  <a:pt x="102703" y="58969"/>
                  <a:pt x="107659" y="57797"/>
                  <a:pt x="111443" y="60175"/>
                </a:cubicBezTo>
                <a:cubicBezTo>
                  <a:pt x="115226" y="62552"/>
                  <a:pt x="116365" y="67475"/>
                  <a:pt x="113987" y="71259"/>
                </a:cubicBezTo>
                <a:close/>
              </a:path>
            </a:pathLst>
          </a:custGeom>
          <a:solidFill>
            <a:srgbClr val="8B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5"/>
          <p:cNvSpPr/>
          <p:nvPr/>
        </p:nvSpPr>
        <p:spPr>
          <a:xfrm>
            <a:off x="1266813" y="5672125"/>
            <a:ext cx="2562300" cy="2667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0" i="0" lang="en-US" sz="1350" u="none" cap="none" strike="noStrike">
                <a:solidFill>
                  <a:srgbClr val="1F2937"/>
                </a:solidFill>
                <a:latin typeface="Sorts Mill Goudy"/>
                <a:ea typeface="Sorts Mill Goudy"/>
                <a:cs typeface="Sorts Mill Goudy"/>
                <a:sym typeface="Sorts Mill Goudy"/>
              </a:rPr>
              <a:t>Enable real-time URL verification</a:t>
            </a:r>
            <a:endParaRPr b="0" i="0" sz="1600" u="none" cap="none" strike="noStrike"/>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9" name="Shape 69"/>
        <p:cNvGrpSpPr/>
        <p:nvPr/>
      </p:nvGrpSpPr>
      <p:grpSpPr>
        <a:xfrm>
          <a:off x="0" y="0"/>
          <a:ext cx="0" cy="0"/>
          <a:chOff x="0" y="0"/>
          <a:chExt cx="0" cy="0"/>
        </a:xfrm>
      </p:grpSpPr>
      <p:sp>
        <p:nvSpPr>
          <p:cNvPr id="70" name="Google Shape;70;p6"/>
          <p:cNvSpPr/>
          <p:nvPr/>
        </p:nvSpPr>
        <p:spPr>
          <a:xfrm>
            <a:off x="381000" y="400050"/>
            <a:ext cx="447675"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2250" u="none" cap="none" strike="noStrike">
                <a:solidFill>
                  <a:srgbClr val="8B0000"/>
                </a:solidFill>
                <a:latin typeface="Sorts Mill Goudy"/>
                <a:ea typeface="Sorts Mill Goudy"/>
                <a:cs typeface="Sorts Mill Goudy"/>
                <a:sym typeface="Sorts Mill Goudy"/>
              </a:rPr>
              <a:t>1.</a:t>
            </a:r>
            <a:r>
              <a:rPr b="1" lang="en-US" sz="2250">
                <a:solidFill>
                  <a:srgbClr val="8B0000"/>
                </a:solidFill>
                <a:latin typeface="Sorts Mill Goudy"/>
                <a:ea typeface="Sorts Mill Goudy"/>
                <a:cs typeface="Sorts Mill Goudy"/>
                <a:sym typeface="Sorts Mill Goudy"/>
              </a:rPr>
              <a:t>2</a:t>
            </a:r>
            <a:endParaRPr b="0" i="0" sz="1600" u="none" cap="none" strike="noStrike"/>
          </a:p>
        </p:txBody>
      </p:sp>
      <p:sp>
        <p:nvSpPr>
          <p:cNvPr id="71" name="Google Shape;71;p6"/>
          <p:cNvSpPr/>
          <p:nvPr/>
        </p:nvSpPr>
        <p:spPr>
          <a:xfrm>
            <a:off x="798240" y="381000"/>
            <a:ext cx="4200525" cy="3810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1" i="0" lang="en-US" sz="2700" u="none" cap="none" strike="noStrike">
                <a:solidFill>
                  <a:srgbClr val="1F2937"/>
                </a:solidFill>
                <a:latin typeface="Sorts Mill Goudy"/>
                <a:ea typeface="Sorts Mill Goudy"/>
                <a:cs typeface="Sorts Mill Goudy"/>
                <a:sym typeface="Sorts Mill Goudy"/>
              </a:rPr>
              <a:t>Applications &amp; Challenges</a:t>
            </a:r>
            <a:endParaRPr b="0" i="0" sz="1600" u="none" cap="none" strike="noStrike"/>
          </a:p>
        </p:txBody>
      </p:sp>
      <p:sp>
        <p:nvSpPr>
          <p:cNvPr id="72" name="Google Shape;72;p6"/>
          <p:cNvSpPr/>
          <p:nvPr/>
        </p:nvSpPr>
        <p:spPr>
          <a:xfrm>
            <a:off x="914400" y="838200"/>
            <a:ext cx="914400" cy="38100"/>
          </a:xfrm>
          <a:custGeom>
            <a:rect b="b" l="l" r="r" t="t"/>
            <a:pathLst>
              <a:path extrusionOk="0" h="38100" w="914400">
                <a:moveTo>
                  <a:pt x="0" y="0"/>
                </a:moveTo>
                <a:lnTo>
                  <a:pt x="914400" y="0"/>
                </a:lnTo>
                <a:lnTo>
                  <a:pt x="914400" y="38100"/>
                </a:lnTo>
                <a:lnTo>
                  <a:pt x="0" y="38100"/>
                </a:lnTo>
                <a:lnTo>
                  <a:pt x="0" y="0"/>
                </a:lnTo>
                <a:close/>
              </a:path>
            </a:pathLst>
          </a:custGeom>
          <a:solidFill>
            <a:srgbClr val="8B0000"/>
          </a:solidFill>
          <a:ln>
            <a:noFill/>
          </a:ln>
        </p:spPr>
      </p:sp>
      <p:sp>
        <p:nvSpPr>
          <p:cNvPr id="73" name="Google Shape;73;p6"/>
          <p:cNvSpPr/>
          <p:nvPr/>
        </p:nvSpPr>
        <p:spPr>
          <a:xfrm>
            <a:off x="409575" y="1066800"/>
            <a:ext cx="228600" cy="228600"/>
          </a:xfrm>
          <a:custGeom>
            <a:rect b="b" l="l" r="r" t="t"/>
            <a:pathLst>
              <a:path extrusionOk="0" h="228600" w="228600">
                <a:moveTo>
                  <a:pt x="57150" y="142875"/>
                </a:moveTo>
                <a:lnTo>
                  <a:pt x="10939" y="142875"/>
                </a:lnTo>
                <a:cubicBezTo>
                  <a:pt x="-179" y="142875"/>
                  <a:pt x="-7010" y="130775"/>
                  <a:pt x="-1295" y="121221"/>
                </a:cubicBezTo>
                <a:lnTo>
                  <a:pt x="22324" y="81841"/>
                </a:lnTo>
                <a:cubicBezTo>
                  <a:pt x="26209" y="75367"/>
                  <a:pt x="33174" y="71438"/>
                  <a:pt x="40719" y="71438"/>
                </a:cubicBezTo>
                <a:lnTo>
                  <a:pt x="83135" y="71438"/>
                </a:lnTo>
                <a:cubicBezTo>
                  <a:pt x="117113" y="13886"/>
                  <a:pt x="167789" y="10984"/>
                  <a:pt x="201677" y="15939"/>
                </a:cubicBezTo>
                <a:cubicBezTo>
                  <a:pt x="207392" y="16788"/>
                  <a:pt x="211857" y="21253"/>
                  <a:pt x="212661" y="26923"/>
                </a:cubicBezTo>
                <a:cubicBezTo>
                  <a:pt x="217616" y="60811"/>
                  <a:pt x="214714" y="111487"/>
                  <a:pt x="157163" y="145465"/>
                </a:cubicBezTo>
                <a:lnTo>
                  <a:pt x="157163" y="187881"/>
                </a:lnTo>
                <a:cubicBezTo>
                  <a:pt x="157163" y="195426"/>
                  <a:pt x="153233" y="202391"/>
                  <a:pt x="146759" y="206276"/>
                </a:cubicBezTo>
                <a:lnTo>
                  <a:pt x="107379" y="229895"/>
                </a:lnTo>
                <a:cubicBezTo>
                  <a:pt x="97869" y="235610"/>
                  <a:pt x="85725" y="228734"/>
                  <a:pt x="85725" y="217661"/>
                </a:cubicBezTo>
                <a:lnTo>
                  <a:pt x="85725" y="171450"/>
                </a:lnTo>
                <a:cubicBezTo>
                  <a:pt x="85725" y="155689"/>
                  <a:pt x="72911" y="142875"/>
                  <a:pt x="57150" y="142875"/>
                </a:cubicBezTo>
                <a:lnTo>
                  <a:pt x="57105" y="142875"/>
                </a:lnTo>
                <a:close/>
                <a:moveTo>
                  <a:pt x="178594" y="71438"/>
                </a:moveTo>
                <a:cubicBezTo>
                  <a:pt x="178594" y="59609"/>
                  <a:pt x="168991" y="50006"/>
                  <a:pt x="157163" y="50006"/>
                </a:cubicBezTo>
                <a:cubicBezTo>
                  <a:pt x="145334" y="50006"/>
                  <a:pt x="135731" y="59609"/>
                  <a:pt x="135731" y="71438"/>
                </a:cubicBezTo>
                <a:cubicBezTo>
                  <a:pt x="135731" y="83266"/>
                  <a:pt x="145334" y="92869"/>
                  <a:pt x="157163" y="92869"/>
                </a:cubicBezTo>
                <a:cubicBezTo>
                  <a:pt x="168991" y="92869"/>
                  <a:pt x="178594" y="83266"/>
                  <a:pt x="178594" y="71438"/>
                </a:cubicBezTo>
                <a:close/>
              </a:path>
            </a:pathLst>
          </a:custGeom>
          <a:solidFill>
            <a:srgbClr val="8B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6"/>
          <p:cNvSpPr/>
          <p:nvPr/>
        </p:nvSpPr>
        <p:spPr>
          <a:xfrm>
            <a:off x="666750" y="1028700"/>
            <a:ext cx="5391150" cy="3048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i="0" lang="en-US" sz="1800" u="none" cap="none" strike="noStrike">
                <a:solidFill>
                  <a:srgbClr val="8B0000"/>
                </a:solidFill>
                <a:latin typeface="Sorts Mill Goudy"/>
                <a:ea typeface="Sorts Mill Goudy"/>
                <a:cs typeface="Sorts Mill Goudy"/>
                <a:sym typeface="Sorts Mill Goudy"/>
              </a:rPr>
              <a:t>Applications</a:t>
            </a:r>
            <a:endParaRPr b="0" i="0" sz="1600" u="none" cap="none" strike="noStrike"/>
          </a:p>
        </p:txBody>
      </p:sp>
      <p:sp>
        <p:nvSpPr>
          <p:cNvPr id="75" name="Google Shape;75;p6"/>
          <p:cNvSpPr/>
          <p:nvPr/>
        </p:nvSpPr>
        <p:spPr>
          <a:xfrm>
            <a:off x="400050" y="1485900"/>
            <a:ext cx="5543550" cy="723900"/>
          </a:xfrm>
          <a:custGeom>
            <a:rect b="b" l="l" r="r" t="t"/>
            <a:pathLst>
              <a:path extrusionOk="0" h="723900" w="5543550">
                <a:moveTo>
                  <a:pt x="0" y="0"/>
                </a:moveTo>
                <a:lnTo>
                  <a:pt x="5543550" y="0"/>
                </a:lnTo>
                <a:lnTo>
                  <a:pt x="5543550" y="723900"/>
                </a:lnTo>
                <a:lnTo>
                  <a:pt x="0" y="723900"/>
                </a:lnTo>
                <a:lnTo>
                  <a:pt x="0" y="0"/>
                </a:lnTo>
                <a:close/>
              </a:path>
            </a:pathLst>
          </a:custGeom>
          <a:solidFill>
            <a:srgbClr val="F9FAFB"/>
          </a:solidFill>
          <a:ln>
            <a:noFill/>
          </a:ln>
        </p:spPr>
      </p:sp>
      <p:sp>
        <p:nvSpPr>
          <p:cNvPr id="76" name="Google Shape;76;p6"/>
          <p:cNvSpPr/>
          <p:nvPr/>
        </p:nvSpPr>
        <p:spPr>
          <a:xfrm>
            <a:off x="400050" y="1485900"/>
            <a:ext cx="38100" cy="723900"/>
          </a:xfrm>
          <a:custGeom>
            <a:rect b="b" l="l" r="r" t="t"/>
            <a:pathLst>
              <a:path extrusionOk="0" h="723900" w="38100">
                <a:moveTo>
                  <a:pt x="0" y="0"/>
                </a:moveTo>
                <a:lnTo>
                  <a:pt x="38100" y="0"/>
                </a:lnTo>
                <a:lnTo>
                  <a:pt x="38100" y="723900"/>
                </a:lnTo>
                <a:lnTo>
                  <a:pt x="0" y="723900"/>
                </a:lnTo>
                <a:lnTo>
                  <a:pt x="0" y="0"/>
                </a:lnTo>
                <a:close/>
              </a:path>
            </a:pathLst>
          </a:custGeom>
          <a:solidFill>
            <a:srgbClr val="8B0000"/>
          </a:solidFill>
          <a:ln>
            <a:noFill/>
          </a:ln>
        </p:spPr>
      </p:sp>
      <p:sp>
        <p:nvSpPr>
          <p:cNvPr id="77" name="Google Shape;77;p6"/>
          <p:cNvSpPr/>
          <p:nvPr/>
        </p:nvSpPr>
        <p:spPr>
          <a:xfrm>
            <a:off x="600075" y="1581150"/>
            <a:ext cx="228600" cy="228600"/>
          </a:xfrm>
          <a:custGeom>
            <a:rect b="b" l="l" r="r" t="t"/>
            <a:pathLst>
              <a:path extrusionOk="0" h="228600" w="228600">
                <a:moveTo>
                  <a:pt x="0" y="114300"/>
                </a:moveTo>
                <a:cubicBezTo>
                  <a:pt x="0" y="93494"/>
                  <a:pt x="5581" y="73938"/>
                  <a:pt x="15314" y="56748"/>
                </a:cubicBezTo>
                <a:lnTo>
                  <a:pt x="64338" y="142116"/>
                </a:lnTo>
                <a:cubicBezTo>
                  <a:pt x="74116" y="159618"/>
                  <a:pt x="92824" y="171450"/>
                  <a:pt x="114300" y="171450"/>
                </a:cubicBezTo>
                <a:cubicBezTo>
                  <a:pt x="120685" y="171450"/>
                  <a:pt x="126400" y="170423"/>
                  <a:pt x="132517" y="168503"/>
                </a:cubicBezTo>
                <a:lnTo>
                  <a:pt x="98450" y="227528"/>
                </a:lnTo>
                <a:cubicBezTo>
                  <a:pt x="42818" y="219804"/>
                  <a:pt x="0" y="172030"/>
                  <a:pt x="0" y="114300"/>
                </a:cubicBezTo>
                <a:close/>
                <a:moveTo>
                  <a:pt x="163011" y="143589"/>
                </a:moveTo>
                <a:cubicBezTo>
                  <a:pt x="168503" y="135017"/>
                  <a:pt x="171450" y="124614"/>
                  <a:pt x="171450" y="114300"/>
                </a:cubicBezTo>
                <a:cubicBezTo>
                  <a:pt x="171450" y="97244"/>
                  <a:pt x="163949" y="81930"/>
                  <a:pt x="152117" y="71438"/>
                </a:cubicBezTo>
                <a:lnTo>
                  <a:pt x="220295" y="71438"/>
                </a:lnTo>
                <a:cubicBezTo>
                  <a:pt x="225653" y="84653"/>
                  <a:pt x="228600" y="99164"/>
                  <a:pt x="228600" y="114300"/>
                </a:cubicBezTo>
                <a:cubicBezTo>
                  <a:pt x="228600" y="177433"/>
                  <a:pt x="177433" y="228198"/>
                  <a:pt x="114300" y="228600"/>
                </a:cubicBezTo>
                <a:lnTo>
                  <a:pt x="163011" y="143589"/>
                </a:lnTo>
                <a:close/>
                <a:moveTo>
                  <a:pt x="213330" y="57150"/>
                </a:moveTo>
                <a:lnTo>
                  <a:pt x="114300" y="57150"/>
                </a:lnTo>
                <a:cubicBezTo>
                  <a:pt x="86216" y="57150"/>
                  <a:pt x="63535" y="76840"/>
                  <a:pt x="58266" y="103004"/>
                </a:cubicBezTo>
                <a:lnTo>
                  <a:pt x="24199" y="43979"/>
                </a:lnTo>
                <a:cubicBezTo>
                  <a:pt x="45095" y="17190"/>
                  <a:pt x="77688" y="0"/>
                  <a:pt x="114300" y="0"/>
                </a:cubicBezTo>
                <a:cubicBezTo>
                  <a:pt x="156627" y="0"/>
                  <a:pt x="193551" y="22994"/>
                  <a:pt x="213330" y="57150"/>
                </a:cubicBezTo>
                <a:close/>
                <a:moveTo>
                  <a:pt x="153591" y="114300"/>
                </a:moveTo>
                <a:cubicBezTo>
                  <a:pt x="153591" y="135985"/>
                  <a:pt x="135985" y="153591"/>
                  <a:pt x="114300" y="153591"/>
                </a:cubicBezTo>
                <a:cubicBezTo>
                  <a:pt x="92615" y="153591"/>
                  <a:pt x="75009" y="135985"/>
                  <a:pt x="75009" y="114300"/>
                </a:cubicBezTo>
                <a:cubicBezTo>
                  <a:pt x="75009" y="92615"/>
                  <a:pt x="92615" y="75009"/>
                  <a:pt x="114300" y="75009"/>
                </a:cubicBezTo>
                <a:cubicBezTo>
                  <a:pt x="135985" y="75009"/>
                  <a:pt x="153591" y="92615"/>
                  <a:pt x="153591" y="114300"/>
                </a:cubicBezTo>
                <a:close/>
              </a:path>
            </a:pathLst>
          </a:custGeom>
          <a:solidFill>
            <a:srgbClr val="8B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6"/>
          <p:cNvSpPr/>
          <p:nvPr/>
        </p:nvSpPr>
        <p:spPr>
          <a:xfrm>
            <a:off x="971550" y="1562100"/>
            <a:ext cx="1285875" cy="2667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500" u="none" cap="none" strike="noStrike">
                <a:solidFill>
                  <a:srgbClr val="1F2937"/>
                </a:solidFill>
                <a:latin typeface="Sorts Mill Goudy"/>
                <a:ea typeface="Sorts Mill Goudy"/>
                <a:cs typeface="Sorts Mill Goudy"/>
                <a:sym typeface="Sorts Mill Goudy"/>
              </a:rPr>
              <a:t>Web Browsers</a:t>
            </a:r>
            <a:endParaRPr b="0" i="0" sz="1600" u="none" cap="none" strike="noStrike"/>
          </a:p>
        </p:txBody>
      </p:sp>
      <p:sp>
        <p:nvSpPr>
          <p:cNvPr id="79" name="Google Shape;79;p6"/>
          <p:cNvSpPr/>
          <p:nvPr/>
        </p:nvSpPr>
        <p:spPr>
          <a:xfrm>
            <a:off x="571500" y="1905000"/>
            <a:ext cx="5448300"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0" i="0" lang="en-US" sz="1200" u="none" cap="none" strike="noStrike">
                <a:solidFill>
                  <a:srgbClr val="1F2937"/>
                </a:solidFill>
                <a:latin typeface="Sorts Mill Goudy"/>
                <a:ea typeface="Sorts Mill Goudy"/>
                <a:cs typeface="Sorts Mill Goudy"/>
                <a:sym typeface="Sorts Mill Goudy"/>
              </a:rPr>
              <a:t>Built-in feature for real-time URL verification before page load</a:t>
            </a:r>
            <a:endParaRPr b="0" i="0" sz="1600" u="none" cap="none" strike="noStrike"/>
          </a:p>
        </p:txBody>
      </p:sp>
      <p:sp>
        <p:nvSpPr>
          <p:cNvPr id="80" name="Google Shape;80;p6"/>
          <p:cNvSpPr/>
          <p:nvPr/>
        </p:nvSpPr>
        <p:spPr>
          <a:xfrm>
            <a:off x="400050" y="2324100"/>
            <a:ext cx="5543550" cy="723900"/>
          </a:xfrm>
          <a:custGeom>
            <a:rect b="b" l="l" r="r" t="t"/>
            <a:pathLst>
              <a:path extrusionOk="0" h="723900" w="5543550">
                <a:moveTo>
                  <a:pt x="0" y="0"/>
                </a:moveTo>
                <a:lnTo>
                  <a:pt x="5543550" y="0"/>
                </a:lnTo>
                <a:lnTo>
                  <a:pt x="5543550" y="723900"/>
                </a:lnTo>
                <a:lnTo>
                  <a:pt x="0" y="723900"/>
                </a:lnTo>
                <a:lnTo>
                  <a:pt x="0" y="0"/>
                </a:lnTo>
                <a:close/>
              </a:path>
            </a:pathLst>
          </a:custGeom>
          <a:solidFill>
            <a:srgbClr val="F9FAFB"/>
          </a:solidFill>
          <a:ln>
            <a:noFill/>
          </a:ln>
        </p:spPr>
      </p:sp>
      <p:sp>
        <p:nvSpPr>
          <p:cNvPr id="81" name="Google Shape;81;p6"/>
          <p:cNvSpPr/>
          <p:nvPr/>
        </p:nvSpPr>
        <p:spPr>
          <a:xfrm>
            <a:off x="400050" y="2324100"/>
            <a:ext cx="38100" cy="723900"/>
          </a:xfrm>
          <a:custGeom>
            <a:rect b="b" l="l" r="r" t="t"/>
            <a:pathLst>
              <a:path extrusionOk="0" h="723900" w="38100">
                <a:moveTo>
                  <a:pt x="0" y="0"/>
                </a:moveTo>
                <a:lnTo>
                  <a:pt x="38100" y="0"/>
                </a:lnTo>
                <a:lnTo>
                  <a:pt x="38100" y="723900"/>
                </a:lnTo>
                <a:lnTo>
                  <a:pt x="0" y="723900"/>
                </a:lnTo>
                <a:lnTo>
                  <a:pt x="0" y="0"/>
                </a:lnTo>
                <a:close/>
              </a:path>
            </a:pathLst>
          </a:custGeom>
          <a:solidFill>
            <a:srgbClr val="8B0000"/>
          </a:solidFill>
          <a:ln>
            <a:noFill/>
          </a:ln>
        </p:spPr>
      </p:sp>
      <p:sp>
        <p:nvSpPr>
          <p:cNvPr id="82" name="Google Shape;82;p6"/>
          <p:cNvSpPr/>
          <p:nvPr/>
        </p:nvSpPr>
        <p:spPr>
          <a:xfrm>
            <a:off x="600075" y="2419350"/>
            <a:ext cx="228600" cy="228600"/>
          </a:xfrm>
          <a:custGeom>
            <a:rect b="b" l="l" r="r" t="t"/>
            <a:pathLst>
              <a:path extrusionOk="0" h="228600" w="228600">
                <a:moveTo>
                  <a:pt x="21431" y="28575"/>
                </a:moveTo>
                <a:cubicBezTo>
                  <a:pt x="9599" y="28575"/>
                  <a:pt x="0" y="38174"/>
                  <a:pt x="0" y="50006"/>
                </a:cubicBezTo>
                <a:cubicBezTo>
                  <a:pt x="0" y="56748"/>
                  <a:pt x="3170" y="63088"/>
                  <a:pt x="8573" y="67151"/>
                </a:cubicBezTo>
                <a:lnTo>
                  <a:pt x="101441" y="136803"/>
                </a:lnTo>
                <a:cubicBezTo>
                  <a:pt x="109076" y="142518"/>
                  <a:pt x="119524" y="142518"/>
                  <a:pt x="127159" y="136803"/>
                </a:cubicBezTo>
                <a:lnTo>
                  <a:pt x="220028" y="67151"/>
                </a:lnTo>
                <a:cubicBezTo>
                  <a:pt x="225430" y="63088"/>
                  <a:pt x="228600" y="56748"/>
                  <a:pt x="228600" y="50006"/>
                </a:cubicBezTo>
                <a:cubicBezTo>
                  <a:pt x="228600" y="38174"/>
                  <a:pt x="219001" y="28575"/>
                  <a:pt x="207169" y="28575"/>
                </a:cubicBezTo>
                <a:lnTo>
                  <a:pt x="21431" y="28575"/>
                </a:lnTo>
                <a:close/>
                <a:moveTo>
                  <a:pt x="0" y="87511"/>
                </a:moveTo>
                <a:lnTo>
                  <a:pt x="0" y="171450"/>
                </a:lnTo>
                <a:cubicBezTo>
                  <a:pt x="0" y="187211"/>
                  <a:pt x="12814" y="200025"/>
                  <a:pt x="28575" y="200025"/>
                </a:cubicBezTo>
                <a:lnTo>
                  <a:pt x="200025" y="200025"/>
                </a:lnTo>
                <a:cubicBezTo>
                  <a:pt x="215786" y="200025"/>
                  <a:pt x="228600" y="187211"/>
                  <a:pt x="228600" y="171450"/>
                </a:cubicBezTo>
                <a:lnTo>
                  <a:pt x="228600" y="87511"/>
                </a:lnTo>
                <a:lnTo>
                  <a:pt x="140018" y="153948"/>
                </a:lnTo>
                <a:cubicBezTo>
                  <a:pt x="124792" y="165378"/>
                  <a:pt x="103808" y="165378"/>
                  <a:pt x="88583" y="153948"/>
                </a:cubicBezTo>
                <a:lnTo>
                  <a:pt x="0" y="87511"/>
                </a:lnTo>
                <a:close/>
              </a:path>
            </a:pathLst>
          </a:custGeom>
          <a:solidFill>
            <a:srgbClr val="8B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6"/>
          <p:cNvSpPr/>
          <p:nvPr/>
        </p:nvSpPr>
        <p:spPr>
          <a:xfrm>
            <a:off x="971550" y="2400300"/>
            <a:ext cx="1304925" cy="2667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500" u="none" cap="none" strike="noStrike">
                <a:solidFill>
                  <a:srgbClr val="1F2937"/>
                </a:solidFill>
                <a:latin typeface="Sorts Mill Goudy"/>
                <a:ea typeface="Sorts Mill Goudy"/>
                <a:cs typeface="Sorts Mill Goudy"/>
                <a:sym typeface="Sorts Mill Goudy"/>
              </a:rPr>
              <a:t>Email Filtering</a:t>
            </a:r>
            <a:endParaRPr b="0" i="0" sz="1600" u="none" cap="none" strike="noStrike"/>
          </a:p>
        </p:txBody>
      </p:sp>
      <p:sp>
        <p:nvSpPr>
          <p:cNvPr id="84" name="Google Shape;84;p6"/>
          <p:cNvSpPr/>
          <p:nvPr/>
        </p:nvSpPr>
        <p:spPr>
          <a:xfrm>
            <a:off x="571500" y="2743200"/>
            <a:ext cx="5448300"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0" i="0" lang="en-US" sz="1200" u="none" cap="none" strike="noStrike">
                <a:solidFill>
                  <a:srgbClr val="1F2937"/>
                </a:solidFill>
                <a:latin typeface="Sorts Mill Goudy"/>
                <a:ea typeface="Sorts Mill Goudy"/>
                <a:cs typeface="Sorts Mill Goudy"/>
                <a:sym typeface="Sorts Mill Goudy"/>
              </a:rPr>
              <a:t>Integration into email systems to filter phishing links</a:t>
            </a:r>
            <a:endParaRPr b="0" i="0" sz="1600" u="none" cap="none" strike="noStrike"/>
          </a:p>
        </p:txBody>
      </p:sp>
      <p:sp>
        <p:nvSpPr>
          <p:cNvPr id="85" name="Google Shape;85;p6"/>
          <p:cNvSpPr/>
          <p:nvPr/>
        </p:nvSpPr>
        <p:spPr>
          <a:xfrm>
            <a:off x="400050" y="3162300"/>
            <a:ext cx="5543550" cy="723900"/>
          </a:xfrm>
          <a:custGeom>
            <a:rect b="b" l="l" r="r" t="t"/>
            <a:pathLst>
              <a:path extrusionOk="0" h="723900" w="5543550">
                <a:moveTo>
                  <a:pt x="0" y="0"/>
                </a:moveTo>
                <a:lnTo>
                  <a:pt x="5543550" y="0"/>
                </a:lnTo>
                <a:lnTo>
                  <a:pt x="5543550" y="723900"/>
                </a:lnTo>
                <a:lnTo>
                  <a:pt x="0" y="723900"/>
                </a:lnTo>
                <a:lnTo>
                  <a:pt x="0" y="0"/>
                </a:lnTo>
                <a:close/>
              </a:path>
            </a:pathLst>
          </a:custGeom>
          <a:solidFill>
            <a:srgbClr val="F9FAFB"/>
          </a:solidFill>
          <a:ln>
            <a:noFill/>
          </a:ln>
        </p:spPr>
      </p:sp>
      <p:sp>
        <p:nvSpPr>
          <p:cNvPr id="86" name="Google Shape;86;p6"/>
          <p:cNvSpPr/>
          <p:nvPr/>
        </p:nvSpPr>
        <p:spPr>
          <a:xfrm>
            <a:off x="400050" y="3162300"/>
            <a:ext cx="38100" cy="723900"/>
          </a:xfrm>
          <a:custGeom>
            <a:rect b="b" l="l" r="r" t="t"/>
            <a:pathLst>
              <a:path extrusionOk="0" h="723900" w="38100">
                <a:moveTo>
                  <a:pt x="0" y="0"/>
                </a:moveTo>
                <a:lnTo>
                  <a:pt x="38100" y="0"/>
                </a:lnTo>
                <a:lnTo>
                  <a:pt x="38100" y="723900"/>
                </a:lnTo>
                <a:lnTo>
                  <a:pt x="0" y="723900"/>
                </a:lnTo>
                <a:lnTo>
                  <a:pt x="0" y="0"/>
                </a:lnTo>
                <a:close/>
              </a:path>
            </a:pathLst>
          </a:custGeom>
          <a:solidFill>
            <a:srgbClr val="8B0000"/>
          </a:solidFill>
          <a:ln>
            <a:noFill/>
          </a:ln>
        </p:spPr>
      </p:sp>
      <p:sp>
        <p:nvSpPr>
          <p:cNvPr id="87" name="Google Shape;87;p6"/>
          <p:cNvSpPr/>
          <p:nvPr/>
        </p:nvSpPr>
        <p:spPr>
          <a:xfrm>
            <a:off x="600075" y="3257550"/>
            <a:ext cx="228600" cy="228600"/>
          </a:xfrm>
          <a:custGeom>
            <a:rect b="b" l="l" r="r" t="t"/>
            <a:pathLst>
              <a:path extrusionOk="0" h="228600" w="228600">
                <a:moveTo>
                  <a:pt x="114300" y="0"/>
                </a:moveTo>
                <a:cubicBezTo>
                  <a:pt x="116354" y="0"/>
                  <a:pt x="118408" y="446"/>
                  <a:pt x="120283" y="1295"/>
                </a:cubicBezTo>
                <a:lnTo>
                  <a:pt x="204401" y="36969"/>
                </a:lnTo>
                <a:cubicBezTo>
                  <a:pt x="214223" y="41121"/>
                  <a:pt x="221546" y="50810"/>
                  <a:pt x="221501" y="62508"/>
                </a:cubicBezTo>
                <a:cubicBezTo>
                  <a:pt x="221278" y="106799"/>
                  <a:pt x="203061" y="187836"/>
                  <a:pt x="126132" y="224671"/>
                </a:cubicBezTo>
                <a:cubicBezTo>
                  <a:pt x="118676" y="228243"/>
                  <a:pt x="110014" y="228243"/>
                  <a:pt x="102557" y="224671"/>
                </a:cubicBezTo>
                <a:cubicBezTo>
                  <a:pt x="25584" y="187836"/>
                  <a:pt x="7412" y="106799"/>
                  <a:pt x="7188" y="62508"/>
                </a:cubicBezTo>
                <a:cubicBezTo>
                  <a:pt x="7144" y="50810"/>
                  <a:pt x="14466" y="41121"/>
                  <a:pt x="24289" y="36969"/>
                </a:cubicBezTo>
                <a:lnTo>
                  <a:pt x="108362" y="1295"/>
                </a:lnTo>
                <a:cubicBezTo>
                  <a:pt x="110237" y="446"/>
                  <a:pt x="112246" y="0"/>
                  <a:pt x="114300" y="0"/>
                </a:cubicBezTo>
                <a:close/>
                <a:moveTo>
                  <a:pt x="114300" y="29825"/>
                </a:moveTo>
                <a:lnTo>
                  <a:pt x="114300" y="198641"/>
                </a:lnTo>
                <a:cubicBezTo>
                  <a:pt x="175915" y="168816"/>
                  <a:pt x="192479" y="102736"/>
                  <a:pt x="192881" y="63178"/>
                </a:cubicBezTo>
                <a:lnTo>
                  <a:pt x="114300" y="29870"/>
                </a:lnTo>
                <a:lnTo>
                  <a:pt x="114300" y="29870"/>
                </a:lnTo>
                <a:close/>
              </a:path>
            </a:pathLst>
          </a:custGeom>
          <a:solidFill>
            <a:srgbClr val="8B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6"/>
          <p:cNvSpPr/>
          <p:nvPr/>
        </p:nvSpPr>
        <p:spPr>
          <a:xfrm>
            <a:off x="971550" y="3238500"/>
            <a:ext cx="1762125" cy="2667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500" u="none" cap="none" strike="noStrike">
                <a:solidFill>
                  <a:srgbClr val="1F2937"/>
                </a:solidFill>
                <a:latin typeface="Sorts Mill Goudy"/>
                <a:ea typeface="Sorts Mill Goudy"/>
                <a:cs typeface="Sorts Mill Goudy"/>
                <a:sym typeface="Sorts Mill Goudy"/>
              </a:rPr>
              <a:t>Cybersecurity Tools</a:t>
            </a:r>
            <a:endParaRPr b="0" i="0" sz="1600" u="none" cap="none" strike="noStrike"/>
          </a:p>
        </p:txBody>
      </p:sp>
      <p:sp>
        <p:nvSpPr>
          <p:cNvPr id="89" name="Google Shape;89;p6"/>
          <p:cNvSpPr/>
          <p:nvPr/>
        </p:nvSpPr>
        <p:spPr>
          <a:xfrm>
            <a:off x="571500" y="3581400"/>
            <a:ext cx="5448300"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0" i="0" lang="en-US" sz="1200" u="none" cap="none" strike="noStrike">
                <a:solidFill>
                  <a:srgbClr val="1F2937"/>
                </a:solidFill>
                <a:latin typeface="Sorts Mill Goudy"/>
                <a:ea typeface="Sorts Mill Goudy"/>
                <a:cs typeface="Sorts Mill Goudy"/>
                <a:sym typeface="Sorts Mill Goudy"/>
              </a:rPr>
              <a:t>Enterprise security solutions and endpoint protection</a:t>
            </a:r>
            <a:endParaRPr b="0" i="0" sz="1600" u="none" cap="none" strike="noStrike"/>
          </a:p>
        </p:txBody>
      </p:sp>
      <p:sp>
        <p:nvSpPr>
          <p:cNvPr id="90" name="Google Shape;90;p6"/>
          <p:cNvSpPr/>
          <p:nvPr/>
        </p:nvSpPr>
        <p:spPr>
          <a:xfrm>
            <a:off x="400050" y="4000500"/>
            <a:ext cx="5543550" cy="723900"/>
          </a:xfrm>
          <a:custGeom>
            <a:rect b="b" l="l" r="r" t="t"/>
            <a:pathLst>
              <a:path extrusionOk="0" h="723900" w="5543550">
                <a:moveTo>
                  <a:pt x="0" y="0"/>
                </a:moveTo>
                <a:lnTo>
                  <a:pt x="5543550" y="0"/>
                </a:lnTo>
                <a:lnTo>
                  <a:pt x="5543550" y="723900"/>
                </a:lnTo>
                <a:lnTo>
                  <a:pt x="0" y="723900"/>
                </a:lnTo>
                <a:lnTo>
                  <a:pt x="0" y="0"/>
                </a:lnTo>
                <a:close/>
              </a:path>
            </a:pathLst>
          </a:custGeom>
          <a:solidFill>
            <a:srgbClr val="F9FAFB"/>
          </a:solidFill>
          <a:ln>
            <a:noFill/>
          </a:ln>
        </p:spPr>
      </p:sp>
      <p:sp>
        <p:nvSpPr>
          <p:cNvPr id="91" name="Google Shape;91;p6"/>
          <p:cNvSpPr/>
          <p:nvPr/>
        </p:nvSpPr>
        <p:spPr>
          <a:xfrm>
            <a:off x="400050" y="4000500"/>
            <a:ext cx="38100" cy="723900"/>
          </a:xfrm>
          <a:custGeom>
            <a:rect b="b" l="l" r="r" t="t"/>
            <a:pathLst>
              <a:path extrusionOk="0" h="723900" w="38100">
                <a:moveTo>
                  <a:pt x="0" y="0"/>
                </a:moveTo>
                <a:lnTo>
                  <a:pt x="38100" y="0"/>
                </a:lnTo>
                <a:lnTo>
                  <a:pt x="38100" y="723900"/>
                </a:lnTo>
                <a:lnTo>
                  <a:pt x="0" y="723900"/>
                </a:lnTo>
                <a:lnTo>
                  <a:pt x="0" y="0"/>
                </a:lnTo>
                <a:close/>
              </a:path>
            </a:pathLst>
          </a:custGeom>
          <a:solidFill>
            <a:srgbClr val="8B0000"/>
          </a:solidFill>
          <a:ln>
            <a:noFill/>
          </a:ln>
        </p:spPr>
      </p:sp>
      <p:sp>
        <p:nvSpPr>
          <p:cNvPr id="92" name="Google Shape;92;p6"/>
          <p:cNvSpPr/>
          <p:nvPr/>
        </p:nvSpPr>
        <p:spPr>
          <a:xfrm>
            <a:off x="600075" y="4095750"/>
            <a:ext cx="228600" cy="228600"/>
          </a:xfrm>
          <a:custGeom>
            <a:rect b="b" l="l" r="r" t="t"/>
            <a:pathLst>
              <a:path extrusionOk="0" h="228600" w="228600">
                <a:moveTo>
                  <a:pt x="157118" y="125016"/>
                </a:moveTo>
                <a:lnTo>
                  <a:pt x="71884" y="125016"/>
                </a:lnTo>
                <a:cubicBezTo>
                  <a:pt x="73179" y="153814"/>
                  <a:pt x="79564" y="180335"/>
                  <a:pt x="88627" y="199757"/>
                </a:cubicBezTo>
                <a:cubicBezTo>
                  <a:pt x="93717" y="210696"/>
                  <a:pt x="99209" y="218420"/>
                  <a:pt x="104299" y="223153"/>
                </a:cubicBezTo>
                <a:cubicBezTo>
                  <a:pt x="109299" y="227841"/>
                  <a:pt x="112737" y="228600"/>
                  <a:pt x="114523" y="228600"/>
                </a:cubicBezTo>
                <a:cubicBezTo>
                  <a:pt x="116309" y="228600"/>
                  <a:pt x="119747" y="227841"/>
                  <a:pt x="124748" y="223153"/>
                </a:cubicBezTo>
                <a:cubicBezTo>
                  <a:pt x="129838" y="218420"/>
                  <a:pt x="135329" y="210651"/>
                  <a:pt x="140419" y="199757"/>
                </a:cubicBezTo>
                <a:cubicBezTo>
                  <a:pt x="149483" y="180335"/>
                  <a:pt x="155868" y="153814"/>
                  <a:pt x="157162" y="125016"/>
                </a:cubicBezTo>
                <a:close/>
                <a:moveTo>
                  <a:pt x="71839" y="103584"/>
                </a:moveTo>
                <a:lnTo>
                  <a:pt x="157073" y="103584"/>
                </a:lnTo>
                <a:cubicBezTo>
                  <a:pt x="155823" y="74786"/>
                  <a:pt x="149438" y="48265"/>
                  <a:pt x="140375" y="28843"/>
                </a:cubicBezTo>
                <a:cubicBezTo>
                  <a:pt x="135285" y="17949"/>
                  <a:pt x="129793" y="10180"/>
                  <a:pt x="124703" y="5447"/>
                </a:cubicBezTo>
                <a:cubicBezTo>
                  <a:pt x="119702" y="759"/>
                  <a:pt x="116265" y="0"/>
                  <a:pt x="114479" y="0"/>
                </a:cubicBezTo>
                <a:cubicBezTo>
                  <a:pt x="112693" y="0"/>
                  <a:pt x="109255" y="759"/>
                  <a:pt x="104254" y="5447"/>
                </a:cubicBezTo>
                <a:cubicBezTo>
                  <a:pt x="99164" y="10180"/>
                  <a:pt x="93672" y="17949"/>
                  <a:pt x="88582" y="28843"/>
                </a:cubicBezTo>
                <a:cubicBezTo>
                  <a:pt x="79519" y="48265"/>
                  <a:pt x="73134" y="74786"/>
                  <a:pt x="71839" y="103584"/>
                </a:cubicBezTo>
                <a:close/>
                <a:moveTo>
                  <a:pt x="50408" y="103584"/>
                </a:moveTo>
                <a:cubicBezTo>
                  <a:pt x="51971" y="65365"/>
                  <a:pt x="61838" y="29870"/>
                  <a:pt x="76260" y="6563"/>
                </a:cubicBezTo>
                <a:cubicBezTo>
                  <a:pt x="35138" y="21119"/>
                  <a:pt x="4867" y="58579"/>
                  <a:pt x="670" y="103584"/>
                </a:cubicBezTo>
                <a:lnTo>
                  <a:pt x="50408" y="103584"/>
                </a:lnTo>
                <a:close/>
                <a:moveTo>
                  <a:pt x="670" y="125016"/>
                </a:moveTo>
                <a:cubicBezTo>
                  <a:pt x="4867" y="170021"/>
                  <a:pt x="35138" y="207481"/>
                  <a:pt x="76260" y="222037"/>
                </a:cubicBezTo>
                <a:cubicBezTo>
                  <a:pt x="61838" y="198730"/>
                  <a:pt x="51971" y="163235"/>
                  <a:pt x="50408" y="125016"/>
                </a:cubicBezTo>
                <a:lnTo>
                  <a:pt x="670" y="125016"/>
                </a:lnTo>
                <a:close/>
                <a:moveTo>
                  <a:pt x="178549" y="125016"/>
                </a:moveTo>
                <a:cubicBezTo>
                  <a:pt x="176986" y="163235"/>
                  <a:pt x="167119" y="198730"/>
                  <a:pt x="152698" y="222037"/>
                </a:cubicBezTo>
                <a:cubicBezTo>
                  <a:pt x="193819" y="207437"/>
                  <a:pt x="224091" y="170021"/>
                  <a:pt x="228287" y="125016"/>
                </a:cubicBezTo>
                <a:lnTo>
                  <a:pt x="178549" y="125016"/>
                </a:lnTo>
                <a:close/>
                <a:moveTo>
                  <a:pt x="228287" y="103584"/>
                </a:moveTo>
                <a:cubicBezTo>
                  <a:pt x="224091" y="58579"/>
                  <a:pt x="193819" y="21119"/>
                  <a:pt x="152698" y="6563"/>
                </a:cubicBezTo>
                <a:cubicBezTo>
                  <a:pt x="167119" y="29870"/>
                  <a:pt x="176986" y="65365"/>
                  <a:pt x="178549" y="103584"/>
                </a:cubicBezTo>
                <a:lnTo>
                  <a:pt x="228287" y="103584"/>
                </a:lnTo>
                <a:close/>
              </a:path>
            </a:pathLst>
          </a:custGeom>
          <a:solidFill>
            <a:srgbClr val="8B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6"/>
          <p:cNvSpPr/>
          <p:nvPr/>
        </p:nvSpPr>
        <p:spPr>
          <a:xfrm>
            <a:off x="971550" y="4076700"/>
            <a:ext cx="1752600" cy="2667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500" u="none" cap="none" strike="noStrike">
                <a:solidFill>
                  <a:srgbClr val="1F2937"/>
                </a:solidFill>
                <a:latin typeface="Sorts Mill Goudy"/>
                <a:ea typeface="Sorts Mill Goudy"/>
                <a:cs typeface="Sorts Mill Goudy"/>
                <a:sym typeface="Sorts Mill Goudy"/>
              </a:rPr>
              <a:t>Standalone Website</a:t>
            </a:r>
            <a:endParaRPr b="0" i="0" sz="1600" u="none" cap="none" strike="noStrike"/>
          </a:p>
        </p:txBody>
      </p:sp>
      <p:sp>
        <p:nvSpPr>
          <p:cNvPr id="94" name="Google Shape;94;p6"/>
          <p:cNvSpPr/>
          <p:nvPr/>
        </p:nvSpPr>
        <p:spPr>
          <a:xfrm>
            <a:off x="571500" y="4419600"/>
            <a:ext cx="5448300"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0" i="0" lang="en-US" sz="1200" u="none" cap="none" strike="noStrike">
                <a:solidFill>
                  <a:srgbClr val="1F2937"/>
                </a:solidFill>
                <a:latin typeface="Sorts Mill Goudy"/>
                <a:ea typeface="Sorts Mill Goudy"/>
                <a:cs typeface="Sorts Mill Goudy"/>
                <a:sym typeface="Sorts Mill Goudy"/>
              </a:rPr>
              <a:t>User-accessible platform for URL verification</a:t>
            </a:r>
            <a:endParaRPr b="0" i="0" sz="1600" u="none" cap="none" strike="noStrike"/>
          </a:p>
        </p:txBody>
      </p:sp>
      <p:sp>
        <p:nvSpPr>
          <p:cNvPr id="95" name="Google Shape;95;p6"/>
          <p:cNvSpPr/>
          <p:nvPr/>
        </p:nvSpPr>
        <p:spPr>
          <a:xfrm>
            <a:off x="6276975" y="1066800"/>
            <a:ext cx="228600" cy="228600"/>
          </a:xfrm>
          <a:custGeom>
            <a:rect b="b" l="l" r="r" t="t"/>
            <a:pathLst>
              <a:path extrusionOk="0" h="228600" w="228600">
                <a:moveTo>
                  <a:pt x="114300" y="0"/>
                </a:moveTo>
                <a:cubicBezTo>
                  <a:pt x="120863" y="0"/>
                  <a:pt x="126891" y="3617"/>
                  <a:pt x="130016" y="9376"/>
                </a:cubicBezTo>
                <a:lnTo>
                  <a:pt x="226457" y="187970"/>
                </a:lnTo>
                <a:cubicBezTo>
                  <a:pt x="229448" y="193506"/>
                  <a:pt x="229314" y="200204"/>
                  <a:pt x="226100" y="205606"/>
                </a:cubicBezTo>
                <a:cubicBezTo>
                  <a:pt x="222885" y="211009"/>
                  <a:pt x="217036" y="214313"/>
                  <a:pt x="210741" y="214313"/>
                </a:cubicBezTo>
                <a:lnTo>
                  <a:pt x="17859" y="214313"/>
                </a:lnTo>
                <a:cubicBezTo>
                  <a:pt x="11564" y="214313"/>
                  <a:pt x="5760" y="211009"/>
                  <a:pt x="2500" y="205606"/>
                </a:cubicBezTo>
                <a:cubicBezTo>
                  <a:pt x="-759" y="200204"/>
                  <a:pt x="-848" y="193506"/>
                  <a:pt x="2143" y="187970"/>
                </a:cubicBezTo>
                <a:lnTo>
                  <a:pt x="98584" y="9376"/>
                </a:lnTo>
                <a:cubicBezTo>
                  <a:pt x="101709" y="3617"/>
                  <a:pt x="107737" y="0"/>
                  <a:pt x="114300" y="0"/>
                </a:cubicBezTo>
                <a:close/>
                <a:moveTo>
                  <a:pt x="114300" y="75009"/>
                </a:moveTo>
                <a:cubicBezTo>
                  <a:pt x="108362" y="75009"/>
                  <a:pt x="103584" y="79787"/>
                  <a:pt x="103584" y="85725"/>
                </a:cubicBezTo>
                <a:lnTo>
                  <a:pt x="103584" y="135731"/>
                </a:lnTo>
                <a:cubicBezTo>
                  <a:pt x="103584" y="141669"/>
                  <a:pt x="108362" y="146447"/>
                  <a:pt x="114300" y="146447"/>
                </a:cubicBezTo>
                <a:cubicBezTo>
                  <a:pt x="120238" y="146447"/>
                  <a:pt x="125016" y="141669"/>
                  <a:pt x="125016" y="135731"/>
                </a:cubicBezTo>
                <a:lnTo>
                  <a:pt x="125016" y="85725"/>
                </a:lnTo>
                <a:cubicBezTo>
                  <a:pt x="125016" y="79787"/>
                  <a:pt x="120238" y="75009"/>
                  <a:pt x="114300" y="75009"/>
                </a:cubicBezTo>
                <a:close/>
                <a:moveTo>
                  <a:pt x="126221" y="171450"/>
                </a:moveTo>
                <a:cubicBezTo>
                  <a:pt x="126492" y="167025"/>
                  <a:pt x="124286" y="162815"/>
                  <a:pt x="120492" y="160521"/>
                </a:cubicBezTo>
                <a:cubicBezTo>
                  <a:pt x="116699" y="158226"/>
                  <a:pt x="111946" y="158226"/>
                  <a:pt x="108152" y="160521"/>
                </a:cubicBezTo>
                <a:cubicBezTo>
                  <a:pt x="104359" y="162815"/>
                  <a:pt x="102152" y="167025"/>
                  <a:pt x="102424" y="171450"/>
                </a:cubicBezTo>
                <a:cubicBezTo>
                  <a:pt x="102152" y="175875"/>
                  <a:pt x="104359" y="180085"/>
                  <a:pt x="108152" y="182379"/>
                </a:cubicBezTo>
                <a:cubicBezTo>
                  <a:pt x="111946" y="184674"/>
                  <a:pt x="116699" y="184674"/>
                  <a:pt x="120492" y="182379"/>
                </a:cubicBezTo>
                <a:cubicBezTo>
                  <a:pt x="124286" y="180085"/>
                  <a:pt x="126492" y="175875"/>
                  <a:pt x="126221" y="171450"/>
                </a:cubicBezTo>
                <a:close/>
              </a:path>
            </a:pathLst>
          </a:custGeom>
          <a:solidFill>
            <a:srgbClr val="8B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6"/>
          <p:cNvSpPr/>
          <p:nvPr/>
        </p:nvSpPr>
        <p:spPr>
          <a:xfrm>
            <a:off x="6534150" y="1028700"/>
            <a:ext cx="5391150" cy="3048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i="0" lang="en-US" sz="1800" u="none" cap="none" strike="noStrike">
                <a:solidFill>
                  <a:srgbClr val="8B0000"/>
                </a:solidFill>
                <a:latin typeface="Sorts Mill Goudy"/>
                <a:ea typeface="Sorts Mill Goudy"/>
                <a:cs typeface="Sorts Mill Goudy"/>
                <a:sym typeface="Sorts Mill Goudy"/>
              </a:rPr>
              <a:t>Challenges</a:t>
            </a:r>
            <a:endParaRPr b="0" i="0" sz="1600" u="none" cap="none" strike="noStrike"/>
          </a:p>
        </p:txBody>
      </p:sp>
      <p:sp>
        <p:nvSpPr>
          <p:cNvPr id="97" name="Google Shape;97;p6"/>
          <p:cNvSpPr/>
          <p:nvPr/>
        </p:nvSpPr>
        <p:spPr>
          <a:xfrm>
            <a:off x="6253163" y="1490663"/>
            <a:ext cx="5553075" cy="1152525"/>
          </a:xfrm>
          <a:custGeom>
            <a:rect b="b" l="l" r="r" t="t"/>
            <a:pathLst>
              <a:path extrusionOk="0" h="1152525" w="5553075">
                <a:moveTo>
                  <a:pt x="0" y="0"/>
                </a:moveTo>
                <a:lnTo>
                  <a:pt x="5553075" y="0"/>
                </a:lnTo>
                <a:lnTo>
                  <a:pt x="5553075" y="1152525"/>
                </a:lnTo>
                <a:lnTo>
                  <a:pt x="0" y="1152525"/>
                </a:lnTo>
                <a:lnTo>
                  <a:pt x="0" y="0"/>
                </a:lnTo>
                <a:close/>
              </a:path>
            </a:pathLst>
          </a:custGeom>
          <a:solidFill>
            <a:srgbClr val="8B0000">
              <a:alpha val="5098"/>
            </a:srgbClr>
          </a:solidFill>
          <a:ln cap="flat" cmpd="sng" w="12700">
            <a:solidFill>
              <a:srgbClr val="8B0000">
                <a:alpha val="20000"/>
              </a:srgbClr>
            </a:solidFill>
            <a:prstDash val="solid"/>
            <a:round/>
            <a:headEnd len="sm" w="sm" type="none"/>
            <a:tailEnd len="sm" w="sm" type="none"/>
          </a:ln>
        </p:spPr>
      </p:sp>
      <p:sp>
        <p:nvSpPr>
          <p:cNvPr id="98" name="Google Shape;98;p6"/>
          <p:cNvSpPr/>
          <p:nvPr/>
        </p:nvSpPr>
        <p:spPr>
          <a:xfrm>
            <a:off x="6410325" y="1647825"/>
            <a:ext cx="381000" cy="381000"/>
          </a:xfrm>
          <a:custGeom>
            <a:rect b="b" l="l" r="r" t="t"/>
            <a:pathLst>
              <a:path extrusionOk="0" h="381000" w="381000">
                <a:moveTo>
                  <a:pt x="0" y="0"/>
                </a:moveTo>
                <a:lnTo>
                  <a:pt x="381000" y="0"/>
                </a:lnTo>
                <a:lnTo>
                  <a:pt x="381000" y="381000"/>
                </a:lnTo>
                <a:lnTo>
                  <a:pt x="0" y="381000"/>
                </a:lnTo>
                <a:lnTo>
                  <a:pt x="0" y="0"/>
                </a:lnTo>
                <a:close/>
              </a:path>
            </a:pathLst>
          </a:custGeom>
          <a:solidFill>
            <a:srgbClr val="8B0000"/>
          </a:solidFill>
          <a:ln>
            <a:noFill/>
          </a:ln>
        </p:spPr>
      </p:sp>
      <p:sp>
        <p:nvSpPr>
          <p:cNvPr id="99" name="Google Shape;99;p6"/>
          <p:cNvSpPr/>
          <p:nvPr/>
        </p:nvSpPr>
        <p:spPr>
          <a:xfrm>
            <a:off x="6367463" y="1647825"/>
            <a:ext cx="466725" cy="3810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1" i="0" lang="en-US" sz="1350" u="none" cap="none" strike="noStrike">
                <a:solidFill>
                  <a:srgbClr val="FFFFFF"/>
                </a:solidFill>
                <a:latin typeface="Sorts Mill Goudy"/>
                <a:ea typeface="Sorts Mill Goudy"/>
                <a:cs typeface="Sorts Mill Goudy"/>
                <a:sym typeface="Sorts Mill Goudy"/>
              </a:rPr>
              <a:t>1</a:t>
            </a:r>
            <a:endParaRPr b="0" i="0" sz="1600" u="none" cap="none" strike="noStrike"/>
          </a:p>
        </p:txBody>
      </p:sp>
      <p:sp>
        <p:nvSpPr>
          <p:cNvPr id="100" name="Google Shape;100;p6"/>
          <p:cNvSpPr/>
          <p:nvPr/>
        </p:nvSpPr>
        <p:spPr>
          <a:xfrm>
            <a:off x="6905625" y="1647825"/>
            <a:ext cx="4829175" cy="2667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i="0" lang="en-US" sz="1350" u="none" cap="none" strike="noStrike">
                <a:solidFill>
                  <a:srgbClr val="1F2937"/>
                </a:solidFill>
                <a:latin typeface="Sorts Mill Goudy"/>
                <a:ea typeface="Sorts Mill Goudy"/>
                <a:cs typeface="Sorts Mill Goudy"/>
                <a:sym typeface="Sorts Mill Goudy"/>
              </a:rPr>
              <a:t>Visual Similarity</a:t>
            </a:r>
            <a:endParaRPr b="0" i="0" sz="1600" u="none" cap="none" strike="noStrike"/>
          </a:p>
        </p:txBody>
      </p:sp>
      <p:sp>
        <p:nvSpPr>
          <p:cNvPr id="101" name="Google Shape;101;p6"/>
          <p:cNvSpPr/>
          <p:nvPr/>
        </p:nvSpPr>
        <p:spPr>
          <a:xfrm>
            <a:off x="6905625" y="1990725"/>
            <a:ext cx="4819650" cy="4953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b="0" i="0" lang="en-US" sz="1200" u="none" cap="none" strike="noStrike">
                <a:solidFill>
                  <a:srgbClr val="1F2937"/>
                </a:solidFill>
                <a:latin typeface="Sorts Mill Goudy"/>
                <a:ea typeface="Sorts Mill Goudy"/>
                <a:cs typeface="Sorts Mill Goudy"/>
                <a:sym typeface="Sorts Mill Goudy"/>
              </a:rPr>
              <a:t>Phishing URLs often look very similar to legitimate ones, using domain variations like </a:t>
            </a:r>
            <a:r>
              <a:rPr b="0" i="0" lang="en-US" sz="1050" u="none" cap="none" strike="noStrike">
                <a:solidFill>
                  <a:srgbClr val="1F2937"/>
                </a:solidFill>
                <a:highlight>
                  <a:srgbClr val="F9FAFB"/>
                </a:highlight>
                <a:latin typeface="Arial"/>
                <a:ea typeface="Arial"/>
                <a:cs typeface="Arial"/>
                <a:sym typeface="Arial"/>
              </a:rPr>
              <a:t>paypa1.com </a:t>
            </a:r>
            <a:r>
              <a:rPr b="0" i="0" lang="en-US" sz="1200" u="none" cap="none" strike="noStrike">
                <a:solidFill>
                  <a:srgbClr val="1F2937"/>
                </a:solidFill>
                <a:latin typeface="Sorts Mill Goudy"/>
                <a:ea typeface="Sorts Mill Goudy"/>
                <a:cs typeface="Sorts Mill Goudy"/>
                <a:sym typeface="Sorts Mill Goudy"/>
              </a:rPr>
              <a:t>vs </a:t>
            </a:r>
            <a:r>
              <a:rPr b="0" i="0" lang="en-US" sz="1050" u="none" cap="none" strike="noStrike">
                <a:solidFill>
                  <a:srgbClr val="1F2937"/>
                </a:solidFill>
                <a:highlight>
                  <a:srgbClr val="F9FAFB"/>
                </a:highlight>
                <a:latin typeface="Arial"/>
                <a:ea typeface="Arial"/>
                <a:cs typeface="Arial"/>
                <a:sym typeface="Arial"/>
              </a:rPr>
              <a:t>paypal.com</a:t>
            </a:r>
            <a:endParaRPr b="0" i="0" sz="1600" u="none" cap="none" strike="noStrike"/>
          </a:p>
        </p:txBody>
      </p:sp>
      <p:sp>
        <p:nvSpPr>
          <p:cNvPr id="102" name="Google Shape;102;p6"/>
          <p:cNvSpPr/>
          <p:nvPr/>
        </p:nvSpPr>
        <p:spPr>
          <a:xfrm>
            <a:off x="6253163" y="2805113"/>
            <a:ext cx="5553075" cy="1152525"/>
          </a:xfrm>
          <a:custGeom>
            <a:rect b="b" l="l" r="r" t="t"/>
            <a:pathLst>
              <a:path extrusionOk="0" h="1152525" w="5553075">
                <a:moveTo>
                  <a:pt x="0" y="0"/>
                </a:moveTo>
                <a:lnTo>
                  <a:pt x="5553075" y="0"/>
                </a:lnTo>
                <a:lnTo>
                  <a:pt x="5553075" y="1152525"/>
                </a:lnTo>
                <a:lnTo>
                  <a:pt x="0" y="1152525"/>
                </a:lnTo>
                <a:lnTo>
                  <a:pt x="0" y="0"/>
                </a:lnTo>
                <a:close/>
              </a:path>
            </a:pathLst>
          </a:custGeom>
          <a:solidFill>
            <a:srgbClr val="8B0000">
              <a:alpha val="5098"/>
            </a:srgbClr>
          </a:solidFill>
          <a:ln cap="flat" cmpd="sng" w="12700">
            <a:solidFill>
              <a:srgbClr val="8B0000">
                <a:alpha val="20000"/>
              </a:srgbClr>
            </a:solidFill>
            <a:prstDash val="solid"/>
            <a:round/>
            <a:headEnd len="sm" w="sm" type="none"/>
            <a:tailEnd len="sm" w="sm" type="none"/>
          </a:ln>
        </p:spPr>
      </p:sp>
      <p:sp>
        <p:nvSpPr>
          <p:cNvPr id="103" name="Google Shape;103;p6"/>
          <p:cNvSpPr/>
          <p:nvPr/>
        </p:nvSpPr>
        <p:spPr>
          <a:xfrm>
            <a:off x="6410325" y="2962275"/>
            <a:ext cx="381000" cy="381000"/>
          </a:xfrm>
          <a:custGeom>
            <a:rect b="b" l="l" r="r" t="t"/>
            <a:pathLst>
              <a:path extrusionOk="0" h="381000" w="381000">
                <a:moveTo>
                  <a:pt x="0" y="0"/>
                </a:moveTo>
                <a:lnTo>
                  <a:pt x="381000" y="0"/>
                </a:lnTo>
                <a:lnTo>
                  <a:pt x="381000" y="381000"/>
                </a:lnTo>
                <a:lnTo>
                  <a:pt x="0" y="381000"/>
                </a:lnTo>
                <a:lnTo>
                  <a:pt x="0" y="0"/>
                </a:lnTo>
                <a:close/>
              </a:path>
            </a:pathLst>
          </a:custGeom>
          <a:solidFill>
            <a:srgbClr val="8B0000"/>
          </a:solidFill>
          <a:ln>
            <a:noFill/>
          </a:ln>
        </p:spPr>
      </p:sp>
      <p:sp>
        <p:nvSpPr>
          <p:cNvPr id="104" name="Google Shape;104;p6"/>
          <p:cNvSpPr/>
          <p:nvPr/>
        </p:nvSpPr>
        <p:spPr>
          <a:xfrm>
            <a:off x="6367463" y="2962275"/>
            <a:ext cx="466725" cy="3810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1" i="0" lang="en-US" sz="1350" u="none" cap="none" strike="noStrike">
                <a:solidFill>
                  <a:srgbClr val="FFFFFF"/>
                </a:solidFill>
                <a:latin typeface="Sorts Mill Goudy"/>
                <a:ea typeface="Sorts Mill Goudy"/>
                <a:cs typeface="Sorts Mill Goudy"/>
                <a:sym typeface="Sorts Mill Goudy"/>
              </a:rPr>
              <a:t>2</a:t>
            </a:r>
            <a:endParaRPr b="0" i="0" sz="1600" u="none" cap="none" strike="noStrike"/>
          </a:p>
        </p:txBody>
      </p:sp>
      <p:sp>
        <p:nvSpPr>
          <p:cNvPr id="105" name="Google Shape;105;p6"/>
          <p:cNvSpPr/>
          <p:nvPr/>
        </p:nvSpPr>
        <p:spPr>
          <a:xfrm>
            <a:off x="6905625" y="2962275"/>
            <a:ext cx="4829175" cy="2667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i="0" lang="en-US" sz="1350" u="none" cap="none" strike="noStrike">
                <a:solidFill>
                  <a:srgbClr val="1F2937"/>
                </a:solidFill>
                <a:latin typeface="Sorts Mill Goudy"/>
                <a:ea typeface="Sorts Mill Goudy"/>
                <a:cs typeface="Sorts Mill Goudy"/>
                <a:sym typeface="Sorts Mill Goudy"/>
              </a:rPr>
              <a:t>Rapid Evolution</a:t>
            </a:r>
            <a:endParaRPr b="0" i="0" sz="1600" u="none" cap="none" strike="noStrike"/>
          </a:p>
        </p:txBody>
      </p:sp>
      <p:sp>
        <p:nvSpPr>
          <p:cNvPr id="106" name="Google Shape;106;p6"/>
          <p:cNvSpPr/>
          <p:nvPr/>
        </p:nvSpPr>
        <p:spPr>
          <a:xfrm>
            <a:off x="6905625" y="3305175"/>
            <a:ext cx="4819650" cy="4953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b="0" i="0" lang="en-US" sz="1200" u="none" cap="none" strike="noStrike">
                <a:solidFill>
                  <a:srgbClr val="1F2937"/>
                </a:solidFill>
                <a:latin typeface="Sorts Mill Goudy"/>
                <a:ea typeface="Sorts Mill Goudy"/>
                <a:cs typeface="Sorts Mill Goudy"/>
                <a:sym typeface="Sorts Mill Goudy"/>
              </a:rPr>
              <a:t>Attackers frequently create new phishing websites, making it challenging to maintain accurate and up-to-date detection systems</a:t>
            </a:r>
            <a:endParaRPr b="0" i="0" sz="1600" u="none" cap="none" strike="noStrike"/>
          </a:p>
        </p:txBody>
      </p:sp>
      <p:sp>
        <p:nvSpPr>
          <p:cNvPr id="107" name="Google Shape;107;p6"/>
          <p:cNvSpPr/>
          <p:nvPr/>
        </p:nvSpPr>
        <p:spPr>
          <a:xfrm>
            <a:off x="6253163" y="4119562"/>
            <a:ext cx="5553075" cy="1152525"/>
          </a:xfrm>
          <a:custGeom>
            <a:rect b="b" l="l" r="r" t="t"/>
            <a:pathLst>
              <a:path extrusionOk="0" h="1152525" w="5553075">
                <a:moveTo>
                  <a:pt x="0" y="0"/>
                </a:moveTo>
                <a:lnTo>
                  <a:pt x="5553075" y="0"/>
                </a:lnTo>
                <a:lnTo>
                  <a:pt x="5553075" y="1152525"/>
                </a:lnTo>
                <a:lnTo>
                  <a:pt x="0" y="1152525"/>
                </a:lnTo>
                <a:lnTo>
                  <a:pt x="0" y="0"/>
                </a:lnTo>
                <a:close/>
              </a:path>
            </a:pathLst>
          </a:custGeom>
          <a:solidFill>
            <a:srgbClr val="8B0000">
              <a:alpha val="5098"/>
            </a:srgbClr>
          </a:solidFill>
          <a:ln cap="flat" cmpd="sng" w="12700">
            <a:solidFill>
              <a:srgbClr val="8B0000">
                <a:alpha val="20000"/>
              </a:srgbClr>
            </a:solidFill>
            <a:prstDash val="solid"/>
            <a:round/>
            <a:headEnd len="sm" w="sm" type="none"/>
            <a:tailEnd len="sm" w="sm" type="none"/>
          </a:ln>
        </p:spPr>
      </p:sp>
      <p:sp>
        <p:nvSpPr>
          <p:cNvPr id="108" name="Google Shape;108;p6"/>
          <p:cNvSpPr/>
          <p:nvPr/>
        </p:nvSpPr>
        <p:spPr>
          <a:xfrm>
            <a:off x="6410325" y="4276725"/>
            <a:ext cx="381000" cy="381000"/>
          </a:xfrm>
          <a:custGeom>
            <a:rect b="b" l="l" r="r" t="t"/>
            <a:pathLst>
              <a:path extrusionOk="0" h="381000" w="381000">
                <a:moveTo>
                  <a:pt x="0" y="0"/>
                </a:moveTo>
                <a:lnTo>
                  <a:pt x="381000" y="0"/>
                </a:lnTo>
                <a:lnTo>
                  <a:pt x="381000" y="381000"/>
                </a:lnTo>
                <a:lnTo>
                  <a:pt x="0" y="381000"/>
                </a:lnTo>
                <a:lnTo>
                  <a:pt x="0" y="0"/>
                </a:lnTo>
                <a:close/>
              </a:path>
            </a:pathLst>
          </a:custGeom>
          <a:solidFill>
            <a:srgbClr val="8B0000"/>
          </a:solidFill>
          <a:ln>
            <a:noFill/>
          </a:ln>
        </p:spPr>
      </p:sp>
      <p:sp>
        <p:nvSpPr>
          <p:cNvPr id="109" name="Google Shape;109;p6"/>
          <p:cNvSpPr/>
          <p:nvPr/>
        </p:nvSpPr>
        <p:spPr>
          <a:xfrm>
            <a:off x="6367463" y="4276725"/>
            <a:ext cx="466725" cy="3810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1" i="0" lang="en-US" sz="1350" u="none" cap="none" strike="noStrike">
                <a:solidFill>
                  <a:srgbClr val="FFFFFF"/>
                </a:solidFill>
                <a:latin typeface="Sorts Mill Goudy"/>
                <a:ea typeface="Sorts Mill Goudy"/>
                <a:cs typeface="Sorts Mill Goudy"/>
                <a:sym typeface="Sorts Mill Goudy"/>
              </a:rPr>
              <a:t>3</a:t>
            </a:r>
            <a:endParaRPr b="0" i="0" sz="1600" u="none" cap="none" strike="noStrike"/>
          </a:p>
        </p:txBody>
      </p:sp>
      <p:sp>
        <p:nvSpPr>
          <p:cNvPr id="110" name="Google Shape;110;p6"/>
          <p:cNvSpPr/>
          <p:nvPr/>
        </p:nvSpPr>
        <p:spPr>
          <a:xfrm>
            <a:off x="6905625" y="4276725"/>
            <a:ext cx="4829175" cy="2667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i="0" lang="en-US" sz="1350" u="none" cap="none" strike="noStrike">
                <a:solidFill>
                  <a:srgbClr val="1F2937"/>
                </a:solidFill>
                <a:latin typeface="Sorts Mill Goudy"/>
                <a:ea typeface="Sorts Mill Goudy"/>
                <a:cs typeface="Sorts Mill Goudy"/>
                <a:sym typeface="Sorts Mill Goudy"/>
              </a:rPr>
              <a:t>Semantic Complexity</a:t>
            </a:r>
            <a:endParaRPr b="0" i="0" sz="1600" u="none" cap="none" strike="noStrike"/>
          </a:p>
        </p:txBody>
      </p:sp>
      <p:sp>
        <p:nvSpPr>
          <p:cNvPr id="111" name="Google Shape;111;p6"/>
          <p:cNvSpPr/>
          <p:nvPr/>
        </p:nvSpPr>
        <p:spPr>
          <a:xfrm>
            <a:off x="6905625" y="4619625"/>
            <a:ext cx="4819650" cy="4953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b="0" i="0" lang="en-US" sz="1200" u="none" cap="none" strike="noStrike">
                <a:solidFill>
                  <a:srgbClr val="1F2937"/>
                </a:solidFill>
                <a:latin typeface="Sorts Mill Goudy"/>
                <a:ea typeface="Sorts Mill Goudy"/>
                <a:cs typeface="Sorts Mill Goudy"/>
                <a:sym typeface="Sorts Mill Goudy"/>
              </a:rPr>
              <a:t>Semantics-based attack structures make it extremely difficult to determine webpage authenticity using simple rule-based approaches</a:t>
            </a:r>
            <a:endParaRPr b="0" i="0" sz="1600" u="none" cap="none" strike="noStrike"/>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6" name="Shape 116"/>
        <p:cNvGrpSpPr/>
        <p:nvPr/>
      </p:nvGrpSpPr>
      <p:grpSpPr>
        <a:xfrm>
          <a:off x="0" y="0"/>
          <a:ext cx="0" cy="0"/>
          <a:chOff x="0" y="0"/>
          <a:chExt cx="0" cy="0"/>
        </a:xfrm>
      </p:grpSpPr>
      <p:sp>
        <p:nvSpPr>
          <p:cNvPr id="117" name="Google Shape;117;p7"/>
          <p:cNvSpPr/>
          <p:nvPr/>
        </p:nvSpPr>
        <p:spPr>
          <a:xfrm>
            <a:off x="381000" y="400050"/>
            <a:ext cx="485775"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2250" u="none" cap="none" strike="noStrike">
                <a:solidFill>
                  <a:srgbClr val="8B0000"/>
                </a:solidFill>
                <a:latin typeface="Sorts Mill Goudy"/>
                <a:ea typeface="Sorts Mill Goudy"/>
                <a:cs typeface="Sorts Mill Goudy"/>
                <a:sym typeface="Sorts Mill Goudy"/>
              </a:rPr>
              <a:t>2.</a:t>
            </a:r>
            <a:r>
              <a:rPr b="1" lang="en-US" sz="2250">
                <a:solidFill>
                  <a:srgbClr val="8B0000"/>
                </a:solidFill>
                <a:latin typeface="Sorts Mill Goudy"/>
                <a:ea typeface="Sorts Mill Goudy"/>
                <a:cs typeface="Sorts Mill Goudy"/>
                <a:sym typeface="Sorts Mill Goudy"/>
              </a:rPr>
              <a:t>1</a:t>
            </a:r>
            <a:endParaRPr b="0" i="0" sz="1600" u="none" cap="none" strike="noStrike"/>
          </a:p>
        </p:txBody>
      </p:sp>
      <p:sp>
        <p:nvSpPr>
          <p:cNvPr id="118" name="Google Shape;118;p7"/>
          <p:cNvSpPr/>
          <p:nvPr/>
        </p:nvSpPr>
        <p:spPr>
          <a:xfrm>
            <a:off x="834777" y="381000"/>
            <a:ext cx="3105150" cy="3810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1" i="0" lang="en-US" sz="2700" u="none" cap="none" strike="noStrike">
                <a:solidFill>
                  <a:srgbClr val="1F2937"/>
                </a:solidFill>
                <a:latin typeface="Sorts Mill Goudy"/>
                <a:ea typeface="Sorts Mill Goudy"/>
                <a:cs typeface="Sorts Mill Goudy"/>
                <a:sym typeface="Sorts Mill Goudy"/>
              </a:rPr>
              <a:t>Dataset Description</a:t>
            </a:r>
            <a:endParaRPr b="0" i="0" sz="1600" u="none" cap="none" strike="noStrike"/>
          </a:p>
        </p:txBody>
      </p:sp>
      <p:sp>
        <p:nvSpPr>
          <p:cNvPr id="119" name="Google Shape;119;p7"/>
          <p:cNvSpPr/>
          <p:nvPr/>
        </p:nvSpPr>
        <p:spPr>
          <a:xfrm>
            <a:off x="914400" y="838200"/>
            <a:ext cx="914400" cy="38100"/>
          </a:xfrm>
          <a:custGeom>
            <a:rect b="b" l="l" r="r" t="t"/>
            <a:pathLst>
              <a:path extrusionOk="0" h="38100" w="914400">
                <a:moveTo>
                  <a:pt x="0" y="0"/>
                </a:moveTo>
                <a:lnTo>
                  <a:pt x="914400" y="0"/>
                </a:lnTo>
                <a:lnTo>
                  <a:pt x="914400" y="38100"/>
                </a:lnTo>
                <a:lnTo>
                  <a:pt x="0" y="38100"/>
                </a:lnTo>
                <a:lnTo>
                  <a:pt x="0" y="0"/>
                </a:lnTo>
                <a:close/>
              </a:path>
            </a:pathLst>
          </a:custGeom>
          <a:solidFill>
            <a:srgbClr val="8B0000"/>
          </a:solidFill>
          <a:ln>
            <a:noFill/>
          </a:ln>
        </p:spPr>
      </p:sp>
      <p:sp>
        <p:nvSpPr>
          <p:cNvPr id="120" name="Google Shape;120;p7"/>
          <p:cNvSpPr/>
          <p:nvPr/>
        </p:nvSpPr>
        <p:spPr>
          <a:xfrm>
            <a:off x="381000" y="1028700"/>
            <a:ext cx="4438650" cy="1219200"/>
          </a:xfrm>
          <a:custGeom>
            <a:rect b="b" l="l" r="r" t="t"/>
            <a:pathLst>
              <a:path extrusionOk="0" h="1219200" w="4438650">
                <a:moveTo>
                  <a:pt x="0" y="0"/>
                </a:moveTo>
                <a:lnTo>
                  <a:pt x="4438650" y="0"/>
                </a:lnTo>
                <a:lnTo>
                  <a:pt x="4438650" y="1219200"/>
                </a:lnTo>
                <a:lnTo>
                  <a:pt x="0" y="1219200"/>
                </a:lnTo>
                <a:lnTo>
                  <a:pt x="0" y="0"/>
                </a:lnTo>
                <a:close/>
              </a:path>
            </a:pathLst>
          </a:custGeom>
          <a:solidFill>
            <a:srgbClr val="8B0000"/>
          </a:solidFill>
          <a:ln>
            <a:noFill/>
          </a:ln>
        </p:spPr>
      </p:sp>
      <p:sp>
        <p:nvSpPr>
          <p:cNvPr id="121" name="Google Shape;121;p7"/>
          <p:cNvSpPr/>
          <p:nvPr/>
        </p:nvSpPr>
        <p:spPr>
          <a:xfrm>
            <a:off x="627459" y="1323975"/>
            <a:ext cx="250031" cy="285750"/>
          </a:xfrm>
          <a:custGeom>
            <a:rect b="b" l="l" r="r" t="t"/>
            <a:pathLst>
              <a:path extrusionOk="0" h="285750" w="250031">
                <a:moveTo>
                  <a:pt x="250031" y="114858"/>
                </a:moveTo>
                <a:cubicBezTo>
                  <a:pt x="241771" y="120328"/>
                  <a:pt x="232283" y="124737"/>
                  <a:pt x="222405" y="128253"/>
                </a:cubicBezTo>
                <a:cubicBezTo>
                  <a:pt x="196174" y="137629"/>
                  <a:pt x="161739" y="142875"/>
                  <a:pt x="125016" y="142875"/>
                </a:cubicBezTo>
                <a:cubicBezTo>
                  <a:pt x="88292" y="142875"/>
                  <a:pt x="53801" y="137573"/>
                  <a:pt x="27626" y="128253"/>
                </a:cubicBezTo>
                <a:cubicBezTo>
                  <a:pt x="17804" y="124737"/>
                  <a:pt x="8260" y="120328"/>
                  <a:pt x="0" y="114858"/>
                </a:cubicBezTo>
                <a:lnTo>
                  <a:pt x="0" y="160734"/>
                </a:lnTo>
                <a:cubicBezTo>
                  <a:pt x="0" y="185403"/>
                  <a:pt x="55978" y="205383"/>
                  <a:pt x="125016" y="205383"/>
                </a:cubicBezTo>
                <a:cubicBezTo>
                  <a:pt x="194053" y="205383"/>
                  <a:pt x="250031" y="185403"/>
                  <a:pt x="250031" y="160734"/>
                </a:cubicBezTo>
                <a:lnTo>
                  <a:pt x="250031" y="114858"/>
                </a:lnTo>
                <a:close/>
                <a:moveTo>
                  <a:pt x="250031" y="71438"/>
                </a:moveTo>
                <a:lnTo>
                  <a:pt x="250031" y="44648"/>
                </a:lnTo>
                <a:cubicBezTo>
                  <a:pt x="250031" y="19980"/>
                  <a:pt x="194053" y="0"/>
                  <a:pt x="125016" y="0"/>
                </a:cubicBezTo>
                <a:cubicBezTo>
                  <a:pt x="55978" y="0"/>
                  <a:pt x="0" y="19980"/>
                  <a:pt x="0" y="44648"/>
                </a:cubicBezTo>
                <a:lnTo>
                  <a:pt x="0" y="71438"/>
                </a:lnTo>
                <a:cubicBezTo>
                  <a:pt x="0" y="96106"/>
                  <a:pt x="55978" y="116086"/>
                  <a:pt x="125016" y="116086"/>
                </a:cubicBezTo>
                <a:cubicBezTo>
                  <a:pt x="194053" y="116086"/>
                  <a:pt x="250031" y="96106"/>
                  <a:pt x="250031" y="71438"/>
                </a:cubicBezTo>
                <a:close/>
                <a:moveTo>
                  <a:pt x="222405" y="217550"/>
                </a:moveTo>
                <a:cubicBezTo>
                  <a:pt x="196230" y="226870"/>
                  <a:pt x="161795" y="232172"/>
                  <a:pt x="125016" y="232172"/>
                </a:cubicBezTo>
                <a:cubicBezTo>
                  <a:pt x="88236" y="232172"/>
                  <a:pt x="53801" y="226870"/>
                  <a:pt x="27626" y="217550"/>
                </a:cubicBezTo>
                <a:cubicBezTo>
                  <a:pt x="17804" y="214033"/>
                  <a:pt x="8260" y="209624"/>
                  <a:pt x="0" y="204155"/>
                </a:cubicBezTo>
                <a:lnTo>
                  <a:pt x="0" y="241102"/>
                </a:lnTo>
                <a:cubicBezTo>
                  <a:pt x="0" y="265770"/>
                  <a:pt x="55978" y="285750"/>
                  <a:pt x="125016" y="285750"/>
                </a:cubicBezTo>
                <a:cubicBezTo>
                  <a:pt x="194053" y="285750"/>
                  <a:pt x="250031" y="265770"/>
                  <a:pt x="250031" y="241102"/>
                </a:cubicBezTo>
                <a:lnTo>
                  <a:pt x="250031" y="204155"/>
                </a:lnTo>
                <a:cubicBezTo>
                  <a:pt x="241771" y="209624"/>
                  <a:pt x="232283" y="214033"/>
                  <a:pt x="222405" y="21755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7"/>
          <p:cNvSpPr/>
          <p:nvPr/>
        </p:nvSpPr>
        <p:spPr>
          <a:xfrm>
            <a:off x="1042988" y="1219200"/>
            <a:ext cx="2066925"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0" i="0" lang="en-US" sz="1200" u="none" cap="none" strike="noStrike">
                <a:solidFill>
                  <a:srgbClr val="FFFFFF"/>
                </a:solidFill>
                <a:latin typeface="Sorts Mill Goudy"/>
                <a:ea typeface="Sorts Mill Goudy"/>
                <a:cs typeface="Sorts Mill Goudy"/>
                <a:sym typeface="Sorts Mill Goudy"/>
              </a:rPr>
              <a:t>Dataset Source</a:t>
            </a:r>
            <a:endParaRPr b="0" i="0" sz="1600" u="none" cap="none" strike="noStrike"/>
          </a:p>
        </p:txBody>
      </p:sp>
      <p:sp>
        <p:nvSpPr>
          <p:cNvPr id="123" name="Google Shape;123;p7"/>
          <p:cNvSpPr/>
          <p:nvPr/>
        </p:nvSpPr>
        <p:spPr>
          <a:xfrm>
            <a:off x="1042988" y="1447800"/>
            <a:ext cx="2085975" cy="2667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500" u="none" cap="none" strike="noStrike">
                <a:solidFill>
                  <a:srgbClr val="FFFFFF"/>
                </a:solidFill>
                <a:latin typeface="Sorts Mill Goudy"/>
                <a:ea typeface="Sorts Mill Goudy"/>
                <a:cs typeface="Sorts Mill Goudy"/>
                <a:sym typeface="Sorts Mill Goudy"/>
              </a:rPr>
              <a:t>PhiUSIIL Phishing URL</a:t>
            </a:r>
            <a:endParaRPr b="0" i="0" sz="1600" u="none" cap="none" strike="noStrike"/>
          </a:p>
        </p:txBody>
      </p:sp>
      <p:sp>
        <p:nvSpPr>
          <p:cNvPr id="124" name="Google Shape;124;p7"/>
          <p:cNvSpPr/>
          <p:nvPr/>
        </p:nvSpPr>
        <p:spPr>
          <a:xfrm>
            <a:off x="571500" y="1828800"/>
            <a:ext cx="4133850"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0" i="0" lang="en-US" sz="1200" u="none" cap="none" strike="noStrike">
                <a:solidFill>
                  <a:srgbClr val="FFFFFF"/>
                </a:solidFill>
                <a:latin typeface="Sorts Mill Goudy"/>
                <a:ea typeface="Sorts Mill Goudy"/>
                <a:cs typeface="Sorts Mill Goudy"/>
                <a:sym typeface="Sorts Mill Goudy"/>
              </a:rPr>
              <a:t>UCI Machine Learning Repository</a:t>
            </a:r>
            <a:endParaRPr b="0" i="0" sz="1600" u="none" cap="none" strike="noStrike"/>
          </a:p>
        </p:txBody>
      </p:sp>
      <p:sp>
        <p:nvSpPr>
          <p:cNvPr id="125" name="Google Shape;125;p7"/>
          <p:cNvSpPr/>
          <p:nvPr/>
        </p:nvSpPr>
        <p:spPr>
          <a:xfrm>
            <a:off x="385763" y="2405063"/>
            <a:ext cx="4429125" cy="2695575"/>
          </a:xfrm>
          <a:custGeom>
            <a:rect b="b" l="l" r="r" t="t"/>
            <a:pathLst>
              <a:path extrusionOk="0" h="2695575" w="4429125">
                <a:moveTo>
                  <a:pt x="0" y="0"/>
                </a:moveTo>
                <a:lnTo>
                  <a:pt x="4429125" y="0"/>
                </a:lnTo>
                <a:lnTo>
                  <a:pt x="4429125" y="2695575"/>
                </a:lnTo>
                <a:lnTo>
                  <a:pt x="0" y="2695575"/>
                </a:lnTo>
                <a:lnTo>
                  <a:pt x="0" y="0"/>
                </a:lnTo>
                <a:close/>
              </a:path>
            </a:pathLst>
          </a:custGeom>
          <a:solidFill>
            <a:srgbClr val="F9FAFB"/>
          </a:solidFill>
          <a:ln cap="flat" cmpd="sng" w="12700">
            <a:solidFill>
              <a:srgbClr val="E5E7EB"/>
            </a:solidFill>
            <a:prstDash val="solid"/>
            <a:round/>
            <a:headEnd len="sm" w="sm" type="none"/>
            <a:tailEnd len="sm" w="sm" type="none"/>
          </a:ln>
        </p:spPr>
      </p:sp>
      <p:sp>
        <p:nvSpPr>
          <p:cNvPr id="126" name="Google Shape;126;p7"/>
          <p:cNvSpPr/>
          <p:nvPr/>
        </p:nvSpPr>
        <p:spPr>
          <a:xfrm>
            <a:off x="592931" y="2638425"/>
            <a:ext cx="214313" cy="190500"/>
          </a:xfrm>
          <a:custGeom>
            <a:rect b="b" l="l" r="r" t="t"/>
            <a:pathLst>
              <a:path extrusionOk="0" h="190500" w="214313">
                <a:moveTo>
                  <a:pt x="190649" y="89297"/>
                </a:moveTo>
                <a:lnTo>
                  <a:pt x="125164" y="89297"/>
                </a:lnTo>
                <a:cubicBezTo>
                  <a:pt x="118579" y="89297"/>
                  <a:pt x="113258" y="83976"/>
                  <a:pt x="113258" y="77391"/>
                </a:cubicBezTo>
                <a:lnTo>
                  <a:pt x="113258" y="11906"/>
                </a:lnTo>
                <a:cubicBezTo>
                  <a:pt x="113258" y="5321"/>
                  <a:pt x="118616" y="-74"/>
                  <a:pt x="125127" y="781"/>
                </a:cubicBezTo>
                <a:cubicBezTo>
                  <a:pt x="164939" y="6065"/>
                  <a:pt x="196490" y="37616"/>
                  <a:pt x="201774" y="77428"/>
                </a:cubicBezTo>
                <a:cubicBezTo>
                  <a:pt x="202629" y="83939"/>
                  <a:pt x="197234" y="89297"/>
                  <a:pt x="190649" y="89297"/>
                </a:cubicBezTo>
                <a:close/>
                <a:moveTo>
                  <a:pt x="82823" y="13841"/>
                </a:moveTo>
                <a:cubicBezTo>
                  <a:pt x="89557" y="12427"/>
                  <a:pt x="95399" y="17934"/>
                  <a:pt x="95399" y="24817"/>
                </a:cubicBezTo>
                <a:lnTo>
                  <a:pt x="95399" y="98227"/>
                </a:lnTo>
                <a:cubicBezTo>
                  <a:pt x="95399" y="100310"/>
                  <a:pt x="96143" y="102319"/>
                  <a:pt x="97445" y="103919"/>
                </a:cubicBezTo>
                <a:lnTo>
                  <a:pt x="146596" y="163227"/>
                </a:lnTo>
                <a:cubicBezTo>
                  <a:pt x="150949" y="168473"/>
                  <a:pt x="150019" y="176399"/>
                  <a:pt x="144028" y="179636"/>
                </a:cubicBezTo>
                <a:cubicBezTo>
                  <a:pt x="131341" y="186556"/>
                  <a:pt x="116793" y="190500"/>
                  <a:pt x="101352" y="190500"/>
                </a:cubicBezTo>
                <a:cubicBezTo>
                  <a:pt x="52053" y="190500"/>
                  <a:pt x="12055" y="150502"/>
                  <a:pt x="12055" y="101203"/>
                </a:cubicBezTo>
                <a:cubicBezTo>
                  <a:pt x="12055" y="58229"/>
                  <a:pt x="42379" y="22361"/>
                  <a:pt x="82823" y="13841"/>
                </a:cubicBezTo>
                <a:close/>
                <a:moveTo>
                  <a:pt x="177775" y="107156"/>
                </a:moveTo>
                <a:lnTo>
                  <a:pt x="201588" y="107156"/>
                </a:lnTo>
                <a:cubicBezTo>
                  <a:pt x="208471" y="107156"/>
                  <a:pt x="213978" y="112998"/>
                  <a:pt x="212564" y="119732"/>
                </a:cubicBezTo>
                <a:cubicBezTo>
                  <a:pt x="208769" y="137740"/>
                  <a:pt x="199541" y="153739"/>
                  <a:pt x="186668" y="165943"/>
                </a:cubicBezTo>
                <a:cubicBezTo>
                  <a:pt x="182091" y="170297"/>
                  <a:pt x="174910" y="169366"/>
                  <a:pt x="170892" y="164492"/>
                </a:cubicBezTo>
                <a:lnTo>
                  <a:pt x="139489" y="126653"/>
                </a:lnTo>
                <a:cubicBezTo>
                  <a:pt x="133052" y="118876"/>
                  <a:pt x="138596" y="107156"/>
                  <a:pt x="148642" y="107156"/>
                </a:cubicBezTo>
                <a:lnTo>
                  <a:pt x="177738" y="107156"/>
                </a:lnTo>
                <a:close/>
              </a:path>
            </a:pathLst>
          </a:custGeom>
          <a:solidFill>
            <a:srgbClr val="8B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7"/>
          <p:cNvSpPr/>
          <p:nvPr/>
        </p:nvSpPr>
        <p:spPr>
          <a:xfrm>
            <a:off x="819150" y="2600325"/>
            <a:ext cx="3895725" cy="2667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500" u="none" cap="none" strike="noStrike">
                <a:solidFill>
                  <a:srgbClr val="8B0000"/>
                </a:solidFill>
                <a:latin typeface="Sorts Mill Goudy"/>
                <a:ea typeface="Sorts Mill Goudy"/>
                <a:cs typeface="Sorts Mill Goudy"/>
                <a:sym typeface="Sorts Mill Goudy"/>
              </a:rPr>
              <a:t>Dataset Characteristics</a:t>
            </a:r>
            <a:endParaRPr b="0" i="0" sz="1600" u="none" cap="none" strike="noStrike"/>
          </a:p>
        </p:txBody>
      </p:sp>
      <p:sp>
        <p:nvSpPr>
          <p:cNvPr id="128" name="Google Shape;128;p7"/>
          <p:cNvSpPr/>
          <p:nvPr/>
        </p:nvSpPr>
        <p:spPr>
          <a:xfrm>
            <a:off x="585788" y="3024188"/>
            <a:ext cx="4029075" cy="542925"/>
          </a:xfrm>
          <a:custGeom>
            <a:rect b="b" l="l" r="r" t="t"/>
            <a:pathLst>
              <a:path extrusionOk="0" h="542925" w="4029075">
                <a:moveTo>
                  <a:pt x="0" y="0"/>
                </a:moveTo>
                <a:lnTo>
                  <a:pt x="4029075" y="0"/>
                </a:lnTo>
                <a:lnTo>
                  <a:pt x="4029075" y="542925"/>
                </a:lnTo>
                <a:lnTo>
                  <a:pt x="0" y="542925"/>
                </a:lnTo>
                <a:lnTo>
                  <a:pt x="0" y="0"/>
                </a:lnTo>
                <a:close/>
              </a:path>
            </a:pathLst>
          </a:custGeom>
          <a:solidFill>
            <a:srgbClr val="FFFFFF"/>
          </a:solidFill>
          <a:ln cap="flat" cmpd="sng" w="12700">
            <a:solidFill>
              <a:srgbClr val="E5E7EB"/>
            </a:solidFill>
            <a:prstDash val="solid"/>
            <a:round/>
            <a:headEnd len="sm" w="sm" type="none"/>
            <a:tailEnd len="sm" w="sm" type="none"/>
          </a:ln>
        </p:spPr>
      </p:sp>
      <p:sp>
        <p:nvSpPr>
          <p:cNvPr id="129" name="Google Shape;129;p7"/>
          <p:cNvSpPr/>
          <p:nvPr/>
        </p:nvSpPr>
        <p:spPr>
          <a:xfrm>
            <a:off x="704850" y="3181350"/>
            <a:ext cx="1009650"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0" i="0" lang="en-US" sz="1200" u="none" cap="none" strike="noStrike">
                <a:solidFill>
                  <a:srgbClr val="1F2937"/>
                </a:solidFill>
                <a:latin typeface="Sorts Mill Goudy"/>
                <a:ea typeface="Sorts Mill Goudy"/>
                <a:cs typeface="Sorts Mill Goudy"/>
                <a:sym typeface="Sorts Mill Goudy"/>
              </a:rPr>
              <a:t>Total Samples</a:t>
            </a:r>
            <a:endParaRPr b="0" i="0" sz="1600" u="none" cap="none" strike="noStrike"/>
          </a:p>
        </p:txBody>
      </p:sp>
      <p:sp>
        <p:nvSpPr>
          <p:cNvPr id="130" name="Google Shape;130;p7"/>
          <p:cNvSpPr/>
          <p:nvPr/>
        </p:nvSpPr>
        <p:spPr>
          <a:xfrm>
            <a:off x="3853383" y="3143250"/>
            <a:ext cx="752475" cy="3048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i="0" lang="en-US" sz="1800" u="none" cap="none" strike="noStrike">
                <a:solidFill>
                  <a:srgbClr val="8B0000"/>
                </a:solidFill>
                <a:latin typeface="Sorts Mill Goudy"/>
                <a:ea typeface="Sorts Mill Goudy"/>
                <a:cs typeface="Sorts Mill Goudy"/>
                <a:sym typeface="Sorts Mill Goudy"/>
              </a:rPr>
              <a:t>235,795</a:t>
            </a:r>
            <a:endParaRPr b="0" i="0" sz="1600" u="none" cap="none" strike="noStrike"/>
          </a:p>
        </p:txBody>
      </p:sp>
      <p:sp>
        <p:nvSpPr>
          <p:cNvPr id="131" name="Google Shape;131;p7"/>
          <p:cNvSpPr/>
          <p:nvPr/>
        </p:nvSpPr>
        <p:spPr>
          <a:xfrm>
            <a:off x="585788" y="3690937"/>
            <a:ext cx="4029075" cy="542925"/>
          </a:xfrm>
          <a:custGeom>
            <a:rect b="b" l="l" r="r" t="t"/>
            <a:pathLst>
              <a:path extrusionOk="0" h="542925" w="4029075">
                <a:moveTo>
                  <a:pt x="0" y="0"/>
                </a:moveTo>
                <a:lnTo>
                  <a:pt x="4029075" y="0"/>
                </a:lnTo>
                <a:lnTo>
                  <a:pt x="4029075" y="542925"/>
                </a:lnTo>
                <a:lnTo>
                  <a:pt x="0" y="542925"/>
                </a:lnTo>
                <a:lnTo>
                  <a:pt x="0" y="0"/>
                </a:lnTo>
                <a:close/>
              </a:path>
            </a:pathLst>
          </a:custGeom>
          <a:solidFill>
            <a:srgbClr val="FFFFFF"/>
          </a:solidFill>
          <a:ln cap="flat" cmpd="sng" w="12700">
            <a:solidFill>
              <a:srgbClr val="E5E7EB"/>
            </a:solidFill>
            <a:prstDash val="solid"/>
            <a:round/>
            <a:headEnd len="sm" w="sm" type="none"/>
            <a:tailEnd len="sm" w="sm" type="none"/>
          </a:ln>
        </p:spPr>
      </p:sp>
      <p:sp>
        <p:nvSpPr>
          <p:cNvPr id="132" name="Google Shape;132;p7"/>
          <p:cNvSpPr/>
          <p:nvPr/>
        </p:nvSpPr>
        <p:spPr>
          <a:xfrm>
            <a:off x="704850" y="3848100"/>
            <a:ext cx="1190625"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0" i="0" lang="en-US" sz="1200" u="none" cap="none" strike="noStrike">
                <a:solidFill>
                  <a:srgbClr val="1F2937"/>
                </a:solidFill>
                <a:latin typeface="Sorts Mill Goudy"/>
                <a:ea typeface="Sorts Mill Goudy"/>
                <a:cs typeface="Sorts Mill Goudy"/>
                <a:sym typeface="Sorts Mill Goudy"/>
              </a:rPr>
              <a:t>Legitimate URLs</a:t>
            </a:r>
            <a:endParaRPr b="0" i="0" sz="1600" u="none" cap="none" strike="noStrike"/>
          </a:p>
        </p:txBody>
      </p:sp>
      <p:sp>
        <p:nvSpPr>
          <p:cNvPr id="133" name="Google Shape;133;p7"/>
          <p:cNvSpPr/>
          <p:nvPr/>
        </p:nvSpPr>
        <p:spPr>
          <a:xfrm>
            <a:off x="3836045" y="3810000"/>
            <a:ext cx="771525" cy="3048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i="0" lang="en-US" sz="1800" u="none" cap="none" strike="noStrike">
                <a:solidFill>
                  <a:srgbClr val="1F2937"/>
                </a:solidFill>
                <a:latin typeface="Sorts Mill Goudy"/>
                <a:ea typeface="Sorts Mill Goudy"/>
                <a:cs typeface="Sorts Mill Goudy"/>
                <a:sym typeface="Sorts Mill Goudy"/>
              </a:rPr>
              <a:t>134,850</a:t>
            </a:r>
            <a:endParaRPr b="0" i="0" sz="1600" u="none" cap="none" strike="noStrike"/>
          </a:p>
        </p:txBody>
      </p:sp>
      <p:sp>
        <p:nvSpPr>
          <p:cNvPr id="134" name="Google Shape;134;p7"/>
          <p:cNvSpPr/>
          <p:nvPr/>
        </p:nvSpPr>
        <p:spPr>
          <a:xfrm>
            <a:off x="585788" y="4357688"/>
            <a:ext cx="4029075" cy="542925"/>
          </a:xfrm>
          <a:custGeom>
            <a:rect b="b" l="l" r="r" t="t"/>
            <a:pathLst>
              <a:path extrusionOk="0" h="542925" w="4029075">
                <a:moveTo>
                  <a:pt x="0" y="0"/>
                </a:moveTo>
                <a:lnTo>
                  <a:pt x="4029075" y="0"/>
                </a:lnTo>
                <a:lnTo>
                  <a:pt x="4029075" y="542925"/>
                </a:lnTo>
                <a:lnTo>
                  <a:pt x="0" y="542925"/>
                </a:lnTo>
                <a:lnTo>
                  <a:pt x="0" y="0"/>
                </a:lnTo>
                <a:close/>
              </a:path>
            </a:pathLst>
          </a:custGeom>
          <a:solidFill>
            <a:srgbClr val="FFFFFF"/>
          </a:solidFill>
          <a:ln cap="flat" cmpd="sng" w="12700">
            <a:solidFill>
              <a:srgbClr val="E5E7EB"/>
            </a:solidFill>
            <a:prstDash val="solid"/>
            <a:round/>
            <a:headEnd len="sm" w="sm" type="none"/>
            <a:tailEnd len="sm" w="sm" type="none"/>
          </a:ln>
        </p:spPr>
      </p:sp>
      <p:sp>
        <p:nvSpPr>
          <p:cNvPr id="135" name="Google Shape;135;p7"/>
          <p:cNvSpPr/>
          <p:nvPr/>
        </p:nvSpPr>
        <p:spPr>
          <a:xfrm>
            <a:off x="704850" y="4514850"/>
            <a:ext cx="1066800"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0" i="0" lang="en-US" sz="1200" u="none" cap="none" strike="noStrike">
                <a:solidFill>
                  <a:srgbClr val="1F2937"/>
                </a:solidFill>
                <a:latin typeface="Sorts Mill Goudy"/>
                <a:ea typeface="Sorts Mill Goudy"/>
                <a:cs typeface="Sorts Mill Goudy"/>
                <a:sym typeface="Sorts Mill Goudy"/>
              </a:rPr>
              <a:t>Phishing URLs</a:t>
            </a:r>
            <a:endParaRPr b="0" i="0" sz="1600" u="none" cap="none" strike="noStrike"/>
          </a:p>
        </p:txBody>
      </p:sp>
      <p:sp>
        <p:nvSpPr>
          <p:cNvPr id="136" name="Google Shape;136;p7"/>
          <p:cNvSpPr/>
          <p:nvPr/>
        </p:nvSpPr>
        <p:spPr>
          <a:xfrm>
            <a:off x="3810670" y="4476750"/>
            <a:ext cx="800100" cy="3048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i="0" lang="en-US" sz="1800" u="none" cap="none" strike="noStrike">
                <a:solidFill>
                  <a:srgbClr val="8B0000"/>
                </a:solidFill>
                <a:latin typeface="Sorts Mill Goudy"/>
                <a:ea typeface="Sorts Mill Goudy"/>
                <a:cs typeface="Sorts Mill Goudy"/>
                <a:sym typeface="Sorts Mill Goudy"/>
              </a:rPr>
              <a:t>100,945</a:t>
            </a:r>
            <a:endParaRPr b="0" i="0" sz="1600" u="none" cap="none" strike="noStrike"/>
          </a:p>
        </p:txBody>
      </p:sp>
      <p:sp>
        <p:nvSpPr>
          <p:cNvPr id="137" name="Google Shape;137;p7"/>
          <p:cNvSpPr/>
          <p:nvPr/>
        </p:nvSpPr>
        <p:spPr>
          <a:xfrm>
            <a:off x="5049143" y="1033462"/>
            <a:ext cx="6753225" cy="3952875"/>
          </a:xfrm>
          <a:custGeom>
            <a:rect b="b" l="l" r="r" t="t"/>
            <a:pathLst>
              <a:path extrusionOk="0" h="3952875" w="6753225">
                <a:moveTo>
                  <a:pt x="0" y="0"/>
                </a:moveTo>
                <a:lnTo>
                  <a:pt x="6753225" y="0"/>
                </a:lnTo>
                <a:lnTo>
                  <a:pt x="6753225" y="3952875"/>
                </a:lnTo>
                <a:lnTo>
                  <a:pt x="0" y="3952875"/>
                </a:lnTo>
                <a:lnTo>
                  <a:pt x="0" y="0"/>
                </a:lnTo>
                <a:close/>
              </a:path>
            </a:pathLst>
          </a:custGeom>
          <a:solidFill>
            <a:srgbClr val="F9FAFB"/>
          </a:solidFill>
          <a:ln cap="flat" cmpd="sng" w="12700">
            <a:solidFill>
              <a:srgbClr val="E5E7EB"/>
            </a:solidFill>
            <a:prstDash val="solid"/>
            <a:round/>
            <a:headEnd len="sm" w="sm" type="none"/>
            <a:tailEnd len="sm" w="sm" type="none"/>
          </a:ln>
        </p:spPr>
      </p:sp>
      <p:sp>
        <p:nvSpPr>
          <p:cNvPr id="138" name="Google Shape;138;p7"/>
          <p:cNvSpPr/>
          <p:nvPr/>
        </p:nvSpPr>
        <p:spPr>
          <a:xfrm>
            <a:off x="5244405" y="1266825"/>
            <a:ext cx="238125" cy="190500"/>
          </a:xfrm>
          <a:custGeom>
            <a:rect b="b" l="l" r="r" t="t"/>
            <a:pathLst>
              <a:path extrusionOk="0" h="190500" w="238125">
                <a:moveTo>
                  <a:pt x="142875" y="11906"/>
                </a:moveTo>
                <a:lnTo>
                  <a:pt x="190500" y="11906"/>
                </a:lnTo>
                <a:cubicBezTo>
                  <a:pt x="197086" y="11906"/>
                  <a:pt x="202406" y="17227"/>
                  <a:pt x="202406" y="23812"/>
                </a:cubicBezTo>
                <a:cubicBezTo>
                  <a:pt x="202406" y="30398"/>
                  <a:pt x="197086" y="35719"/>
                  <a:pt x="190500" y="35719"/>
                </a:cubicBezTo>
                <a:lnTo>
                  <a:pt x="148233" y="35719"/>
                </a:lnTo>
                <a:cubicBezTo>
                  <a:pt x="146298" y="45318"/>
                  <a:pt x="139712" y="53243"/>
                  <a:pt x="130969" y="57038"/>
                </a:cubicBezTo>
                <a:lnTo>
                  <a:pt x="130969" y="166688"/>
                </a:lnTo>
                <a:lnTo>
                  <a:pt x="190500" y="166688"/>
                </a:lnTo>
                <a:cubicBezTo>
                  <a:pt x="197086" y="166688"/>
                  <a:pt x="202406" y="172008"/>
                  <a:pt x="202406" y="178594"/>
                </a:cubicBezTo>
                <a:cubicBezTo>
                  <a:pt x="202406" y="185179"/>
                  <a:pt x="197086" y="190500"/>
                  <a:pt x="190500" y="190500"/>
                </a:cubicBezTo>
                <a:lnTo>
                  <a:pt x="47625" y="190500"/>
                </a:lnTo>
                <a:cubicBezTo>
                  <a:pt x="41039" y="190500"/>
                  <a:pt x="35719" y="185179"/>
                  <a:pt x="35719" y="178594"/>
                </a:cubicBezTo>
                <a:cubicBezTo>
                  <a:pt x="35719" y="172008"/>
                  <a:pt x="41039" y="166688"/>
                  <a:pt x="47625" y="166688"/>
                </a:cubicBezTo>
                <a:lnTo>
                  <a:pt x="107156" y="166688"/>
                </a:lnTo>
                <a:lnTo>
                  <a:pt x="107156" y="57038"/>
                </a:lnTo>
                <a:cubicBezTo>
                  <a:pt x="98413" y="53206"/>
                  <a:pt x="91827" y="45281"/>
                  <a:pt x="89892" y="35719"/>
                </a:cubicBezTo>
                <a:lnTo>
                  <a:pt x="47625" y="35719"/>
                </a:lnTo>
                <a:cubicBezTo>
                  <a:pt x="41039" y="35719"/>
                  <a:pt x="35719" y="30398"/>
                  <a:pt x="35719" y="23812"/>
                </a:cubicBezTo>
                <a:cubicBezTo>
                  <a:pt x="35719" y="17227"/>
                  <a:pt x="41039" y="11906"/>
                  <a:pt x="47625" y="11906"/>
                </a:cubicBezTo>
                <a:lnTo>
                  <a:pt x="95250" y="11906"/>
                </a:lnTo>
                <a:cubicBezTo>
                  <a:pt x="100682" y="4688"/>
                  <a:pt x="109314" y="0"/>
                  <a:pt x="119063" y="0"/>
                </a:cubicBezTo>
                <a:cubicBezTo>
                  <a:pt x="128811" y="0"/>
                  <a:pt x="137443" y="4688"/>
                  <a:pt x="142875" y="11906"/>
                </a:cubicBezTo>
                <a:close/>
                <a:moveTo>
                  <a:pt x="163562" y="119063"/>
                </a:moveTo>
                <a:lnTo>
                  <a:pt x="217438" y="119063"/>
                </a:lnTo>
                <a:lnTo>
                  <a:pt x="190500" y="72851"/>
                </a:lnTo>
                <a:lnTo>
                  <a:pt x="163562" y="119063"/>
                </a:lnTo>
                <a:close/>
                <a:moveTo>
                  <a:pt x="190500" y="154781"/>
                </a:moveTo>
                <a:cubicBezTo>
                  <a:pt x="167097" y="154781"/>
                  <a:pt x="147638" y="142131"/>
                  <a:pt x="143619" y="125425"/>
                </a:cubicBezTo>
                <a:cubicBezTo>
                  <a:pt x="142652" y="121332"/>
                  <a:pt x="143991" y="117128"/>
                  <a:pt x="146112" y="113481"/>
                </a:cubicBezTo>
                <a:lnTo>
                  <a:pt x="181533" y="52760"/>
                </a:lnTo>
                <a:cubicBezTo>
                  <a:pt x="183393" y="49560"/>
                  <a:pt x="186817" y="47625"/>
                  <a:pt x="190500" y="47625"/>
                </a:cubicBezTo>
                <a:cubicBezTo>
                  <a:pt x="194183" y="47625"/>
                  <a:pt x="197607" y="49597"/>
                  <a:pt x="199467" y="52760"/>
                </a:cubicBezTo>
                <a:lnTo>
                  <a:pt x="234888" y="113481"/>
                </a:lnTo>
                <a:cubicBezTo>
                  <a:pt x="237009" y="117128"/>
                  <a:pt x="238348" y="121332"/>
                  <a:pt x="237381" y="125425"/>
                </a:cubicBezTo>
                <a:cubicBezTo>
                  <a:pt x="233363" y="142094"/>
                  <a:pt x="213903" y="154781"/>
                  <a:pt x="190500" y="154781"/>
                </a:cubicBezTo>
                <a:close/>
                <a:moveTo>
                  <a:pt x="47179" y="72851"/>
                </a:moveTo>
                <a:lnTo>
                  <a:pt x="20241" y="119063"/>
                </a:lnTo>
                <a:lnTo>
                  <a:pt x="74154" y="119063"/>
                </a:lnTo>
                <a:lnTo>
                  <a:pt x="47179" y="72851"/>
                </a:lnTo>
                <a:close/>
                <a:moveTo>
                  <a:pt x="335" y="125425"/>
                </a:moveTo>
                <a:cubicBezTo>
                  <a:pt x="-633" y="121332"/>
                  <a:pt x="707" y="117128"/>
                  <a:pt x="2828" y="113481"/>
                </a:cubicBezTo>
                <a:lnTo>
                  <a:pt x="38249" y="52760"/>
                </a:lnTo>
                <a:cubicBezTo>
                  <a:pt x="40109" y="49560"/>
                  <a:pt x="43532" y="47625"/>
                  <a:pt x="47216" y="47625"/>
                </a:cubicBezTo>
                <a:cubicBezTo>
                  <a:pt x="50899" y="47625"/>
                  <a:pt x="54322" y="49597"/>
                  <a:pt x="56183" y="52760"/>
                </a:cubicBezTo>
                <a:lnTo>
                  <a:pt x="91604" y="113481"/>
                </a:lnTo>
                <a:cubicBezTo>
                  <a:pt x="93725" y="117128"/>
                  <a:pt x="95064" y="121332"/>
                  <a:pt x="94097" y="125425"/>
                </a:cubicBezTo>
                <a:cubicBezTo>
                  <a:pt x="90078" y="142094"/>
                  <a:pt x="70619" y="154781"/>
                  <a:pt x="47216" y="154781"/>
                </a:cubicBezTo>
                <a:cubicBezTo>
                  <a:pt x="23812" y="154781"/>
                  <a:pt x="4353" y="142131"/>
                  <a:pt x="335" y="125425"/>
                </a:cubicBezTo>
                <a:close/>
              </a:path>
            </a:pathLst>
          </a:custGeom>
          <a:solidFill>
            <a:srgbClr val="8B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7"/>
          <p:cNvSpPr/>
          <p:nvPr/>
        </p:nvSpPr>
        <p:spPr>
          <a:xfrm>
            <a:off x="5482530" y="1228725"/>
            <a:ext cx="6219825" cy="2667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500" u="none" cap="none" strike="noStrike">
                <a:solidFill>
                  <a:srgbClr val="8B0000"/>
                </a:solidFill>
                <a:latin typeface="Sorts Mill Goudy"/>
                <a:ea typeface="Sorts Mill Goudy"/>
                <a:cs typeface="Sorts Mill Goudy"/>
                <a:sym typeface="Sorts Mill Goudy"/>
              </a:rPr>
              <a:t>Class Distribution</a:t>
            </a:r>
            <a:endParaRPr b="0" i="0" sz="1600" u="none" cap="none" strike="noStrike"/>
          </a:p>
        </p:txBody>
      </p:sp>
      <p:pic>
        <p:nvPicPr>
          <p:cNvPr descr="https://kimi-img.moonshot.cn/pub/slides/26-03-10-03:36:45-d6ni2jf60raavdl8ikc0.png" id="140" name="Google Shape;140;p7"/>
          <p:cNvPicPr preferRelativeResize="0"/>
          <p:nvPr/>
        </p:nvPicPr>
        <p:blipFill rotWithShape="1">
          <a:blip r:embed="rId3">
            <a:alphaModFix/>
          </a:blip>
          <a:srcRect b="0" l="0" r="0" t="0"/>
          <a:stretch/>
        </p:blipFill>
        <p:spPr>
          <a:xfrm>
            <a:off x="5244405" y="1647825"/>
            <a:ext cx="6362700" cy="2667000"/>
          </a:xfrm>
          <a:prstGeom prst="roundRect">
            <a:avLst>
              <a:gd fmla="val 0" name="adj"/>
            </a:avLst>
          </a:prstGeom>
          <a:noFill/>
          <a:ln>
            <a:noFill/>
          </a:ln>
        </p:spPr>
      </p:pic>
      <p:sp>
        <p:nvSpPr>
          <p:cNvPr id="141" name="Google Shape;141;p7"/>
          <p:cNvSpPr/>
          <p:nvPr/>
        </p:nvSpPr>
        <p:spPr>
          <a:xfrm>
            <a:off x="381005" y="5181625"/>
            <a:ext cx="3286125" cy="1028700"/>
          </a:xfrm>
          <a:custGeom>
            <a:rect b="b" l="l" r="r" t="t"/>
            <a:pathLst>
              <a:path extrusionOk="0" h="1028700" w="3286125">
                <a:moveTo>
                  <a:pt x="0" y="0"/>
                </a:moveTo>
                <a:lnTo>
                  <a:pt x="3286125" y="0"/>
                </a:lnTo>
                <a:lnTo>
                  <a:pt x="3286125" y="1028700"/>
                </a:lnTo>
                <a:lnTo>
                  <a:pt x="0" y="1028700"/>
                </a:lnTo>
                <a:lnTo>
                  <a:pt x="0" y="0"/>
                </a:lnTo>
                <a:close/>
              </a:path>
            </a:pathLst>
          </a:custGeom>
          <a:solidFill>
            <a:srgbClr val="F9FAFB"/>
          </a:solidFill>
          <a:ln>
            <a:noFill/>
          </a:ln>
        </p:spPr>
      </p:sp>
      <p:sp>
        <p:nvSpPr>
          <p:cNvPr id="142" name="Google Shape;142;p7"/>
          <p:cNvSpPr/>
          <p:nvPr/>
        </p:nvSpPr>
        <p:spPr>
          <a:xfrm>
            <a:off x="381005" y="5181625"/>
            <a:ext cx="38100" cy="1028700"/>
          </a:xfrm>
          <a:custGeom>
            <a:rect b="b" l="l" r="r" t="t"/>
            <a:pathLst>
              <a:path extrusionOk="0" h="1028700" w="38100">
                <a:moveTo>
                  <a:pt x="0" y="0"/>
                </a:moveTo>
                <a:lnTo>
                  <a:pt x="38100" y="0"/>
                </a:lnTo>
                <a:lnTo>
                  <a:pt x="38100" y="1028700"/>
                </a:lnTo>
                <a:lnTo>
                  <a:pt x="0" y="1028700"/>
                </a:lnTo>
                <a:lnTo>
                  <a:pt x="0" y="0"/>
                </a:lnTo>
                <a:close/>
              </a:path>
            </a:pathLst>
          </a:custGeom>
          <a:solidFill>
            <a:srgbClr val="8B0000"/>
          </a:solidFill>
          <a:ln>
            <a:noFill/>
          </a:ln>
        </p:spPr>
      </p:sp>
      <p:sp>
        <p:nvSpPr>
          <p:cNvPr id="143" name="Google Shape;143;p7"/>
          <p:cNvSpPr/>
          <p:nvPr/>
        </p:nvSpPr>
        <p:spPr>
          <a:xfrm>
            <a:off x="5247977" y="5305425"/>
            <a:ext cx="192881" cy="171450"/>
          </a:xfrm>
          <a:custGeom>
            <a:rect b="b" l="l" r="r" t="t"/>
            <a:pathLst>
              <a:path extrusionOk="0" h="171450" w="192881">
                <a:moveTo>
                  <a:pt x="140475" y="32147"/>
                </a:moveTo>
                <a:cubicBezTo>
                  <a:pt x="134916" y="32147"/>
                  <a:pt x="129525" y="33654"/>
                  <a:pt x="124804" y="36400"/>
                </a:cubicBezTo>
                <a:cubicBezTo>
                  <a:pt x="119513" y="31042"/>
                  <a:pt x="113351" y="26555"/>
                  <a:pt x="106553" y="23173"/>
                </a:cubicBezTo>
                <a:cubicBezTo>
                  <a:pt x="115997" y="15136"/>
                  <a:pt x="128018" y="10716"/>
                  <a:pt x="140475" y="10716"/>
                </a:cubicBezTo>
                <a:cubicBezTo>
                  <a:pt x="169407" y="10716"/>
                  <a:pt x="192881" y="34156"/>
                  <a:pt x="192881" y="63122"/>
                </a:cubicBezTo>
                <a:cubicBezTo>
                  <a:pt x="192881" y="77019"/>
                  <a:pt x="187356" y="90346"/>
                  <a:pt x="177545" y="100158"/>
                </a:cubicBezTo>
                <a:lnTo>
                  <a:pt x="153736" y="123966"/>
                </a:lnTo>
                <a:cubicBezTo>
                  <a:pt x="143924" y="133778"/>
                  <a:pt x="130597" y="139303"/>
                  <a:pt x="116700" y="139303"/>
                </a:cubicBezTo>
                <a:cubicBezTo>
                  <a:pt x="87768" y="139303"/>
                  <a:pt x="64294" y="115863"/>
                  <a:pt x="64294" y="86897"/>
                </a:cubicBezTo>
                <a:cubicBezTo>
                  <a:pt x="64294" y="86395"/>
                  <a:pt x="64294" y="85892"/>
                  <a:pt x="64327" y="85390"/>
                </a:cubicBezTo>
                <a:cubicBezTo>
                  <a:pt x="64495" y="79463"/>
                  <a:pt x="69417" y="74808"/>
                  <a:pt x="75344" y="74976"/>
                </a:cubicBezTo>
                <a:cubicBezTo>
                  <a:pt x="81271" y="75143"/>
                  <a:pt x="85926" y="80066"/>
                  <a:pt x="85758" y="85993"/>
                </a:cubicBezTo>
                <a:cubicBezTo>
                  <a:pt x="85758" y="86294"/>
                  <a:pt x="85758" y="86596"/>
                  <a:pt x="85758" y="86864"/>
                </a:cubicBezTo>
                <a:cubicBezTo>
                  <a:pt x="85758" y="103975"/>
                  <a:pt x="99622" y="117838"/>
                  <a:pt x="116733" y="117838"/>
                </a:cubicBezTo>
                <a:cubicBezTo>
                  <a:pt x="124937" y="117838"/>
                  <a:pt x="132807" y="114590"/>
                  <a:pt x="138633" y="108764"/>
                </a:cubicBezTo>
                <a:lnTo>
                  <a:pt x="162442" y="84955"/>
                </a:lnTo>
                <a:cubicBezTo>
                  <a:pt x="168235" y="79162"/>
                  <a:pt x="171517" y="71259"/>
                  <a:pt x="171517" y="63055"/>
                </a:cubicBezTo>
                <a:cubicBezTo>
                  <a:pt x="171517" y="45943"/>
                  <a:pt x="157654" y="32080"/>
                  <a:pt x="140542" y="32080"/>
                </a:cubicBezTo>
                <a:close/>
                <a:moveTo>
                  <a:pt x="92154" y="58032"/>
                </a:moveTo>
                <a:cubicBezTo>
                  <a:pt x="91518" y="57764"/>
                  <a:pt x="90882" y="57396"/>
                  <a:pt x="90313" y="56994"/>
                </a:cubicBezTo>
                <a:cubicBezTo>
                  <a:pt x="86093" y="54817"/>
                  <a:pt x="81271" y="53578"/>
                  <a:pt x="76215" y="53578"/>
                </a:cubicBezTo>
                <a:cubicBezTo>
                  <a:pt x="68011" y="53578"/>
                  <a:pt x="60141" y="56826"/>
                  <a:pt x="54315" y="62653"/>
                </a:cubicBezTo>
                <a:lnTo>
                  <a:pt x="30506" y="86462"/>
                </a:lnTo>
                <a:cubicBezTo>
                  <a:pt x="24713" y="92255"/>
                  <a:pt x="21431" y="100158"/>
                  <a:pt x="21431" y="108362"/>
                </a:cubicBezTo>
                <a:cubicBezTo>
                  <a:pt x="21431" y="125473"/>
                  <a:pt x="35295" y="139337"/>
                  <a:pt x="52406" y="139337"/>
                </a:cubicBezTo>
                <a:cubicBezTo>
                  <a:pt x="57931" y="139337"/>
                  <a:pt x="63323" y="137863"/>
                  <a:pt x="68044" y="135117"/>
                </a:cubicBezTo>
                <a:cubicBezTo>
                  <a:pt x="73335" y="140475"/>
                  <a:pt x="79497" y="144962"/>
                  <a:pt x="86328" y="148344"/>
                </a:cubicBezTo>
                <a:cubicBezTo>
                  <a:pt x="76885" y="156348"/>
                  <a:pt x="64897" y="160801"/>
                  <a:pt x="52406" y="160801"/>
                </a:cubicBezTo>
                <a:cubicBezTo>
                  <a:pt x="23474" y="160801"/>
                  <a:pt x="0" y="137361"/>
                  <a:pt x="0" y="108395"/>
                </a:cubicBezTo>
                <a:cubicBezTo>
                  <a:pt x="0" y="94498"/>
                  <a:pt x="5525" y="81171"/>
                  <a:pt x="15337" y="71359"/>
                </a:cubicBezTo>
                <a:lnTo>
                  <a:pt x="39146" y="47551"/>
                </a:lnTo>
                <a:cubicBezTo>
                  <a:pt x="48957" y="37739"/>
                  <a:pt x="62285" y="32214"/>
                  <a:pt x="76181" y="32214"/>
                </a:cubicBezTo>
                <a:cubicBezTo>
                  <a:pt x="105181" y="32214"/>
                  <a:pt x="128588" y="55855"/>
                  <a:pt x="128588" y="84754"/>
                </a:cubicBezTo>
                <a:cubicBezTo>
                  <a:pt x="128588" y="85189"/>
                  <a:pt x="128588" y="85625"/>
                  <a:pt x="128588" y="86060"/>
                </a:cubicBezTo>
                <a:cubicBezTo>
                  <a:pt x="128454" y="91987"/>
                  <a:pt x="123531" y="96642"/>
                  <a:pt x="117604" y="96508"/>
                </a:cubicBezTo>
                <a:cubicBezTo>
                  <a:pt x="111677" y="96374"/>
                  <a:pt x="107022" y="91451"/>
                  <a:pt x="107156" y="85524"/>
                </a:cubicBezTo>
                <a:cubicBezTo>
                  <a:pt x="107156" y="85256"/>
                  <a:pt x="107156" y="85022"/>
                  <a:pt x="107156" y="84754"/>
                </a:cubicBezTo>
                <a:cubicBezTo>
                  <a:pt x="107156" y="73469"/>
                  <a:pt x="101129" y="63557"/>
                  <a:pt x="92154" y="58099"/>
                </a:cubicBezTo>
                <a:close/>
              </a:path>
            </a:pathLst>
          </a:custGeom>
          <a:solidFill>
            <a:srgbClr val="8B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7"/>
          <p:cNvSpPr/>
          <p:nvPr/>
        </p:nvSpPr>
        <p:spPr>
          <a:xfrm>
            <a:off x="771530" y="5295925"/>
            <a:ext cx="2981400" cy="2667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i="0" lang="en-US" sz="1350" u="none" cap="none" strike="noStrike">
                <a:solidFill>
                  <a:srgbClr val="1F2937"/>
                </a:solidFill>
                <a:latin typeface="Sorts Mill Goudy"/>
                <a:ea typeface="Sorts Mill Goudy"/>
                <a:cs typeface="Sorts Mill Goudy"/>
                <a:sym typeface="Sorts Mill Goudy"/>
              </a:rPr>
              <a:t>Feature Sources</a:t>
            </a:r>
            <a:endParaRPr b="0" i="0" sz="1600" u="none" cap="none" strike="noStrike"/>
          </a:p>
        </p:txBody>
      </p:sp>
      <p:sp>
        <p:nvSpPr>
          <p:cNvPr id="145" name="Google Shape;145;p7"/>
          <p:cNvSpPr/>
          <p:nvPr/>
        </p:nvSpPr>
        <p:spPr>
          <a:xfrm>
            <a:off x="552455" y="5638825"/>
            <a:ext cx="3190800" cy="4572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0" i="0" lang="en-US" sz="1200" u="none" cap="none" strike="noStrike">
                <a:solidFill>
                  <a:srgbClr val="1F2937"/>
                </a:solidFill>
                <a:latin typeface="Sorts Mill Goudy"/>
                <a:ea typeface="Sorts Mill Goudy"/>
                <a:cs typeface="Sorts Mill Goudy"/>
                <a:sym typeface="Sorts Mill Goudy"/>
              </a:rPr>
              <a:t>URL string characteristics + Web page source code analysis</a:t>
            </a:r>
            <a:endParaRPr b="0" i="0" sz="1600" u="none" cap="none" strike="noStrike"/>
          </a:p>
        </p:txBody>
      </p:sp>
      <p:sp>
        <p:nvSpPr>
          <p:cNvPr id="146" name="Google Shape;146;p7"/>
          <p:cNvSpPr/>
          <p:nvPr/>
        </p:nvSpPr>
        <p:spPr>
          <a:xfrm>
            <a:off x="5049140" y="5181625"/>
            <a:ext cx="3286125" cy="1028700"/>
          </a:xfrm>
          <a:custGeom>
            <a:rect b="b" l="l" r="r" t="t"/>
            <a:pathLst>
              <a:path extrusionOk="0" h="1028700" w="3286125">
                <a:moveTo>
                  <a:pt x="0" y="0"/>
                </a:moveTo>
                <a:lnTo>
                  <a:pt x="3286125" y="0"/>
                </a:lnTo>
                <a:lnTo>
                  <a:pt x="3286125" y="1028700"/>
                </a:lnTo>
                <a:lnTo>
                  <a:pt x="0" y="1028700"/>
                </a:lnTo>
                <a:lnTo>
                  <a:pt x="0" y="0"/>
                </a:lnTo>
                <a:close/>
              </a:path>
            </a:pathLst>
          </a:custGeom>
          <a:solidFill>
            <a:srgbClr val="F9FAFB"/>
          </a:solidFill>
          <a:ln>
            <a:noFill/>
          </a:ln>
        </p:spPr>
      </p:sp>
      <p:sp>
        <p:nvSpPr>
          <p:cNvPr id="147" name="Google Shape;147;p7"/>
          <p:cNvSpPr/>
          <p:nvPr/>
        </p:nvSpPr>
        <p:spPr>
          <a:xfrm>
            <a:off x="5049140" y="5181625"/>
            <a:ext cx="38100" cy="1028700"/>
          </a:xfrm>
          <a:custGeom>
            <a:rect b="b" l="l" r="r" t="t"/>
            <a:pathLst>
              <a:path extrusionOk="0" h="1028700" w="38100">
                <a:moveTo>
                  <a:pt x="0" y="0"/>
                </a:moveTo>
                <a:lnTo>
                  <a:pt x="38100" y="0"/>
                </a:lnTo>
                <a:lnTo>
                  <a:pt x="38100" y="1028700"/>
                </a:lnTo>
                <a:lnTo>
                  <a:pt x="0" y="1028700"/>
                </a:lnTo>
                <a:lnTo>
                  <a:pt x="0" y="0"/>
                </a:lnTo>
                <a:close/>
              </a:path>
            </a:pathLst>
          </a:custGeom>
          <a:solidFill>
            <a:srgbClr val="8B0000"/>
          </a:solidFill>
          <a:ln>
            <a:noFill/>
          </a:ln>
        </p:spPr>
      </p:sp>
      <p:sp>
        <p:nvSpPr>
          <p:cNvPr id="148" name="Google Shape;148;p7"/>
          <p:cNvSpPr/>
          <p:nvPr/>
        </p:nvSpPr>
        <p:spPr>
          <a:xfrm>
            <a:off x="5439665" y="5295925"/>
            <a:ext cx="2981400" cy="2667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i="0" lang="en-US" sz="1350" u="none" cap="none" strike="noStrike">
                <a:solidFill>
                  <a:srgbClr val="1F2937"/>
                </a:solidFill>
                <a:latin typeface="Sorts Mill Goudy"/>
                <a:ea typeface="Sorts Mill Goudy"/>
                <a:cs typeface="Sorts Mill Goudy"/>
                <a:sym typeface="Sorts Mill Goudy"/>
              </a:rPr>
              <a:t>Data Quality</a:t>
            </a:r>
            <a:endParaRPr b="0" i="0" sz="1600" u="none" cap="none" strike="noStrike"/>
          </a:p>
        </p:txBody>
      </p:sp>
      <p:sp>
        <p:nvSpPr>
          <p:cNvPr id="149" name="Google Shape;149;p7"/>
          <p:cNvSpPr/>
          <p:nvPr/>
        </p:nvSpPr>
        <p:spPr>
          <a:xfrm>
            <a:off x="5220590" y="5638825"/>
            <a:ext cx="3190800" cy="4572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0" i="0" lang="en-US" sz="1200" u="none" cap="none" strike="noStrike">
                <a:solidFill>
                  <a:srgbClr val="1F2937"/>
                </a:solidFill>
                <a:latin typeface="Sorts Mill Goudy"/>
                <a:ea typeface="Sorts Mill Goudy"/>
                <a:cs typeface="Sorts Mill Goudy"/>
                <a:sym typeface="Sorts Mill Goudy"/>
              </a:rPr>
              <a:t>No missing values - complete dataset ready for training</a:t>
            </a:r>
            <a:endParaRPr b="0" i="0" sz="1600" u="none" cap="none" strike="noStrike"/>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4" name="Shape 154"/>
        <p:cNvGrpSpPr/>
        <p:nvPr/>
      </p:nvGrpSpPr>
      <p:grpSpPr>
        <a:xfrm>
          <a:off x="0" y="0"/>
          <a:ext cx="0" cy="0"/>
          <a:chOff x="0" y="0"/>
          <a:chExt cx="0" cy="0"/>
        </a:xfrm>
      </p:grpSpPr>
      <p:sp>
        <p:nvSpPr>
          <p:cNvPr id="155" name="Google Shape;155;p8"/>
          <p:cNvSpPr/>
          <p:nvPr/>
        </p:nvSpPr>
        <p:spPr>
          <a:xfrm>
            <a:off x="332887" y="349532"/>
            <a:ext cx="407787" cy="2995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966" u="none" cap="none" strike="noStrike">
                <a:solidFill>
                  <a:srgbClr val="8B0000"/>
                </a:solidFill>
                <a:latin typeface="Sorts Mill Goudy"/>
                <a:ea typeface="Sorts Mill Goudy"/>
                <a:cs typeface="Sorts Mill Goudy"/>
                <a:sym typeface="Sorts Mill Goudy"/>
              </a:rPr>
              <a:t>2.</a:t>
            </a:r>
            <a:r>
              <a:rPr b="1" lang="en-US" sz="1966">
                <a:solidFill>
                  <a:srgbClr val="8B0000"/>
                </a:solidFill>
                <a:latin typeface="Sorts Mill Goudy"/>
                <a:ea typeface="Sorts Mill Goudy"/>
                <a:cs typeface="Sorts Mill Goudy"/>
                <a:sym typeface="Sorts Mill Goudy"/>
              </a:rPr>
              <a:t>2</a:t>
            </a:r>
            <a:endParaRPr b="0" i="0" sz="1600" u="none" cap="none" strike="noStrike"/>
          </a:p>
        </p:txBody>
      </p:sp>
      <p:sp>
        <p:nvSpPr>
          <p:cNvPr id="156" name="Google Shape;156;p8"/>
          <p:cNvSpPr/>
          <p:nvPr/>
        </p:nvSpPr>
        <p:spPr>
          <a:xfrm>
            <a:off x="713432" y="332887"/>
            <a:ext cx="4943377" cy="332887"/>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1" i="0" lang="en-US" sz="2359" u="none" cap="none" strike="noStrike">
                <a:solidFill>
                  <a:srgbClr val="1F2937"/>
                </a:solidFill>
                <a:latin typeface="Sorts Mill Goudy"/>
                <a:ea typeface="Sorts Mill Goudy"/>
                <a:cs typeface="Sorts Mill Goudy"/>
                <a:sym typeface="Sorts Mill Goudy"/>
              </a:rPr>
              <a:t>Feature Information &amp; Preprocessing</a:t>
            </a:r>
            <a:endParaRPr b="0" i="0" sz="1600" u="none" cap="none" strike="noStrike"/>
          </a:p>
        </p:txBody>
      </p:sp>
      <p:sp>
        <p:nvSpPr>
          <p:cNvPr id="157" name="Google Shape;157;p8"/>
          <p:cNvSpPr/>
          <p:nvPr/>
        </p:nvSpPr>
        <p:spPr>
          <a:xfrm>
            <a:off x="798930" y="732352"/>
            <a:ext cx="798930" cy="33289"/>
          </a:xfrm>
          <a:custGeom>
            <a:rect b="b" l="l" r="r" t="t"/>
            <a:pathLst>
              <a:path extrusionOk="0" h="33289" w="798930">
                <a:moveTo>
                  <a:pt x="0" y="0"/>
                </a:moveTo>
                <a:lnTo>
                  <a:pt x="798930" y="0"/>
                </a:lnTo>
                <a:lnTo>
                  <a:pt x="798930" y="33289"/>
                </a:lnTo>
                <a:lnTo>
                  <a:pt x="0" y="33289"/>
                </a:lnTo>
                <a:lnTo>
                  <a:pt x="0" y="0"/>
                </a:lnTo>
                <a:close/>
              </a:path>
            </a:pathLst>
          </a:custGeom>
          <a:solidFill>
            <a:srgbClr val="8B0000"/>
          </a:solidFill>
          <a:ln>
            <a:noFill/>
          </a:ln>
        </p:spPr>
      </p:sp>
      <p:sp>
        <p:nvSpPr>
          <p:cNvPr id="158" name="Google Shape;158;p8"/>
          <p:cNvSpPr/>
          <p:nvPr/>
        </p:nvSpPr>
        <p:spPr>
          <a:xfrm>
            <a:off x="332887" y="898796"/>
            <a:ext cx="3728339" cy="1631148"/>
          </a:xfrm>
          <a:custGeom>
            <a:rect b="b" l="l" r="r" t="t"/>
            <a:pathLst>
              <a:path extrusionOk="0" h="1631148" w="3728339">
                <a:moveTo>
                  <a:pt x="0" y="0"/>
                </a:moveTo>
                <a:lnTo>
                  <a:pt x="3728339" y="0"/>
                </a:lnTo>
                <a:lnTo>
                  <a:pt x="3728339" y="1631148"/>
                </a:lnTo>
                <a:lnTo>
                  <a:pt x="0" y="1631148"/>
                </a:lnTo>
                <a:lnTo>
                  <a:pt x="0" y="0"/>
                </a:lnTo>
                <a:close/>
              </a:path>
            </a:pathLst>
          </a:custGeom>
          <a:solidFill>
            <a:srgbClr val="8B0000"/>
          </a:solidFill>
          <a:ln>
            <a:noFill/>
          </a:ln>
        </p:spPr>
      </p:sp>
      <p:sp>
        <p:nvSpPr>
          <p:cNvPr id="159" name="Google Shape;159;p8"/>
          <p:cNvSpPr/>
          <p:nvPr/>
        </p:nvSpPr>
        <p:spPr>
          <a:xfrm>
            <a:off x="2048428" y="1065240"/>
            <a:ext cx="299599" cy="299599"/>
          </a:xfrm>
          <a:custGeom>
            <a:rect b="b" l="l" r="r" t="t"/>
            <a:pathLst>
              <a:path extrusionOk="0" h="299599" w="299599">
                <a:moveTo>
                  <a:pt x="0" y="42131"/>
                </a:moveTo>
                <a:cubicBezTo>
                  <a:pt x="0" y="34407"/>
                  <a:pt x="6261" y="28087"/>
                  <a:pt x="14044" y="28087"/>
                </a:cubicBezTo>
                <a:lnTo>
                  <a:pt x="42131" y="28087"/>
                </a:lnTo>
                <a:cubicBezTo>
                  <a:pt x="49914" y="28087"/>
                  <a:pt x="56175" y="34349"/>
                  <a:pt x="56175" y="42131"/>
                </a:cubicBezTo>
                <a:lnTo>
                  <a:pt x="56175" y="102987"/>
                </a:lnTo>
                <a:lnTo>
                  <a:pt x="70218" y="102987"/>
                </a:lnTo>
                <a:cubicBezTo>
                  <a:pt x="78001" y="102987"/>
                  <a:pt x="84262" y="109248"/>
                  <a:pt x="84262" y="117031"/>
                </a:cubicBezTo>
                <a:cubicBezTo>
                  <a:pt x="84262" y="124813"/>
                  <a:pt x="78001" y="131074"/>
                  <a:pt x="70218" y="131074"/>
                </a:cubicBezTo>
                <a:lnTo>
                  <a:pt x="14044" y="131074"/>
                </a:lnTo>
                <a:cubicBezTo>
                  <a:pt x="6261" y="131074"/>
                  <a:pt x="0" y="124813"/>
                  <a:pt x="0" y="117031"/>
                </a:cubicBezTo>
                <a:cubicBezTo>
                  <a:pt x="0" y="109248"/>
                  <a:pt x="6261" y="102987"/>
                  <a:pt x="14044" y="102987"/>
                </a:cubicBezTo>
                <a:lnTo>
                  <a:pt x="28087" y="102987"/>
                </a:lnTo>
                <a:lnTo>
                  <a:pt x="28087" y="56175"/>
                </a:lnTo>
                <a:lnTo>
                  <a:pt x="14044" y="56175"/>
                </a:lnTo>
                <a:cubicBezTo>
                  <a:pt x="6261" y="56175"/>
                  <a:pt x="0" y="49914"/>
                  <a:pt x="0" y="42131"/>
                </a:cubicBezTo>
                <a:close/>
                <a:moveTo>
                  <a:pt x="17789" y="176248"/>
                </a:moveTo>
                <a:cubicBezTo>
                  <a:pt x="24459" y="171216"/>
                  <a:pt x="32593" y="168524"/>
                  <a:pt x="40961" y="168524"/>
                </a:cubicBezTo>
                <a:lnTo>
                  <a:pt x="43828" y="168524"/>
                </a:lnTo>
                <a:cubicBezTo>
                  <a:pt x="63548" y="168524"/>
                  <a:pt x="79581" y="184557"/>
                  <a:pt x="79581" y="204277"/>
                </a:cubicBezTo>
                <a:cubicBezTo>
                  <a:pt x="79581" y="215746"/>
                  <a:pt x="74080" y="226454"/>
                  <a:pt x="64835" y="233184"/>
                </a:cubicBezTo>
                <a:lnTo>
                  <a:pt x="50791" y="243424"/>
                </a:lnTo>
                <a:lnTo>
                  <a:pt x="70218" y="243424"/>
                </a:lnTo>
                <a:cubicBezTo>
                  <a:pt x="78001" y="243424"/>
                  <a:pt x="84262" y="249685"/>
                  <a:pt x="84262" y="257468"/>
                </a:cubicBezTo>
                <a:cubicBezTo>
                  <a:pt x="84262" y="265250"/>
                  <a:pt x="78001" y="271511"/>
                  <a:pt x="70218" y="271511"/>
                </a:cubicBezTo>
                <a:lnTo>
                  <a:pt x="17145" y="271511"/>
                </a:lnTo>
                <a:cubicBezTo>
                  <a:pt x="7666" y="271511"/>
                  <a:pt x="0" y="263846"/>
                  <a:pt x="0" y="254366"/>
                </a:cubicBezTo>
                <a:cubicBezTo>
                  <a:pt x="0" y="248866"/>
                  <a:pt x="2633" y="243716"/>
                  <a:pt x="7080" y="240498"/>
                </a:cubicBezTo>
                <a:lnTo>
                  <a:pt x="48334" y="210480"/>
                </a:lnTo>
                <a:cubicBezTo>
                  <a:pt x="50323" y="209017"/>
                  <a:pt x="51494" y="206735"/>
                  <a:pt x="51494" y="204277"/>
                </a:cubicBezTo>
                <a:cubicBezTo>
                  <a:pt x="51494" y="200064"/>
                  <a:pt x="48041" y="196612"/>
                  <a:pt x="43828" y="196612"/>
                </a:cubicBezTo>
                <a:lnTo>
                  <a:pt x="40961" y="196612"/>
                </a:lnTo>
                <a:cubicBezTo>
                  <a:pt x="38679" y="196612"/>
                  <a:pt x="36455" y="197372"/>
                  <a:pt x="34641" y="198718"/>
                </a:cubicBezTo>
                <a:lnTo>
                  <a:pt x="22470" y="207847"/>
                </a:lnTo>
                <a:cubicBezTo>
                  <a:pt x="16267" y="212528"/>
                  <a:pt x="7490" y="211240"/>
                  <a:pt x="2809" y="205038"/>
                </a:cubicBezTo>
                <a:cubicBezTo>
                  <a:pt x="-1872" y="198835"/>
                  <a:pt x="-585" y="190058"/>
                  <a:pt x="5617" y="185377"/>
                </a:cubicBezTo>
                <a:lnTo>
                  <a:pt x="17789" y="176248"/>
                </a:lnTo>
                <a:close/>
                <a:moveTo>
                  <a:pt x="131074" y="37450"/>
                </a:moveTo>
                <a:lnTo>
                  <a:pt x="280874" y="37450"/>
                </a:lnTo>
                <a:cubicBezTo>
                  <a:pt x="291231" y="37450"/>
                  <a:pt x="299599" y="45818"/>
                  <a:pt x="299599" y="56175"/>
                </a:cubicBezTo>
                <a:cubicBezTo>
                  <a:pt x="299599" y="66532"/>
                  <a:pt x="291231" y="74900"/>
                  <a:pt x="280874" y="74900"/>
                </a:cubicBezTo>
                <a:lnTo>
                  <a:pt x="131074" y="74900"/>
                </a:lnTo>
                <a:cubicBezTo>
                  <a:pt x="120717" y="74900"/>
                  <a:pt x="112349" y="66532"/>
                  <a:pt x="112349" y="56175"/>
                </a:cubicBezTo>
                <a:cubicBezTo>
                  <a:pt x="112349" y="45818"/>
                  <a:pt x="120717" y="37450"/>
                  <a:pt x="131074" y="37450"/>
                </a:cubicBezTo>
                <a:close/>
                <a:moveTo>
                  <a:pt x="131074" y="131074"/>
                </a:moveTo>
                <a:lnTo>
                  <a:pt x="280874" y="131074"/>
                </a:lnTo>
                <a:cubicBezTo>
                  <a:pt x="291231" y="131074"/>
                  <a:pt x="299599" y="139442"/>
                  <a:pt x="299599" y="149799"/>
                </a:cubicBezTo>
                <a:cubicBezTo>
                  <a:pt x="299599" y="160157"/>
                  <a:pt x="291231" y="168524"/>
                  <a:pt x="280874" y="168524"/>
                </a:cubicBezTo>
                <a:lnTo>
                  <a:pt x="131074" y="168524"/>
                </a:lnTo>
                <a:cubicBezTo>
                  <a:pt x="120717" y="168524"/>
                  <a:pt x="112349" y="160157"/>
                  <a:pt x="112349" y="149799"/>
                </a:cubicBezTo>
                <a:cubicBezTo>
                  <a:pt x="112349" y="139442"/>
                  <a:pt x="120717" y="131074"/>
                  <a:pt x="131074" y="131074"/>
                </a:cubicBezTo>
                <a:close/>
                <a:moveTo>
                  <a:pt x="131074" y="224699"/>
                </a:moveTo>
                <a:lnTo>
                  <a:pt x="280874" y="224699"/>
                </a:lnTo>
                <a:cubicBezTo>
                  <a:pt x="291231" y="224699"/>
                  <a:pt x="299599" y="233067"/>
                  <a:pt x="299599" y="243424"/>
                </a:cubicBezTo>
                <a:cubicBezTo>
                  <a:pt x="299599" y="253781"/>
                  <a:pt x="291231" y="262149"/>
                  <a:pt x="280874" y="262149"/>
                </a:cubicBezTo>
                <a:lnTo>
                  <a:pt x="131074" y="262149"/>
                </a:lnTo>
                <a:cubicBezTo>
                  <a:pt x="120717" y="262149"/>
                  <a:pt x="112349" y="253781"/>
                  <a:pt x="112349" y="243424"/>
                </a:cubicBezTo>
                <a:cubicBezTo>
                  <a:pt x="112349" y="233067"/>
                  <a:pt x="120717" y="224699"/>
                  <a:pt x="131074" y="224699"/>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8"/>
          <p:cNvSpPr/>
          <p:nvPr/>
        </p:nvSpPr>
        <p:spPr>
          <a:xfrm>
            <a:off x="466042" y="1464704"/>
            <a:ext cx="3462029" cy="199732"/>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0" i="0" lang="en-US" sz="1048" u="none" cap="none" strike="noStrike">
                <a:solidFill>
                  <a:srgbClr val="FFFFFF"/>
                </a:solidFill>
                <a:latin typeface="Sorts Mill Goudy"/>
                <a:ea typeface="Sorts Mill Goudy"/>
                <a:cs typeface="Sorts Mill Goudy"/>
                <a:sym typeface="Sorts Mill Goudy"/>
              </a:rPr>
              <a:t>Total Features</a:t>
            </a:r>
            <a:endParaRPr b="0" i="0" sz="1600" u="none" cap="none" strike="noStrike"/>
          </a:p>
        </p:txBody>
      </p:sp>
      <p:sp>
        <p:nvSpPr>
          <p:cNvPr id="161" name="Google Shape;161;p8"/>
          <p:cNvSpPr/>
          <p:nvPr/>
        </p:nvSpPr>
        <p:spPr>
          <a:xfrm>
            <a:off x="399465" y="1697726"/>
            <a:ext cx="3595184" cy="399465"/>
          </a:xfrm>
          <a:prstGeom prst="rect">
            <a:avLst/>
          </a:prstGeom>
          <a:noFill/>
          <a:ln>
            <a:noFill/>
          </a:ln>
        </p:spPr>
        <p:txBody>
          <a:bodyPr anchorCtr="0" anchor="ctr" bIns="0" lIns="0" spcFirstLastPara="1" rIns="0" wrap="square" tIns="0">
            <a:noAutofit/>
          </a:bodyPr>
          <a:lstStyle/>
          <a:p>
            <a:pPr indent="0" lvl="0" marL="0" marR="0" rtl="0" algn="ctr">
              <a:lnSpc>
                <a:spcPct val="80000"/>
              </a:lnSpc>
              <a:spcBef>
                <a:spcPts val="0"/>
              </a:spcBef>
              <a:spcAft>
                <a:spcPts val="0"/>
              </a:spcAft>
              <a:buNone/>
            </a:pPr>
            <a:r>
              <a:rPr b="1" i="0" lang="en-US" sz="3145" u="none" cap="none" strike="noStrike">
                <a:solidFill>
                  <a:srgbClr val="FFFFFF"/>
                </a:solidFill>
                <a:latin typeface="Sorts Mill Goudy"/>
                <a:ea typeface="Sorts Mill Goudy"/>
                <a:cs typeface="Sorts Mill Goudy"/>
                <a:sym typeface="Sorts Mill Goudy"/>
              </a:rPr>
              <a:t>54</a:t>
            </a:r>
            <a:endParaRPr b="0" i="0" sz="1600" u="none" cap="none" strike="noStrike"/>
          </a:p>
        </p:txBody>
      </p:sp>
      <p:sp>
        <p:nvSpPr>
          <p:cNvPr id="162" name="Google Shape;162;p8"/>
          <p:cNvSpPr/>
          <p:nvPr/>
        </p:nvSpPr>
        <p:spPr>
          <a:xfrm>
            <a:off x="466042" y="2163768"/>
            <a:ext cx="3462029" cy="199732"/>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0" i="0" lang="en-US" sz="1048" u="none" cap="none" strike="noStrike">
                <a:solidFill>
                  <a:srgbClr val="FFFFFF"/>
                </a:solidFill>
                <a:latin typeface="Sorts Mill Goudy"/>
                <a:ea typeface="Sorts Mill Goudy"/>
                <a:cs typeface="Sorts Mill Goudy"/>
                <a:sym typeface="Sorts Mill Goudy"/>
              </a:rPr>
              <a:t>per sample</a:t>
            </a:r>
            <a:endParaRPr b="0" i="0" sz="1600" u="none" cap="none" strike="noStrike"/>
          </a:p>
        </p:txBody>
      </p:sp>
      <p:sp>
        <p:nvSpPr>
          <p:cNvPr id="163" name="Google Shape;163;p8"/>
          <p:cNvSpPr/>
          <p:nvPr/>
        </p:nvSpPr>
        <p:spPr>
          <a:xfrm>
            <a:off x="4230075" y="898796"/>
            <a:ext cx="3728339" cy="1631148"/>
          </a:xfrm>
          <a:custGeom>
            <a:rect b="b" l="l" r="r" t="t"/>
            <a:pathLst>
              <a:path extrusionOk="0" h="1631148" w="3728339">
                <a:moveTo>
                  <a:pt x="0" y="0"/>
                </a:moveTo>
                <a:lnTo>
                  <a:pt x="3728339" y="0"/>
                </a:lnTo>
                <a:lnTo>
                  <a:pt x="3728339" y="1631148"/>
                </a:lnTo>
                <a:lnTo>
                  <a:pt x="0" y="1631148"/>
                </a:lnTo>
                <a:lnTo>
                  <a:pt x="0" y="0"/>
                </a:lnTo>
                <a:close/>
              </a:path>
            </a:pathLst>
          </a:custGeom>
          <a:solidFill>
            <a:srgbClr val="1F2937"/>
          </a:solidFill>
          <a:ln>
            <a:noFill/>
          </a:ln>
        </p:spPr>
      </p:sp>
      <p:sp>
        <p:nvSpPr>
          <p:cNvPr id="164" name="Google Shape;164;p8"/>
          <p:cNvSpPr/>
          <p:nvPr/>
        </p:nvSpPr>
        <p:spPr>
          <a:xfrm>
            <a:off x="5945681" y="1065240"/>
            <a:ext cx="299599" cy="299599"/>
          </a:xfrm>
          <a:custGeom>
            <a:rect b="b" l="l" r="r" t="t"/>
            <a:pathLst>
              <a:path extrusionOk="0" h="299599" w="299599">
                <a:moveTo>
                  <a:pt x="149799" y="299599"/>
                </a:moveTo>
                <a:cubicBezTo>
                  <a:pt x="232476" y="299599"/>
                  <a:pt x="299599" y="232476"/>
                  <a:pt x="299599" y="149799"/>
                </a:cubicBezTo>
                <a:cubicBezTo>
                  <a:pt x="299599" y="67123"/>
                  <a:pt x="232476" y="0"/>
                  <a:pt x="149799" y="0"/>
                </a:cubicBezTo>
                <a:cubicBezTo>
                  <a:pt x="67123" y="0"/>
                  <a:pt x="0" y="67123"/>
                  <a:pt x="0" y="149799"/>
                </a:cubicBezTo>
                <a:cubicBezTo>
                  <a:pt x="0" y="232476"/>
                  <a:pt x="67123" y="299599"/>
                  <a:pt x="149799" y="299599"/>
                </a:cubicBezTo>
                <a:close/>
                <a:moveTo>
                  <a:pt x="199186" y="124462"/>
                </a:moveTo>
                <a:lnTo>
                  <a:pt x="152374" y="199362"/>
                </a:lnTo>
                <a:cubicBezTo>
                  <a:pt x="149916" y="203282"/>
                  <a:pt x="145703" y="205740"/>
                  <a:pt x="141081" y="205974"/>
                </a:cubicBezTo>
                <a:cubicBezTo>
                  <a:pt x="136458" y="206208"/>
                  <a:pt x="132011" y="204102"/>
                  <a:pt x="129260" y="200357"/>
                </a:cubicBezTo>
                <a:lnTo>
                  <a:pt x="101173" y="162907"/>
                </a:lnTo>
                <a:cubicBezTo>
                  <a:pt x="96492" y="156704"/>
                  <a:pt x="97779" y="147927"/>
                  <a:pt x="103982" y="143246"/>
                </a:cubicBezTo>
                <a:cubicBezTo>
                  <a:pt x="110184" y="138564"/>
                  <a:pt x="118962" y="139852"/>
                  <a:pt x="123643" y="146054"/>
                </a:cubicBezTo>
                <a:lnTo>
                  <a:pt x="139442" y="167120"/>
                </a:lnTo>
                <a:lnTo>
                  <a:pt x="175371" y="109599"/>
                </a:lnTo>
                <a:cubicBezTo>
                  <a:pt x="179467" y="103046"/>
                  <a:pt x="188127" y="100998"/>
                  <a:pt x="194739" y="105152"/>
                </a:cubicBezTo>
                <a:cubicBezTo>
                  <a:pt x="201351" y="109307"/>
                  <a:pt x="203341" y="117908"/>
                  <a:pt x="199186" y="12452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8"/>
          <p:cNvSpPr/>
          <p:nvPr/>
        </p:nvSpPr>
        <p:spPr>
          <a:xfrm>
            <a:off x="4363230" y="1464704"/>
            <a:ext cx="3462029" cy="199732"/>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0" i="0" lang="en-US" sz="1048" u="none" cap="none" strike="noStrike">
                <a:solidFill>
                  <a:srgbClr val="FFFFFF"/>
                </a:solidFill>
                <a:latin typeface="Sorts Mill Goudy"/>
                <a:ea typeface="Sorts Mill Goudy"/>
                <a:cs typeface="Sorts Mill Goudy"/>
                <a:sym typeface="Sorts Mill Goudy"/>
              </a:rPr>
              <a:t>Status</a:t>
            </a:r>
            <a:endParaRPr b="0" i="0" sz="1600" u="none" cap="none" strike="noStrike"/>
          </a:p>
        </p:txBody>
      </p:sp>
      <p:sp>
        <p:nvSpPr>
          <p:cNvPr id="166" name="Google Shape;166;p8"/>
          <p:cNvSpPr/>
          <p:nvPr/>
        </p:nvSpPr>
        <p:spPr>
          <a:xfrm>
            <a:off x="4334103" y="1697726"/>
            <a:ext cx="3520284" cy="2995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966" u="none" cap="none" strike="noStrike">
                <a:solidFill>
                  <a:srgbClr val="FFFFFF"/>
                </a:solidFill>
                <a:latin typeface="Sorts Mill Goudy"/>
                <a:ea typeface="Sorts Mill Goudy"/>
                <a:cs typeface="Sorts Mill Goudy"/>
                <a:sym typeface="Sorts Mill Goudy"/>
              </a:rPr>
              <a:t>Pre-extracted</a:t>
            </a:r>
            <a:endParaRPr b="0" i="0" sz="1600" u="none" cap="none" strike="noStrike"/>
          </a:p>
        </p:txBody>
      </p:sp>
      <p:sp>
        <p:nvSpPr>
          <p:cNvPr id="167" name="Google Shape;167;p8"/>
          <p:cNvSpPr/>
          <p:nvPr/>
        </p:nvSpPr>
        <p:spPr>
          <a:xfrm>
            <a:off x="4363230" y="2063902"/>
            <a:ext cx="3462029" cy="199732"/>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0" i="0" lang="en-US" sz="1048" u="none" cap="none" strike="noStrike">
                <a:solidFill>
                  <a:srgbClr val="FFFFFF"/>
                </a:solidFill>
                <a:latin typeface="Sorts Mill Goudy"/>
                <a:ea typeface="Sorts Mill Goudy"/>
                <a:cs typeface="Sorts Mill Goudy"/>
                <a:sym typeface="Sorts Mill Goudy"/>
              </a:rPr>
              <a:t>No further extraction needed</a:t>
            </a:r>
            <a:endParaRPr b="0" i="0" sz="1600" u="none" cap="none" strike="noStrike"/>
          </a:p>
        </p:txBody>
      </p:sp>
      <p:sp>
        <p:nvSpPr>
          <p:cNvPr id="168" name="Google Shape;168;p8"/>
          <p:cNvSpPr/>
          <p:nvPr/>
        </p:nvSpPr>
        <p:spPr>
          <a:xfrm>
            <a:off x="8131489" y="902957"/>
            <a:ext cx="3720016" cy="1622826"/>
          </a:xfrm>
          <a:custGeom>
            <a:rect b="b" l="l" r="r" t="t"/>
            <a:pathLst>
              <a:path extrusionOk="0" h="1622826" w="3720016">
                <a:moveTo>
                  <a:pt x="0" y="0"/>
                </a:moveTo>
                <a:lnTo>
                  <a:pt x="3720016" y="0"/>
                </a:lnTo>
                <a:lnTo>
                  <a:pt x="3720016" y="1622826"/>
                </a:lnTo>
                <a:lnTo>
                  <a:pt x="0" y="1622826"/>
                </a:lnTo>
                <a:lnTo>
                  <a:pt x="0" y="0"/>
                </a:lnTo>
                <a:close/>
              </a:path>
            </a:pathLst>
          </a:custGeom>
          <a:solidFill>
            <a:srgbClr val="F9FAFB"/>
          </a:solidFill>
          <a:ln cap="flat" cmpd="sng" w="12700">
            <a:solidFill>
              <a:srgbClr val="E5E7EB"/>
            </a:solidFill>
            <a:prstDash val="solid"/>
            <a:round/>
            <a:headEnd len="sm" w="sm" type="none"/>
            <a:tailEnd len="sm" w="sm" type="none"/>
          </a:ln>
        </p:spPr>
      </p:sp>
      <p:sp>
        <p:nvSpPr>
          <p:cNvPr id="169" name="Google Shape;169;p8"/>
          <p:cNvSpPr/>
          <p:nvPr/>
        </p:nvSpPr>
        <p:spPr>
          <a:xfrm>
            <a:off x="9842933" y="1073562"/>
            <a:ext cx="299599" cy="299599"/>
          </a:xfrm>
          <a:custGeom>
            <a:rect b="b" l="l" r="r" t="t"/>
            <a:pathLst>
              <a:path extrusionOk="0" h="299599" w="299599">
                <a:moveTo>
                  <a:pt x="136048" y="3043"/>
                </a:moveTo>
                <a:cubicBezTo>
                  <a:pt x="144767" y="-995"/>
                  <a:pt x="154832" y="-995"/>
                  <a:pt x="163550" y="3043"/>
                </a:cubicBezTo>
                <a:lnTo>
                  <a:pt x="291465" y="62143"/>
                </a:lnTo>
                <a:cubicBezTo>
                  <a:pt x="296439" y="64425"/>
                  <a:pt x="299599" y="69399"/>
                  <a:pt x="299599" y="74900"/>
                </a:cubicBezTo>
                <a:cubicBezTo>
                  <a:pt x="299599" y="80400"/>
                  <a:pt x="296439" y="85374"/>
                  <a:pt x="291465" y="87656"/>
                </a:cubicBezTo>
                <a:lnTo>
                  <a:pt x="163550" y="146757"/>
                </a:lnTo>
                <a:cubicBezTo>
                  <a:pt x="154832" y="150794"/>
                  <a:pt x="144767" y="150794"/>
                  <a:pt x="136048" y="146757"/>
                </a:cubicBezTo>
                <a:lnTo>
                  <a:pt x="8134" y="87656"/>
                </a:lnTo>
                <a:cubicBezTo>
                  <a:pt x="3160" y="85315"/>
                  <a:pt x="0" y="80342"/>
                  <a:pt x="0" y="74900"/>
                </a:cubicBezTo>
                <a:cubicBezTo>
                  <a:pt x="0" y="69458"/>
                  <a:pt x="3160" y="64425"/>
                  <a:pt x="8134" y="62143"/>
                </a:cubicBezTo>
                <a:lnTo>
                  <a:pt x="136048" y="3043"/>
                </a:lnTo>
                <a:close/>
                <a:moveTo>
                  <a:pt x="28146" y="127798"/>
                </a:moveTo>
                <a:lnTo>
                  <a:pt x="124287" y="172211"/>
                </a:lnTo>
                <a:cubicBezTo>
                  <a:pt x="140495" y="179701"/>
                  <a:pt x="159162" y="179701"/>
                  <a:pt x="175371" y="172211"/>
                </a:cubicBezTo>
                <a:lnTo>
                  <a:pt x="271511" y="127798"/>
                </a:lnTo>
                <a:lnTo>
                  <a:pt x="291465" y="137043"/>
                </a:lnTo>
                <a:cubicBezTo>
                  <a:pt x="296439" y="139325"/>
                  <a:pt x="299599" y="144299"/>
                  <a:pt x="299599" y="149799"/>
                </a:cubicBezTo>
                <a:cubicBezTo>
                  <a:pt x="299599" y="155300"/>
                  <a:pt x="296439" y="160274"/>
                  <a:pt x="291465" y="162556"/>
                </a:cubicBezTo>
                <a:lnTo>
                  <a:pt x="163550" y="221656"/>
                </a:lnTo>
                <a:cubicBezTo>
                  <a:pt x="154832" y="225694"/>
                  <a:pt x="144767" y="225694"/>
                  <a:pt x="136048" y="221656"/>
                </a:cubicBezTo>
                <a:lnTo>
                  <a:pt x="8134" y="162556"/>
                </a:lnTo>
                <a:cubicBezTo>
                  <a:pt x="3160" y="160215"/>
                  <a:pt x="0" y="155241"/>
                  <a:pt x="0" y="149799"/>
                </a:cubicBezTo>
                <a:cubicBezTo>
                  <a:pt x="0" y="144357"/>
                  <a:pt x="3160" y="139325"/>
                  <a:pt x="8134" y="137043"/>
                </a:cubicBezTo>
                <a:lnTo>
                  <a:pt x="28087" y="127798"/>
                </a:lnTo>
                <a:close/>
                <a:moveTo>
                  <a:pt x="8134" y="211943"/>
                </a:moveTo>
                <a:lnTo>
                  <a:pt x="28087" y="202697"/>
                </a:lnTo>
                <a:lnTo>
                  <a:pt x="124228" y="247110"/>
                </a:lnTo>
                <a:cubicBezTo>
                  <a:pt x="140437" y="254600"/>
                  <a:pt x="159103" y="254600"/>
                  <a:pt x="175312" y="247110"/>
                </a:cubicBezTo>
                <a:lnTo>
                  <a:pt x="271453" y="202697"/>
                </a:lnTo>
                <a:lnTo>
                  <a:pt x="291406" y="211943"/>
                </a:lnTo>
                <a:cubicBezTo>
                  <a:pt x="296380" y="214225"/>
                  <a:pt x="299540" y="219199"/>
                  <a:pt x="299540" y="224699"/>
                </a:cubicBezTo>
                <a:cubicBezTo>
                  <a:pt x="299540" y="230199"/>
                  <a:pt x="296380" y="235173"/>
                  <a:pt x="291406" y="237455"/>
                </a:cubicBezTo>
                <a:lnTo>
                  <a:pt x="163492" y="296556"/>
                </a:lnTo>
                <a:cubicBezTo>
                  <a:pt x="154773" y="300593"/>
                  <a:pt x="144708" y="300593"/>
                  <a:pt x="135990" y="296556"/>
                </a:cubicBezTo>
                <a:lnTo>
                  <a:pt x="8134" y="237455"/>
                </a:lnTo>
                <a:cubicBezTo>
                  <a:pt x="3160" y="235115"/>
                  <a:pt x="0" y="230141"/>
                  <a:pt x="0" y="224699"/>
                </a:cubicBezTo>
                <a:cubicBezTo>
                  <a:pt x="0" y="219257"/>
                  <a:pt x="3160" y="214225"/>
                  <a:pt x="8134" y="211943"/>
                </a:cubicBezTo>
                <a:close/>
              </a:path>
            </a:pathLst>
          </a:custGeom>
          <a:solidFill>
            <a:srgbClr val="8B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8"/>
          <p:cNvSpPr/>
          <p:nvPr/>
        </p:nvSpPr>
        <p:spPr>
          <a:xfrm>
            <a:off x="8268805" y="1473027"/>
            <a:ext cx="3445384" cy="199732"/>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0" i="0" lang="en-US" sz="1048" u="none" cap="none" strike="noStrike">
                <a:solidFill>
                  <a:srgbClr val="6B7280"/>
                </a:solidFill>
                <a:latin typeface="Sorts Mill Goudy"/>
                <a:ea typeface="Sorts Mill Goudy"/>
                <a:cs typeface="Sorts Mill Goudy"/>
                <a:sym typeface="Sorts Mill Goudy"/>
              </a:rPr>
              <a:t>Data Types</a:t>
            </a:r>
            <a:endParaRPr b="0" i="0" sz="1600" u="none" cap="none" strike="noStrike"/>
          </a:p>
        </p:txBody>
      </p:sp>
      <p:sp>
        <p:nvSpPr>
          <p:cNvPr id="171" name="Google Shape;171;p8"/>
          <p:cNvSpPr/>
          <p:nvPr/>
        </p:nvSpPr>
        <p:spPr>
          <a:xfrm>
            <a:off x="8252161" y="1706048"/>
            <a:ext cx="3478673" cy="26631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None/>
            </a:pPr>
            <a:r>
              <a:rPr b="1" i="0" lang="en-US" sz="1573" u="none" cap="none" strike="noStrike">
                <a:solidFill>
                  <a:srgbClr val="1F2937"/>
                </a:solidFill>
                <a:latin typeface="Sorts Mill Goudy"/>
                <a:ea typeface="Sorts Mill Goudy"/>
                <a:cs typeface="Sorts Mill Goudy"/>
                <a:sym typeface="Sorts Mill Goudy"/>
              </a:rPr>
              <a:t>Mixed</a:t>
            </a:r>
            <a:endParaRPr b="0" i="0" sz="1600" u="none" cap="none" strike="noStrike"/>
          </a:p>
        </p:txBody>
      </p:sp>
      <p:sp>
        <p:nvSpPr>
          <p:cNvPr id="172" name="Google Shape;172;p8"/>
          <p:cNvSpPr/>
          <p:nvPr/>
        </p:nvSpPr>
        <p:spPr>
          <a:xfrm>
            <a:off x="8268805" y="2038935"/>
            <a:ext cx="3445384" cy="199732"/>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0" i="0" lang="en-US" sz="1048" u="none" cap="none" strike="noStrike">
                <a:solidFill>
                  <a:srgbClr val="6B7280"/>
                </a:solidFill>
                <a:latin typeface="Sorts Mill Goudy"/>
                <a:ea typeface="Sorts Mill Goudy"/>
                <a:cs typeface="Sorts Mill Goudy"/>
                <a:sym typeface="Sorts Mill Goudy"/>
              </a:rPr>
              <a:t>Integers, Floats, Categories</a:t>
            </a:r>
            <a:endParaRPr b="0" i="0" sz="1600" u="none" cap="none" strike="noStrike"/>
          </a:p>
        </p:txBody>
      </p:sp>
      <p:sp>
        <p:nvSpPr>
          <p:cNvPr id="173" name="Google Shape;173;p8"/>
          <p:cNvSpPr/>
          <p:nvPr/>
        </p:nvSpPr>
        <p:spPr>
          <a:xfrm>
            <a:off x="345371" y="2729676"/>
            <a:ext cx="224699" cy="199732"/>
          </a:xfrm>
          <a:custGeom>
            <a:rect b="b" l="l" r="r" t="t"/>
            <a:pathLst>
              <a:path extrusionOk="0" h="199732" w="224699">
                <a:moveTo>
                  <a:pt x="156509" y="15253"/>
                </a:moveTo>
                <a:lnTo>
                  <a:pt x="214322" y="73885"/>
                </a:lnTo>
                <a:cubicBezTo>
                  <a:pt x="225128" y="84847"/>
                  <a:pt x="225128" y="102402"/>
                  <a:pt x="214322" y="113364"/>
                </a:cubicBezTo>
                <a:lnTo>
                  <a:pt x="153310" y="175117"/>
                </a:lnTo>
                <a:cubicBezTo>
                  <a:pt x="149682" y="178784"/>
                  <a:pt x="143753" y="178823"/>
                  <a:pt x="140086" y="175195"/>
                </a:cubicBezTo>
                <a:cubicBezTo>
                  <a:pt x="136419" y="171567"/>
                  <a:pt x="136380" y="165637"/>
                  <a:pt x="140008" y="161971"/>
                </a:cubicBezTo>
                <a:lnTo>
                  <a:pt x="201020" y="100178"/>
                </a:lnTo>
                <a:cubicBezTo>
                  <a:pt x="204609" y="96550"/>
                  <a:pt x="204609" y="90660"/>
                  <a:pt x="201020" y="87032"/>
                </a:cubicBezTo>
                <a:lnTo>
                  <a:pt x="143168" y="28438"/>
                </a:lnTo>
                <a:cubicBezTo>
                  <a:pt x="139540" y="24772"/>
                  <a:pt x="139579" y="18842"/>
                  <a:pt x="143246" y="15214"/>
                </a:cubicBezTo>
                <a:cubicBezTo>
                  <a:pt x="146913" y="11586"/>
                  <a:pt x="152842" y="11625"/>
                  <a:pt x="156470" y="15292"/>
                </a:cubicBezTo>
                <a:close/>
                <a:moveTo>
                  <a:pt x="12522" y="89528"/>
                </a:moveTo>
                <a:lnTo>
                  <a:pt x="12522" y="37450"/>
                </a:lnTo>
                <a:cubicBezTo>
                  <a:pt x="12522" y="23679"/>
                  <a:pt x="23718" y="12483"/>
                  <a:pt x="37489" y="12483"/>
                </a:cubicBezTo>
                <a:lnTo>
                  <a:pt x="89568" y="12483"/>
                </a:lnTo>
                <a:cubicBezTo>
                  <a:pt x="96199" y="12483"/>
                  <a:pt x="102558" y="15097"/>
                  <a:pt x="107239" y="19778"/>
                </a:cubicBezTo>
                <a:lnTo>
                  <a:pt x="163414" y="75953"/>
                </a:lnTo>
                <a:cubicBezTo>
                  <a:pt x="173166" y="85705"/>
                  <a:pt x="173166" y="101505"/>
                  <a:pt x="163414" y="111257"/>
                </a:cubicBezTo>
                <a:lnTo>
                  <a:pt x="111335" y="163336"/>
                </a:lnTo>
                <a:cubicBezTo>
                  <a:pt x="101583" y="173088"/>
                  <a:pt x="85784" y="173088"/>
                  <a:pt x="76031" y="163336"/>
                </a:cubicBezTo>
                <a:lnTo>
                  <a:pt x="19856" y="107161"/>
                </a:lnTo>
                <a:cubicBezTo>
                  <a:pt x="15175" y="102480"/>
                  <a:pt x="12561" y="96121"/>
                  <a:pt x="12561" y="89489"/>
                </a:cubicBezTo>
                <a:close/>
                <a:moveTo>
                  <a:pt x="68697" y="56175"/>
                </a:moveTo>
                <a:cubicBezTo>
                  <a:pt x="68697" y="49285"/>
                  <a:pt x="63103" y="43691"/>
                  <a:pt x="56214" y="43691"/>
                </a:cubicBezTo>
                <a:cubicBezTo>
                  <a:pt x="49324" y="43691"/>
                  <a:pt x="43730" y="49285"/>
                  <a:pt x="43730" y="56175"/>
                </a:cubicBezTo>
                <a:cubicBezTo>
                  <a:pt x="43730" y="63064"/>
                  <a:pt x="49324" y="68658"/>
                  <a:pt x="56214" y="68658"/>
                </a:cubicBezTo>
                <a:cubicBezTo>
                  <a:pt x="63103" y="68658"/>
                  <a:pt x="68697" y="63064"/>
                  <a:pt x="68697" y="56175"/>
                </a:cubicBezTo>
                <a:close/>
              </a:path>
            </a:pathLst>
          </a:custGeom>
          <a:solidFill>
            <a:srgbClr val="8B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8"/>
          <p:cNvSpPr/>
          <p:nvPr/>
        </p:nvSpPr>
        <p:spPr>
          <a:xfrm>
            <a:off x="582553" y="2696388"/>
            <a:ext cx="5509286" cy="26631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i="0" lang="en-US" sz="1573" u="none" cap="none" strike="noStrike">
                <a:solidFill>
                  <a:srgbClr val="8B0000"/>
                </a:solidFill>
                <a:latin typeface="Sorts Mill Goudy"/>
                <a:ea typeface="Sorts Mill Goudy"/>
                <a:cs typeface="Sorts Mill Goudy"/>
                <a:sym typeface="Sorts Mill Goudy"/>
              </a:rPr>
              <a:t>Feature Categories</a:t>
            </a:r>
            <a:endParaRPr b="0" i="0" sz="1600" u="none" cap="none" strike="noStrike"/>
          </a:p>
        </p:txBody>
      </p:sp>
      <p:sp>
        <p:nvSpPr>
          <p:cNvPr id="175" name="Google Shape;175;p8"/>
          <p:cNvSpPr/>
          <p:nvPr/>
        </p:nvSpPr>
        <p:spPr>
          <a:xfrm>
            <a:off x="349532" y="3095853"/>
            <a:ext cx="5642441" cy="1065240"/>
          </a:xfrm>
          <a:custGeom>
            <a:rect b="b" l="l" r="r" t="t"/>
            <a:pathLst>
              <a:path extrusionOk="0" h="1065240" w="5642441">
                <a:moveTo>
                  <a:pt x="0" y="0"/>
                </a:moveTo>
                <a:lnTo>
                  <a:pt x="5642441" y="0"/>
                </a:lnTo>
                <a:lnTo>
                  <a:pt x="5642441" y="1065240"/>
                </a:lnTo>
                <a:lnTo>
                  <a:pt x="0" y="1065240"/>
                </a:lnTo>
                <a:lnTo>
                  <a:pt x="0" y="0"/>
                </a:lnTo>
                <a:close/>
              </a:path>
            </a:pathLst>
          </a:custGeom>
          <a:solidFill>
            <a:srgbClr val="F9FAFB"/>
          </a:solidFill>
          <a:ln>
            <a:noFill/>
          </a:ln>
        </p:spPr>
      </p:sp>
      <p:sp>
        <p:nvSpPr>
          <p:cNvPr id="176" name="Google Shape;176;p8"/>
          <p:cNvSpPr/>
          <p:nvPr/>
        </p:nvSpPr>
        <p:spPr>
          <a:xfrm>
            <a:off x="349532" y="3095853"/>
            <a:ext cx="33289" cy="1065240"/>
          </a:xfrm>
          <a:custGeom>
            <a:rect b="b" l="l" r="r" t="t"/>
            <a:pathLst>
              <a:path extrusionOk="0" h="1065240" w="33289">
                <a:moveTo>
                  <a:pt x="0" y="0"/>
                </a:moveTo>
                <a:lnTo>
                  <a:pt x="33289" y="0"/>
                </a:lnTo>
                <a:lnTo>
                  <a:pt x="33289" y="1065240"/>
                </a:lnTo>
                <a:lnTo>
                  <a:pt x="0" y="1065240"/>
                </a:lnTo>
                <a:lnTo>
                  <a:pt x="0" y="0"/>
                </a:lnTo>
                <a:close/>
              </a:path>
            </a:pathLst>
          </a:custGeom>
          <a:solidFill>
            <a:srgbClr val="8B0000"/>
          </a:solidFill>
          <a:ln>
            <a:noFill/>
          </a:ln>
        </p:spPr>
      </p:sp>
      <p:sp>
        <p:nvSpPr>
          <p:cNvPr id="177" name="Google Shape;177;p8"/>
          <p:cNvSpPr/>
          <p:nvPr/>
        </p:nvSpPr>
        <p:spPr>
          <a:xfrm>
            <a:off x="499331" y="3195719"/>
            <a:ext cx="5567541" cy="233021"/>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i="0" lang="en-US" sz="1180" u="none" cap="none" strike="noStrike">
                <a:solidFill>
                  <a:srgbClr val="1F2937"/>
                </a:solidFill>
                <a:latin typeface="Sorts Mill Goudy"/>
                <a:ea typeface="Sorts Mill Goudy"/>
                <a:cs typeface="Sorts Mill Goudy"/>
                <a:sym typeface="Sorts Mill Goudy"/>
              </a:rPr>
              <a:t>URL-based Features</a:t>
            </a:r>
            <a:endParaRPr b="0" i="0" sz="1600" u="none" cap="none" strike="noStrike"/>
          </a:p>
        </p:txBody>
      </p:sp>
      <p:sp>
        <p:nvSpPr>
          <p:cNvPr id="178" name="Google Shape;178;p8"/>
          <p:cNvSpPr/>
          <p:nvPr/>
        </p:nvSpPr>
        <p:spPr>
          <a:xfrm>
            <a:off x="503492" y="3499478"/>
            <a:ext cx="815574" cy="241343"/>
          </a:xfrm>
          <a:custGeom>
            <a:rect b="b" l="l" r="r" t="t"/>
            <a:pathLst>
              <a:path extrusionOk="0" h="241343" w="815574">
                <a:moveTo>
                  <a:pt x="0" y="0"/>
                </a:moveTo>
                <a:lnTo>
                  <a:pt x="815574" y="0"/>
                </a:lnTo>
                <a:lnTo>
                  <a:pt x="815574" y="241343"/>
                </a:lnTo>
                <a:lnTo>
                  <a:pt x="0" y="241343"/>
                </a:lnTo>
                <a:lnTo>
                  <a:pt x="0" y="0"/>
                </a:lnTo>
                <a:close/>
              </a:path>
            </a:pathLst>
          </a:custGeom>
          <a:solidFill>
            <a:srgbClr val="FFFFFF"/>
          </a:solidFill>
          <a:ln cap="flat" cmpd="sng" w="12700">
            <a:solidFill>
              <a:srgbClr val="E5E7EB"/>
            </a:solidFill>
            <a:prstDash val="solid"/>
            <a:round/>
            <a:headEnd len="sm" w="sm" type="none"/>
            <a:tailEnd len="sm" w="sm" type="none"/>
          </a:ln>
        </p:spPr>
      </p:sp>
      <p:sp>
        <p:nvSpPr>
          <p:cNvPr id="179" name="Google Shape;179;p8"/>
          <p:cNvSpPr/>
          <p:nvPr/>
        </p:nvSpPr>
        <p:spPr>
          <a:xfrm>
            <a:off x="499331" y="3495317"/>
            <a:ext cx="865507" cy="233021"/>
          </a:xfrm>
          <a:prstGeom prst="rect">
            <a:avLst/>
          </a:prstGeom>
          <a:noFill/>
          <a:ln>
            <a:noFill/>
          </a:ln>
        </p:spPr>
        <p:txBody>
          <a:bodyPr anchorCtr="0" anchor="ctr" bIns="33275" lIns="99850" spcFirstLastPara="1" rIns="99850" wrap="square" tIns="33275">
            <a:noAutofit/>
          </a:bodyPr>
          <a:lstStyle/>
          <a:p>
            <a:pPr indent="0" lvl="0" marL="0" marR="0" rtl="0" algn="l">
              <a:lnSpc>
                <a:spcPct val="120000"/>
              </a:lnSpc>
              <a:spcBef>
                <a:spcPts val="0"/>
              </a:spcBef>
              <a:spcAft>
                <a:spcPts val="0"/>
              </a:spcAft>
              <a:buNone/>
            </a:pPr>
            <a:r>
              <a:rPr b="0" i="0" lang="en-US" sz="917" u="none" cap="none" strike="noStrike">
                <a:solidFill>
                  <a:srgbClr val="1F2937"/>
                </a:solidFill>
                <a:latin typeface="Sorts Mill Goudy"/>
                <a:ea typeface="Sorts Mill Goudy"/>
                <a:cs typeface="Sorts Mill Goudy"/>
                <a:sym typeface="Sorts Mill Goudy"/>
              </a:rPr>
              <a:t>URLLength</a:t>
            </a:r>
            <a:endParaRPr b="0" i="0" sz="1600" u="none" cap="none" strike="noStrike"/>
          </a:p>
        </p:txBody>
      </p:sp>
      <p:sp>
        <p:nvSpPr>
          <p:cNvPr id="180" name="Google Shape;180;p8"/>
          <p:cNvSpPr/>
          <p:nvPr/>
        </p:nvSpPr>
        <p:spPr>
          <a:xfrm>
            <a:off x="1393836" y="3499478"/>
            <a:ext cx="973696" cy="241343"/>
          </a:xfrm>
          <a:custGeom>
            <a:rect b="b" l="l" r="r" t="t"/>
            <a:pathLst>
              <a:path extrusionOk="0" h="241343" w="973696">
                <a:moveTo>
                  <a:pt x="0" y="0"/>
                </a:moveTo>
                <a:lnTo>
                  <a:pt x="973696" y="0"/>
                </a:lnTo>
                <a:lnTo>
                  <a:pt x="973696" y="241343"/>
                </a:lnTo>
                <a:lnTo>
                  <a:pt x="0" y="241343"/>
                </a:lnTo>
                <a:lnTo>
                  <a:pt x="0" y="0"/>
                </a:lnTo>
                <a:close/>
              </a:path>
            </a:pathLst>
          </a:custGeom>
          <a:solidFill>
            <a:srgbClr val="FFFFFF"/>
          </a:solidFill>
          <a:ln cap="flat" cmpd="sng" w="12700">
            <a:solidFill>
              <a:srgbClr val="E5E7EB"/>
            </a:solidFill>
            <a:prstDash val="solid"/>
            <a:round/>
            <a:headEnd len="sm" w="sm" type="none"/>
            <a:tailEnd len="sm" w="sm" type="none"/>
          </a:ln>
        </p:spPr>
      </p:sp>
      <p:sp>
        <p:nvSpPr>
          <p:cNvPr id="181" name="Google Shape;181;p8"/>
          <p:cNvSpPr/>
          <p:nvPr/>
        </p:nvSpPr>
        <p:spPr>
          <a:xfrm>
            <a:off x="1389675" y="3495317"/>
            <a:ext cx="1023629" cy="233021"/>
          </a:xfrm>
          <a:prstGeom prst="rect">
            <a:avLst/>
          </a:prstGeom>
          <a:noFill/>
          <a:ln>
            <a:noFill/>
          </a:ln>
        </p:spPr>
        <p:txBody>
          <a:bodyPr anchorCtr="0" anchor="ctr" bIns="33275" lIns="99850" spcFirstLastPara="1" rIns="99850" wrap="square" tIns="33275">
            <a:noAutofit/>
          </a:bodyPr>
          <a:lstStyle/>
          <a:p>
            <a:pPr indent="0" lvl="0" marL="0" marR="0" rtl="0" algn="l">
              <a:lnSpc>
                <a:spcPct val="120000"/>
              </a:lnSpc>
              <a:spcBef>
                <a:spcPts val="0"/>
              </a:spcBef>
              <a:spcAft>
                <a:spcPts val="0"/>
              </a:spcAft>
              <a:buNone/>
            </a:pPr>
            <a:r>
              <a:rPr b="0" i="0" lang="en-US" sz="917" u="none" cap="none" strike="noStrike">
                <a:solidFill>
                  <a:srgbClr val="1F2937"/>
                </a:solidFill>
                <a:latin typeface="Sorts Mill Goudy"/>
                <a:ea typeface="Sorts Mill Goudy"/>
                <a:cs typeface="Sorts Mill Goudy"/>
                <a:sym typeface="Sorts Mill Goudy"/>
              </a:rPr>
              <a:t>DomainLength</a:t>
            </a:r>
            <a:endParaRPr b="0" i="0" sz="1600" u="none" cap="none" strike="noStrike"/>
          </a:p>
        </p:txBody>
      </p:sp>
      <p:sp>
        <p:nvSpPr>
          <p:cNvPr id="182" name="Google Shape;182;p8"/>
          <p:cNvSpPr/>
          <p:nvPr/>
        </p:nvSpPr>
        <p:spPr>
          <a:xfrm>
            <a:off x="2443341" y="3499478"/>
            <a:ext cx="807252" cy="241343"/>
          </a:xfrm>
          <a:custGeom>
            <a:rect b="b" l="l" r="r" t="t"/>
            <a:pathLst>
              <a:path extrusionOk="0" h="241343" w="807252">
                <a:moveTo>
                  <a:pt x="0" y="0"/>
                </a:moveTo>
                <a:lnTo>
                  <a:pt x="807252" y="0"/>
                </a:lnTo>
                <a:lnTo>
                  <a:pt x="807252" y="241343"/>
                </a:lnTo>
                <a:lnTo>
                  <a:pt x="0" y="241343"/>
                </a:lnTo>
                <a:lnTo>
                  <a:pt x="0" y="0"/>
                </a:lnTo>
                <a:close/>
              </a:path>
            </a:pathLst>
          </a:custGeom>
          <a:solidFill>
            <a:srgbClr val="FFFFFF"/>
          </a:solidFill>
          <a:ln cap="flat" cmpd="sng" w="12700">
            <a:solidFill>
              <a:srgbClr val="E5E7EB"/>
            </a:solidFill>
            <a:prstDash val="solid"/>
            <a:round/>
            <a:headEnd len="sm" w="sm" type="none"/>
            <a:tailEnd len="sm" w="sm" type="none"/>
          </a:ln>
        </p:spPr>
      </p:sp>
      <p:sp>
        <p:nvSpPr>
          <p:cNvPr id="183" name="Google Shape;183;p8"/>
          <p:cNvSpPr/>
          <p:nvPr/>
        </p:nvSpPr>
        <p:spPr>
          <a:xfrm>
            <a:off x="2439180" y="3495317"/>
            <a:ext cx="857185" cy="233021"/>
          </a:xfrm>
          <a:prstGeom prst="rect">
            <a:avLst/>
          </a:prstGeom>
          <a:noFill/>
          <a:ln>
            <a:noFill/>
          </a:ln>
        </p:spPr>
        <p:txBody>
          <a:bodyPr anchorCtr="0" anchor="ctr" bIns="33275" lIns="99850" spcFirstLastPara="1" rIns="99850" wrap="square" tIns="33275">
            <a:noAutofit/>
          </a:bodyPr>
          <a:lstStyle/>
          <a:p>
            <a:pPr indent="0" lvl="0" marL="0" marR="0" rtl="0" algn="l">
              <a:lnSpc>
                <a:spcPct val="120000"/>
              </a:lnSpc>
              <a:spcBef>
                <a:spcPts val="0"/>
              </a:spcBef>
              <a:spcAft>
                <a:spcPts val="0"/>
              </a:spcAft>
              <a:buNone/>
            </a:pPr>
            <a:r>
              <a:rPr b="0" i="0" lang="en-US" sz="917" u="none" cap="none" strike="noStrike">
                <a:solidFill>
                  <a:srgbClr val="1F2937"/>
                </a:solidFill>
                <a:latin typeface="Sorts Mill Goudy"/>
                <a:ea typeface="Sorts Mill Goudy"/>
                <a:cs typeface="Sorts Mill Goudy"/>
                <a:sym typeface="Sorts Mill Goudy"/>
              </a:rPr>
              <a:t>IsDomainIP</a:t>
            </a:r>
            <a:endParaRPr b="0" i="0" sz="1600" u="none" cap="none" strike="noStrike"/>
          </a:p>
        </p:txBody>
      </p:sp>
      <p:sp>
        <p:nvSpPr>
          <p:cNvPr id="184" name="Google Shape;184;p8"/>
          <p:cNvSpPr/>
          <p:nvPr/>
        </p:nvSpPr>
        <p:spPr>
          <a:xfrm>
            <a:off x="3322307" y="3499478"/>
            <a:ext cx="449398" cy="241343"/>
          </a:xfrm>
          <a:custGeom>
            <a:rect b="b" l="l" r="r" t="t"/>
            <a:pathLst>
              <a:path extrusionOk="0" h="241343" w="449398">
                <a:moveTo>
                  <a:pt x="0" y="0"/>
                </a:moveTo>
                <a:lnTo>
                  <a:pt x="449398" y="0"/>
                </a:lnTo>
                <a:lnTo>
                  <a:pt x="449398" y="241343"/>
                </a:lnTo>
                <a:lnTo>
                  <a:pt x="0" y="241343"/>
                </a:lnTo>
                <a:lnTo>
                  <a:pt x="0" y="0"/>
                </a:lnTo>
                <a:close/>
              </a:path>
            </a:pathLst>
          </a:custGeom>
          <a:solidFill>
            <a:srgbClr val="FFFFFF"/>
          </a:solidFill>
          <a:ln cap="flat" cmpd="sng" w="12700">
            <a:solidFill>
              <a:srgbClr val="E5E7EB"/>
            </a:solidFill>
            <a:prstDash val="solid"/>
            <a:round/>
            <a:headEnd len="sm" w="sm" type="none"/>
            <a:tailEnd len="sm" w="sm" type="none"/>
          </a:ln>
        </p:spPr>
      </p:sp>
      <p:sp>
        <p:nvSpPr>
          <p:cNvPr id="185" name="Google Shape;185;p8"/>
          <p:cNvSpPr/>
          <p:nvPr/>
        </p:nvSpPr>
        <p:spPr>
          <a:xfrm>
            <a:off x="3318146" y="3495317"/>
            <a:ext cx="499331" cy="233021"/>
          </a:xfrm>
          <a:prstGeom prst="rect">
            <a:avLst/>
          </a:prstGeom>
          <a:noFill/>
          <a:ln>
            <a:noFill/>
          </a:ln>
        </p:spPr>
        <p:txBody>
          <a:bodyPr anchorCtr="0" anchor="ctr" bIns="33275" lIns="99850" spcFirstLastPara="1" rIns="99850" wrap="square" tIns="33275">
            <a:noAutofit/>
          </a:bodyPr>
          <a:lstStyle/>
          <a:p>
            <a:pPr indent="0" lvl="0" marL="0" marR="0" rtl="0" algn="l">
              <a:lnSpc>
                <a:spcPct val="120000"/>
              </a:lnSpc>
              <a:spcBef>
                <a:spcPts val="0"/>
              </a:spcBef>
              <a:spcAft>
                <a:spcPts val="0"/>
              </a:spcAft>
              <a:buNone/>
            </a:pPr>
            <a:r>
              <a:rPr b="0" i="0" lang="en-US" sz="917" u="none" cap="none" strike="noStrike">
                <a:solidFill>
                  <a:srgbClr val="1F2937"/>
                </a:solidFill>
                <a:latin typeface="Sorts Mill Goudy"/>
                <a:ea typeface="Sorts Mill Goudy"/>
                <a:cs typeface="Sorts Mill Goudy"/>
                <a:sym typeface="Sorts Mill Goudy"/>
              </a:rPr>
              <a:t>TLD</a:t>
            </a:r>
            <a:endParaRPr b="0" i="0" sz="1600" u="none" cap="none" strike="noStrike"/>
          </a:p>
        </p:txBody>
      </p:sp>
      <p:sp>
        <p:nvSpPr>
          <p:cNvPr id="186" name="Google Shape;186;p8"/>
          <p:cNvSpPr/>
          <p:nvPr/>
        </p:nvSpPr>
        <p:spPr>
          <a:xfrm>
            <a:off x="3849725" y="3499478"/>
            <a:ext cx="1240005" cy="241343"/>
          </a:xfrm>
          <a:custGeom>
            <a:rect b="b" l="l" r="r" t="t"/>
            <a:pathLst>
              <a:path extrusionOk="0" h="241343" w="1240005">
                <a:moveTo>
                  <a:pt x="0" y="0"/>
                </a:moveTo>
                <a:lnTo>
                  <a:pt x="1240005" y="0"/>
                </a:lnTo>
                <a:lnTo>
                  <a:pt x="1240005" y="241343"/>
                </a:lnTo>
                <a:lnTo>
                  <a:pt x="0" y="241343"/>
                </a:lnTo>
                <a:lnTo>
                  <a:pt x="0" y="0"/>
                </a:lnTo>
                <a:close/>
              </a:path>
            </a:pathLst>
          </a:custGeom>
          <a:solidFill>
            <a:srgbClr val="FFFFFF"/>
          </a:solidFill>
          <a:ln cap="flat" cmpd="sng" w="12700">
            <a:solidFill>
              <a:srgbClr val="E5E7EB"/>
            </a:solidFill>
            <a:prstDash val="solid"/>
            <a:round/>
            <a:headEnd len="sm" w="sm" type="none"/>
            <a:tailEnd len="sm" w="sm" type="none"/>
          </a:ln>
        </p:spPr>
      </p:sp>
      <p:sp>
        <p:nvSpPr>
          <p:cNvPr id="187" name="Google Shape;187;p8"/>
          <p:cNvSpPr/>
          <p:nvPr/>
        </p:nvSpPr>
        <p:spPr>
          <a:xfrm>
            <a:off x="3845564" y="3495317"/>
            <a:ext cx="1289939" cy="233021"/>
          </a:xfrm>
          <a:prstGeom prst="rect">
            <a:avLst/>
          </a:prstGeom>
          <a:noFill/>
          <a:ln>
            <a:noFill/>
          </a:ln>
        </p:spPr>
        <p:txBody>
          <a:bodyPr anchorCtr="0" anchor="ctr" bIns="33275" lIns="99850" spcFirstLastPara="1" rIns="99850" wrap="square" tIns="33275">
            <a:noAutofit/>
          </a:bodyPr>
          <a:lstStyle/>
          <a:p>
            <a:pPr indent="0" lvl="0" marL="0" marR="0" rtl="0" algn="l">
              <a:lnSpc>
                <a:spcPct val="120000"/>
              </a:lnSpc>
              <a:spcBef>
                <a:spcPts val="0"/>
              </a:spcBef>
              <a:spcAft>
                <a:spcPts val="0"/>
              </a:spcAft>
              <a:buNone/>
            </a:pPr>
            <a:r>
              <a:rPr b="0" i="0" lang="en-US" sz="917" u="none" cap="none" strike="noStrike">
                <a:solidFill>
                  <a:srgbClr val="1F2937"/>
                </a:solidFill>
                <a:latin typeface="Sorts Mill Goudy"/>
                <a:ea typeface="Sorts Mill Goudy"/>
                <a:cs typeface="Sorts Mill Goudy"/>
                <a:sym typeface="Sorts Mill Goudy"/>
              </a:rPr>
              <a:t>URLSimilarityIndex</a:t>
            </a:r>
            <a:endParaRPr b="0" i="0" sz="1600" u="none" cap="none" strike="noStrike"/>
          </a:p>
        </p:txBody>
      </p:sp>
      <p:sp>
        <p:nvSpPr>
          <p:cNvPr id="188" name="Google Shape;188;p8"/>
          <p:cNvSpPr/>
          <p:nvPr/>
        </p:nvSpPr>
        <p:spPr>
          <a:xfrm>
            <a:off x="503492" y="3815722"/>
            <a:ext cx="957051" cy="241343"/>
          </a:xfrm>
          <a:custGeom>
            <a:rect b="b" l="l" r="r" t="t"/>
            <a:pathLst>
              <a:path extrusionOk="0" h="241343" w="957051">
                <a:moveTo>
                  <a:pt x="0" y="0"/>
                </a:moveTo>
                <a:lnTo>
                  <a:pt x="957051" y="0"/>
                </a:lnTo>
                <a:lnTo>
                  <a:pt x="957051" y="241343"/>
                </a:lnTo>
                <a:lnTo>
                  <a:pt x="0" y="241343"/>
                </a:lnTo>
                <a:lnTo>
                  <a:pt x="0" y="0"/>
                </a:lnTo>
                <a:close/>
              </a:path>
            </a:pathLst>
          </a:custGeom>
          <a:solidFill>
            <a:srgbClr val="FFFFFF"/>
          </a:solidFill>
          <a:ln cap="flat" cmpd="sng" w="12700">
            <a:solidFill>
              <a:srgbClr val="E5E7EB"/>
            </a:solidFill>
            <a:prstDash val="solid"/>
            <a:round/>
            <a:headEnd len="sm" w="sm" type="none"/>
            <a:tailEnd len="sm" w="sm" type="none"/>
          </a:ln>
        </p:spPr>
      </p:sp>
      <p:sp>
        <p:nvSpPr>
          <p:cNvPr id="189" name="Google Shape;189;p8"/>
          <p:cNvSpPr/>
          <p:nvPr/>
        </p:nvSpPr>
        <p:spPr>
          <a:xfrm>
            <a:off x="499331" y="3811560"/>
            <a:ext cx="1006984" cy="233021"/>
          </a:xfrm>
          <a:prstGeom prst="rect">
            <a:avLst/>
          </a:prstGeom>
          <a:noFill/>
          <a:ln>
            <a:noFill/>
          </a:ln>
        </p:spPr>
        <p:txBody>
          <a:bodyPr anchorCtr="0" anchor="ctr" bIns="33275" lIns="99850" spcFirstLastPara="1" rIns="99850" wrap="square" tIns="33275">
            <a:noAutofit/>
          </a:bodyPr>
          <a:lstStyle/>
          <a:p>
            <a:pPr indent="0" lvl="0" marL="0" marR="0" rtl="0" algn="l">
              <a:lnSpc>
                <a:spcPct val="120000"/>
              </a:lnSpc>
              <a:spcBef>
                <a:spcPts val="0"/>
              </a:spcBef>
              <a:spcAft>
                <a:spcPts val="0"/>
              </a:spcAft>
              <a:buNone/>
            </a:pPr>
            <a:r>
              <a:rPr b="0" i="0" lang="en-US" sz="917" u="none" cap="none" strike="noStrike">
                <a:solidFill>
                  <a:srgbClr val="1F2937"/>
                </a:solidFill>
                <a:latin typeface="Sorts Mill Goudy"/>
                <a:ea typeface="Sorts Mill Goudy"/>
                <a:cs typeface="Sorts Mill Goudy"/>
                <a:sym typeface="Sorts Mill Goudy"/>
              </a:rPr>
              <a:t>URLCharProb</a:t>
            </a:r>
            <a:endParaRPr b="0" i="0" sz="1600" u="none" cap="none" strike="noStrike"/>
          </a:p>
        </p:txBody>
      </p:sp>
      <p:sp>
        <p:nvSpPr>
          <p:cNvPr id="190" name="Google Shape;190;p8"/>
          <p:cNvSpPr/>
          <p:nvPr/>
        </p:nvSpPr>
        <p:spPr>
          <a:xfrm>
            <a:off x="349532" y="4260958"/>
            <a:ext cx="5642441" cy="748997"/>
          </a:xfrm>
          <a:custGeom>
            <a:rect b="b" l="l" r="r" t="t"/>
            <a:pathLst>
              <a:path extrusionOk="0" h="748997" w="5642441">
                <a:moveTo>
                  <a:pt x="0" y="0"/>
                </a:moveTo>
                <a:lnTo>
                  <a:pt x="5642441" y="0"/>
                </a:lnTo>
                <a:lnTo>
                  <a:pt x="5642441" y="748997"/>
                </a:lnTo>
                <a:lnTo>
                  <a:pt x="0" y="748997"/>
                </a:lnTo>
                <a:lnTo>
                  <a:pt x="0" y="0"/>
                </a:lnTo>
                <a:close/>
              </a:path>
            </a:pathLst>
          </a:custGeom>
          <a:solidFill>
            <a:srgbClr val="F9FAFB"/>
          </a:solidFill>
          <a:ln>
            <a:noFill/>
          </a:ln>
        </p:spPr>
      </p:sp>
      <p:sp>
        <p:nvSpPr>
          <p:cNvPr id="191" name="Google Shape;191;p8"/>
          <p:cNvSpPr/>
          <p:nvPr/>
        </p:nvSpPr>
        <p:spPr>
          <a:xfrm>
            <a:off x="349532" y="4260958"/>
            <a:ext cx="33289" cy="748997"/>
          </a:xfrm>
          <a:custGeom>
            <a:rect b="b" l="l" r="r" t="t"/>
            <a:pathLst>
              <a:path extrusionOk="0" h="748997" w="33289">
                <a:moveTo>
                  <a:pt x="0" y="0"/>
                </a:moveTo>
                <a:lnTo>
                  <a:pt x="33289" y="0"/>
                </a:lnTo>
                <a:lnTo>
                  <a:pt x="33289" y="748997"/>
                </a:lnTo>
                <a:lnTo>
                  <a:pt x="0" y="748997"/>
                </a:lnTo>
                <a:lnTo>
                  <a:pt x="0" y="0"/>
                </a:lnTo>
                <a:close/>
              </a:path>
            </a:pathLst>
          </a:custGeom>
          <a:solidFill>
            <a:srgbClr val="8B0000"/>
          </a:solidFill>
          <a:ln>
            <a:noFill/>
          </a:ln>
        </p:spPr>
      </p:sp>
      <p:sp>
        <p:nvSpPr>
          <p:cNvPr id="192" name="Google Shape;192;p8"/>
          <p:cNvSpPr/>
          <p:nvPr/>
        </p:nvSpPr>
        <p:spPr>
          <a:xfrm>
            <a:off x="499331" y="4360825"/>
            <a:ext cx="5567541" cy="233021"/>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i="0" lang="en-US" sz="1180" u="none" cap="none" strike="noStrike">
                <a:solidFill>
                  <a:srgbClr val="1F2937"/>
                </a:solidFill>
                <a:latin typeface="Sorts Mill Goudy"/>
                <a:ea typeface="Sorts Mill Goudy"/>
                <a:cs typeface="Sorts Mill Goudy"/>
                <a:sym typeface="Sorts Mill Goudy"/>
              </a:rPr>
              <a:t>Content-based Features</a:t>
            </a:r>
            <a:endParaRPr b="0" i="0" sz="1600" u="none" cap="none" strike="noStrike"/>
          </a:p>
        </p:txBody>
      </p:sp>
      <p:sp>
        <p:nvSpPr>
          <p:cNvPr id="193" name="Google Shape;193;p8"/>
          <p:cNvSpPr/>
          <p:nvPr/>
        </p:nvSpPr>
        <p:spPr>
          <a:xfrm>
            <a:off x="503492" y="4664584"/>
            <a:ext cx="1398127" cy="241343"/>
          </a:xfrm>
          <a:custGeom>
            <a:rect b="b" l="l" r="r" t="t"/>
            <a:pathLst>
              <a:path extrusionOk="0" h="241343" w="1398127">
                <a:moveTo>
                  <a:pt x="0" y="0"/>
                </a:moveTo>
                <a:lnTo>
                  <a:pt x="1398127" y="0"/>
                </a:lnTo>
                <a:lnTo>
                  <a:pt x="1398127" y="241343"/>
                </a:lnTo>
                <a:lnTo>
                  <a:pt x="0" y="241343"/>
                </a:lnTo>
                <a:lnTo>
                  <a:pt x="0" y="0"/>
                </a:lnTo>
                <a:close/>
              </a:path>
            </a:pathLst>
          </a:custGeom>
          <a:solidFill>
            <a:srgbClr val="FFFFFF"/>
          </a:solidFill>
          <a:ln cap="flat" cmpd="sng" w="12700">
            <a:solidFill>
              <a:srgbClr val="E5E7EB"/>
            </a:solidFill>
            <a:prstDash val="solid"/>
            <a:round/>
            <a:headEnd len="sm" w="sm" type="none"/>
            <a:tailEnd len="sm" w="sm" type="none"/>
          </a:ln>
        </p:spPr>
      </p:sp>
      <p:sp>
        <p:nvSpPr>
          <p:cNvPr id="194" name="Google Shape;194;p8"/>
          <p:cNvSpPr/>
          <p:nvPr/>
        </p:nvSpPr>
        <p:spPr>
          <a:xfrm>
            <a:off x="499331" y="4660423"/>
            <a:ext cx="1448060" cy="233021"/>
          </a:xfrm>
          <a:prstGeom prst="rect">
            <a:avLst/>
          </a:prstGeom>
          <a:noFill/>
          <a:ln>
            <a:noFill/>
          </a:ln>
        </p:spPr>
        <p:txBody>
          <a:bodyPr anchorCtr="0" anchor="ctr" bIns="33275" lIns="99850" spcFirstLastPara="1" rIns="99850" wrap="square" tIns="33275">
            <a:noAutofit/>
          </a:bodyPr>
          <a:lstStyle/>
          <a:p>
            <a:pPr indent="0" lvl="0" marL="0" marR="0" rtl="0" algn="l">
              <a:lnSpc>
                <a:spcPct val="120000"/>
              </a:lnSpc>
              <a:spcBef>
                <a:spcPts val="0"/>
              </a:spcBef>
              <a:spcAft>
                <a:spcPts val="0"/>
              </a:spcAft>
              <a:buNone/>
            </a:pPr>
            <a:r>
              <a:rPr b="0" i="0" lang="en-US" sz="917" u="none" cap="none" strike="noStrike">
                <a:solidFill>
                  <a:srgbClr val="1F2937"/>
                </a:solidFill>
                <a:latin typeface="Sorts Mill Goudy"/>
                <a:ea typeface="Sorts Mill Goudy"/>
                <a:cs typeface="Sorts Mill Goudy"/>
                <a:sym typeface="Sorts Mill Goudy"/>
              </a:rPr>
              <a:t>CharContinuationRate</a:t>
            </a:r>
            <a:endParaRPr b="0" i="0" sz="1600" u="none" cap="none" strike="noStrike"/>
          </a:p>
        </p:txBody>
      </p:sp>
      <p:sp>
        <p:nvSpPr>
          <p:cNvPr id="195" name="Google Shape;195;p8"/>
          <p:cNvSpPr/>
          <p:nvPr/>
        </p:nvSpPr>
        <p:spPr>
          <a:xfrm>
            <a:off x="1972553" y="4664584"/>
            <a:ext cx="1223361" cy="241343"/>
          </a:xfrm>
          <a:custGeom>
            <a:rect b="b" l="l" r="r" t="t"/>
            <a:pathLst>
              <a:path extrusionOk="0" h="241343" w="1223361">
                <a:moveTo>
                  <a:pt x="0" y="0"/>
                </a:moveTo>
                <a:lnTo>
                  <a:pt x="1223361" y="0"/>
                </a:lnTo>
                <a:lnTo>
                  <a:pt x="1223361" y="241343"/>
                </a:lnTo>
                <a:lnTo>
                  <a:pt x="0" y="241343"/>
                </a:lnTo>
                <a:lnTo>
                  <a:pt x="0" y="0"/>
                </a:lnTo>
                <a:close/>
              </a:path>
            </a:pathLst>
          </a:custGeom>
          <a:solidFill>
            <a:srgbClr val="FFFFFF"/>
          </a:solidFill>
          <a:ln cap="flat" cmpd="sng" w="12700">
            <a:solidFill>
              <a:srgbClr val="E5E7EB"/>
            </a:solidFill>
            <a:prstDash val="solid"/>
            <a:round/>
            <a:headEnd len="sm" w="sm" type="none"/>
            <a:tailEnd len="sm" w="sm" type="none"/>
          </a:ln>
        </p:spPr>
      </p:sp>
      <p:sp>
        <p:nvSpPr>
          <p:cNvPr id="196" name="Google Shape;196;p8"/>
          <p:cNvSpPr/>
          <p:nvPr/>
        </p:nvSpPr>
        <p:spPr>
          <a:xfrm>
            <a:off x="1968392" y="4660423"/>
            <a:ext cx="1273294" cy="233021"/>
          </a:xfrm>
          <a:prstGeom prst="rect">
            <a:avLst/>
          </a:prstGeom>
          <a:noFill/>
          <a:ln>
            <a:noFill/>
          </a:ln>
        </p:spPr>
        <p:txBody>
          <a:bodyPr anchorCtr="0" anchor="ctr" bIns="33275" lIns="99850" spcFirstLastPara="1" rIns="99850" wrap="square" tIns="33275">
            <a:noAutofit/>
          </a:bodyPr>
          <a:lstStyle/>
          <a:p>
            <a:pPr indent="0" lvl="0" marL="0" marR="0" rtl="0" algn="l">
              <a:lnSpc>
                <a:spcPct val="120000"/>
              </a:lnSpc>
              <a:spcBef>
                <a:spcPts val="0"/>
              </a:spcBef>
              <a:spcAft>
                <a:spcPts val="0"/>
              </a:spcAft>
              <a:buNone/>
            </a:pPr>
            <a:r>
              <a:rPr b="0" i="0" lang="en-US" sz="917" u="none" cap="none" strike="noStrike">
                <a:solidFill>
                  <a:srgbClr val="1F2937"/>
                </a:solidFill>
                <a:latin typeface="Sorts Mill Goudy"/>
                <a:ea typeface="Sorts Mill Goudy"/>
                <a:cs typeface="Sorts Mill Goudy"/>
                <a:sym typeface="Sorts Mill Goudy"/>
              </a:rPr>
              <a:t>TLDLegitimateProb</a:t>
            </a:r>
            <a:endParaRPr b="0" i="0" sz="1600" u="none" cap="none" strike="noStrike"/>
          </a:p>
        </p:txBody>
      </p:sp>
      <p:sp>
        <p:nvSpPr>
          <p:cNvPr id="197" name="Google Shape;197;p8"/>
          <p:cNvSpPr/>
          <p:nvPr/>
        </p:nvSpPr>
        <p:spPr>
          <a:xfrm>
            <a:off x="3268473" y="4664584"/>
            <a:ext cx="1306583" cy="241343"/>
          </a:xfrm>
          <a:custGeom>
            <a:rect b="b" l="l" r="r" t="t"/>
            <a:pathLst>
              <a:path extrusionOk="0" h="241343" w="1306583">
                <a:moveTo>
                  <a:pt x="0" y="0"/>
                </a:moveTo>
                <a:lnTo>
                  <a:pt x="1306583" y="0"/>
                </a:lnTo>
                <a:lnTo>
                  <a:pt x="1306583" y="241343"/>
                </a:lnTo>
                <a:lnTo>
                  <a:pt x="0" y="241343"/>
                </a:lnTo>
                <a:lnTo>
                  <a:pt x="0" y="0"/>
                </a:lnTo>
                <a:close/>
              </a:path>
            </a:pathLst>
          </a:custGeom>
          <a:solidFill>
            <a:srgbClr val="FFFFFF"/>
          </a:solidFill>
          <a:ln cap="flat" cmpd="sng" w="12700">
            <a:solidFill>
              <a:srgbClr val="E5E7EB"/>
            </a:solidFill>
            <a:prstDash val="solid"/>
            <a:round/>
            <a:headEnd len="sm" w="sm" type="none"/>
            <a:tailEnd len="sm" w="sm" type="none"/>
          </a:ln>
        </p:spPr>
      </p:sp>
      <p:sp>
        <p:nvSpPr>
          <p:cNvPr id="198" name="Google Shape;198;p8"/>
          <p:cNvSpPr/>
          <p:nvPr/>
        </p:nvSpPr>
        <p:spPr>
          <a:xfrm>
            <a:off x="3264312" y="4660423"/>
            <a:ext cx="1356516" cy="233021"/>
          </a:xfrm>
          <a:prstGeom prst="rect">
            <a:avLst/>
          </a:prstGeom>
          <a:noFill/>
          <a:ln>
            <a:noFill/>
          </a:ln>
        </p:spPr>
        <p:txBody>
          <a:bodyPr anchorCtr="0" anchor="ctr" bIns="33275" lIns="99850" spcFirstLastPara="1" rIns="99850" wrap="square" tIns="33275">
            <a:noAutofit/>
          </a:bodyPr>
          <a:lstStyle/>
          <a:p>
            <a:pPr indent="0" lvl="0" marL="0" marR="0" rtl="0" algn="l">
              <a:lnSpc>
                <a:spcPct val="120000"/>
              </a:lnSpc>
              <a:spcBef>
                <a:spcPts val="0"/>
              </a:spcBef>
              <a:spcAft>
                <a:spcPts val="0"/>
              </a:spcAft>
              <a:buNone/>
            </a:pPr>
            <a:r>
              <a:rPr b="0" i="0" lang="en-US" sz="917" u="none" cap="none" strike="noStrike">
                <a:solidFill>
                  <a:srgbClr val="1F2937"/>
                </a:solidFill>
                <a:latin typeface="Sorts Mill Goudy"/>
                <a:ea typeface="Sorts Mill Goudy"/>
                <a:cs typeface="Sorts Mill Goudy"/>
                <a:sym typeface="Sorts Mill Goudy"/>
              </a:rPr>
              <a:t>URLTitleMatchScore</a:t>
            </a:r>
            <a:endParaRPr b="0" i="0" sz="1600" u="none" cap="none" strike="noStrike"/>
          </a:p>
        </p:txBody>
      </p:sp>
      <p:sp>
        <p:nvSpPr>
          <p:cNvPr id="199" name="Google Shape;199;p8"/>
          <p:cNvSpPr/>
          <p:nvPr/>
        </p:nvSpPr>
        <p:spPr>
          <a:xfrm>
            <a:off x="6195346" y="2729676"/>
            <a:ext cx="249666" cy="199732"/>
          </a:xfrm>
          <a:custGeom>
            <a:rect b="b" l="l" r="r" t="t"/>
            <a:pathLst>
              <a:path extrusionOk="0" h="199732" w="249666">
                <a:moveTo>
                  <a:pt x="162244" y="82117"/>
                </a:moveTo>
                <a:cubicBezTo>
                  <a:pt x="167003" y="80829"/>
                  <a:pt x="171996" y="83092"/>
                  <a:pt x="174142" y="87500"/>
                </a:cubicBezTo>
                <a:lnTo>
                  <a:pt x="181398" y="102168"/>
                </a:lnTo>
                <a:cubicBezTo>
                  <a:pt x="185416" y="102714"/>
                  <a:pt x="189356" y="103806"/>
                  <a:pt x="193062" y="105328"/>
                </a:cubicBezTo>
                <a:lnTo>
                  <a:pt x="206715" y="96238"/>
                </a:lnTo>
                <a:cubicBezTo>
                  <a:pt x="210811" y="93508"/>
                  <a:pt x="216234" y="94054"/>
                  <a:pt x="219706" y="97526"/>
                </a:cubicBezTo>
                <a:lnTo>
                  <a:pt x="227196" y="105016"/>
                </a:lnTo>
                <a:cubicBezTo>
                  <a:pt x="230668" y="108487"/>
                  <a:pt x="231214" y="113949"/>
                  <a:pt x="228483" y="118006"/>
                </a:cubicBezTo>
                <a:lnTo>
                  <a:pt x="219394" y="131621"/>
                </a:lnTo>
                <a:cubicBezTo>
                  <a:pt x="220135" y="133454"/>
                  <a:pt x="220798" y="135366"/>
                  <a:pt x="221344" y="137355"/>
                </a:cubicBezTo>
                <a:cubicBezTo>
                  <a:pt x="221890" y="139345"/>
                  <a:pt x="222241" y="141295"/>
                  <a:pt x="222514" y="143285"/>
                </a:cubicBezTo>
                <a:lnTo>
                  <a:pt x="237221" y="150541"/>
                </a:lnTo>
                <a:cubicBezTo>
                  <a:pt x="241629" y="152725"/>
                  <a:pt x="243892" y="157718"/>
                  <a:pt x="242605" y="162439"/>
                </a:cubicBezTo>
                <a:lnTo>
                  <a:pt x="239874" y="172659"/>
                </a:lnTo>
                <a:cubicBezTo>
                  <a:pt x="238587" y="177380"/>
                  <a:pt x="234178" y="180578"/>
                  <a:pt x="229263" y="180266"/>
                </a:cubicBezTo>
                <a:lnTo>
                  <a:pt x="212879" y="179213"/>
                </a:lnTo>
                <a:cubicBezTo>
                  <a:pt x="210421" y="182373"/>
                  <a:pt x="207573" y="185299"/>
                  <a:pt x="204336" y="187795"/>
                </a:cubicBezTo>
                <a:lnTo>
                  <a:pt x="205389" y="204141"/>
                </a:lnTo>
                <a:cubicBezTo>
                  <a:pt x="205701" y="209056"/>
                  <a:pt x="202502" y="213503"/>
                  <a:pt x="197782" y="214751"/>
                </a:cubicBezTo>
                <a:lnTo>
                  <a:pt x="187561" y="217482"/>
                </a:lnTo>
                <a:cubicBezTo>
                  <a:pt x="182802" y="218769"/>
                  <a:pt x="177848" y="216507"/>
                  <a:pt x="175663" y="212099"/>
                </a:cubicBezTo>
                <a:lnTo>
                  <a:pt x="168407" y="197431"/>
                </a:lnTo>
                <a:cubicBezTo>
                  <a:pt x="164389" y="196885"/>
                  <a:pt x="160449" y="195792"/>
                  <a:pt x="156743" y="194271"/>
                </a:cubicBezTo>
                <a:lnTo>
                  <a:pt x="143090" y="203360"/>
                </a:lnTo>
                <a:cubicBezTo>
                  <a:pt x="138993" y="206091"/>
                  <a:pt x="133571" y="205545"/>
                  <a:pt x="130099" y="202073"/>
                </a:cubicBezTo>
                <a:lnTo>
                  <a:pt x="122609" y="194583"/>
                </a:lnTo>
                <a:cubicBezTo>
                  <a:pt x="119137" y="191111"/>
                  <a:pt x="118591" y="185689"/>
                  <a:pt x="121322" y="181593"/>
                </a:cubicBezTo>
                <a:lnTo>
                  <a:pt x="130411" y="167939"/>
                </a:lnTo>
                <a:cubicBezTo>
                  <a:pt x="129670" y="166106"/>
                  <a:pt x="129007" y="164194"/>
                  <a:pt x="128461" y="162205"/>
                </a:cubicBezTo>
                <a:cubicBezTo>
                  <a:pt x="127915" y="160215"/>
                  <a:pt x="127563" y="158226"/>
                  <a:pt x="127290" y="156275"/>
                </a:cubicBezTo>
                <a:lnTo>
                  <a:pt x="112584" y="149019"/>
                </a:lnTo>
                <a:cubicBezTo>
                  <a:pt x="108175" y="146835"/>
                  <a:pt x="105952" y="141841"/>
                  <a:pt x="107200" y="137121"/>
                </a:cubicBezTo>
                <a:lnTo>
                  <a:pt x="109931" y="126900"/>
                </a:lnTo>
                <a:cubicBezTo>
                  <a:pt x="111218" y="122180"/>
                  <a:pt x="115626" y="118981"/>
                  <a:pt x="120542" y="119293"/>
                </a:cubicBezTo>
                <a:lnTo>
                  <a:pt x="136887" y="120347"/>
                </a:lnTo>
                <a:cubicBezTo>
                  <a:pt x="139345" y="117187"/>
                  <a:pt x="142192" y="114261"/>
                  <a:pt x="145430" y="111764"/>
                </a:cubicBezTo>
                <a:lnTo>
                  <a:pt x="144377" y="95458"/>
                </a:lnTo>
                <a:cubicBezTo>
                  <a:pt x="144065" y="90543"/>
                  <a:pt x="147264" y="86096"/>
                  <a:pt x="151984" y="84847"/>
                </a:cubicBezTo>
                <a:lnTo>
                  <a:pt x="162205" y="82117"/>
                </a:lnTo>
                <a:close/>
                <a:moveTo>
                  <a:pt x="174922" y="132635"/>
                </a:moveTo>
                <a:cubicBezTo>
                  <a:pt x="165449" y="132646"/>
                  <a:pt x="157766" y="140345"/>
                  <a:pt x="157777" y="149819"/>
                </a:cubicBezTo>
                <a:cubicBezTo>
                  <a:pt x="157788" y="159292"/>
                  <a:pt x="165488" y="166975"/>
                  <a:pt x="174961" y="166964"/>
                </a:cubicBezTo>
                <a:cubicBezTo>
                  <a:pt x="184434" y="166953"/>
                  <a:pt x="192117" y="159253"/>
                  <a:pt x="192106" y="149780"/>
                </a:cubicBezTo>
                <a:cubicBezTo>
                  <a:pt x="192095" y="140306"/>
                  <a:pt x="184395" y="132624"/>
                  <a:pt x="174922" y="132635"/>
                </a:cubicBezTo>
                <a:close/>
                <a:moveTo>
                  <a:pt x="87734" y="-17750"/>
                </a:moveTo>
                <a:lnTo>
                  <a:pt x="97955" y="-15019"/>
                </a:lnTo>
                <a:cubicBezTo>
                  <a:pt x="102675" y="-13732"/>
                  <a:pt x="105874" y="-9284"/>
                  <a:pt x="105562" y="-4408"/>
                </a:cubicBezTo>
                <a:lnTo>
                  <a:pt x="104508" y="11898"/>
                </a:lnTo>
                <a:cubicBezTo>
                  <a:pt x="107746" y="14395"/>
                  <a:pt x="110594" y="17282"/>
                  <a:pt x="113052" y="20480"/>
                </a:cubicBezTo>
                <a:lnTo>
                  <a:pt x="129436" y="19427"/>
                </a:lnTo>
                <a:cubicBezTo>
                  <a:pt x="134312" y="19115"/>
                  <a:pt x="138759" y="22314"/>
                  <a:pt x="140047" y="27034"/>
                </a:cubicBezTo>
                <a:lnTo>
                  <a:pt x="142777" y="37255"/>
                </a:lnTo>
                <a:cubicBezTo>
                  <a:pt x="144026" y="41975"/>
                  <a:pt x="141802" y="46968"/>
                  <a:pt x="137394" y="49153"/>
                </a:cubicBezTo>
                <a:lnTo>
                  <a:pt x="122687" y="56409"/>
                </a:lnTo>
                <a:cubicBezTo>
                  <a:pt x="122414" y="58398"/>
                  <a:pt x="122024" y="60388"/>
                  <a:pt x="121517" y="62338"/>
                </a:cubicBezTo>
                <a:cubicBezTo>
                  <a:pt x="121010" y="64289"/>
                  <a:pt x="120308" y="66239"/>
                  <a:pt x="119566" y="68073"/>
                </a:cubicBezTo>
                <a:lnTo>
                  <a:pt x="128656" y="81726"/>
                </a:lnTo>
                <a:cubicBezTo>
                  <a:pt x="131386" y="85823"/>
                  <a:pt x="130840" y="91245"/>
                  <a:pt x="127368" y="94717"/>
                </a:cubicBezTo>
                <a:lnTo>
                  <a:pt x="119878" y="102207"/>
                </a:lnTo>
                <a:cubicBezTo>
                  <a:pt x="116407" y="105679"/>
                  <a:pt x="110984" y="106225"/>
                  <a:pt x="106888" y="103494"/>
                </a:cubicBezTo>
                <a:lnTo>
                  <a:pt x="93234" y="94405"/>
                </a:lnTo>
                <a:cubicBezTo>
                  <a:pt x="89528" y="95926"/>
                  <a:pt x="85588" y="97018"/>
                  <a:pt x="81570" y="97565"/>
                </a:cubicBezTo>
                <a:lnTo>
                  <a:pt x="74315" y="112232"/>
                </a:lnTo>
                <a:cubicBezTo>
                  <a:pt x="72130" y="116641"/>
                  <a:pt x="67137" y="118864"/>
                  <a:pt x="62416" y="117616"/>
                </a:cubicBezTo>
                <a:lnTo>
                  <a:pt x="52196" y="114885"/>
                </a:lnTo>
                <a:cubicBezTo>
                  <a:pt x="47436" y="113598"/>
                  <a:pt x="44277" y="109151"/>
                  <a:pt x="44589" y="104274"/>
                </a:cubicBezTo>
                <a:lnTo>
                  <a:pt x="45642" y="87929"/>
                </a:lnTo>
                <a:cubicBezTo>
                  <a:pt x="42404" y="85432"/>
                  <a:pt x="39556" y="82546"/>
                  <a:pt x="37099" y="79347"/>
                </a:cubicBezTo>
                <a:lnTo>
                  <a:pt x="20714" y="80400"/>
                </a:lnTo>
                <a:cubicBezTo>
                  <a:pt x="15838" y="80712"/>
                  <a:pt x="11391" y="77513"/>
                  <a:pt x="10104" y="72793"/>
                </a:cubicBezTo>
                <a:lnTo>
                  <a:pt x="7373" y="62572"/>
                </a:lnTo>
                <a:cubicBezTo>
                  <a:pt x="6125" y="57852"/>
                  <a:pt x="8348" y="52859"/>
                  <a:pt x="12756" y="50674"/>
                </a:cubicBezTo>
                <a:lnTo>
                  <a:pt x="27463" y="43418"/>
                </a:lnTo>
                <a:cubicBezTo>
                  <a:pt x="27736" y="41429"/>
                  <a:pt x="28126" y="39478"/>
                  <a:pt x="28634" y="37489"/>
                </a:cubicBezTo>
                <a:cubicBezTo>
                  <a:pt x="29180" y="35499"/>
                  <a:pt x="29804" y="33588"/>
                  <a:pt x="30584" y="31754"/>
                </a:cubicBezTo>
                <a:lnTo>
                  <a:pt x="21495" y="18140"/>
                </a:lnTo>
                <a:cubicBezTo>
                  <a:pt x="18764" y="14044"/>
                  <a:pt x="19310" y="8621"/>
                  <a:pt x="22782" y="5149"/>
                </a:cubicBezTo>
                <a:lnTo>
                  <a:pt x="30272" y="-2341"/>
                </a:lnTo>
                <a:cubicBezTo>
                  <a:pt x="33744" y="-5813"/>
                  <a:pt x="39166" y="-6359"/>
                  <a:pt x="43262" y="-3628"/>
                </a:cubicBezTo>
                <a:lnTo>
                  <a:pt x="56916" y="5461"/>
                </a:lnTo>
                <a:cubicBezTo>
                  <a:pt x="60622" y="3940"/>
                  <a:pt x="64562" y="2848"/>
                  <a:pt x="68580" y="2302"/>
                </a:cubicBezTo>
                <a:lnTo>
                  <a:pt x="75836" y="-12366"/>
                </a:lnTo>
                <a:cubicBezTo>
                  <a:pt x="78020" y="-16774"/>
                  <a:pt x="82975" y="-18998"/>
                  <a:pt x="87734" y="-17750"/>
                </a:cubicBezTo>
                <a:close/>
                <a:moveTo>
                  <a:pt x="75056" y="32769"/>
                </a:moveTo>
                <a:cubicBezTo>
                  <a:pt x="65582" y="32769"/>
                  <a:pt x="57891" y="40460"/>
                  <a:pt x="57891" y="49933"/>
                </a:cubicBezTo>
                <a:cubicBezTo>
                  <a:pt x="57891" y="59406"/>
                  <a:pt x="65582" y="67098"/>
                  <a:pt x="75056" y="67098"/>
                </a:cubicBezTo>
                <a:cubicBezTo>
                  <a:pt x="84529" y="67098"/>
                  <a:pt x="92220" y="59406"/>
                  <a:pt x="92220" y="49933"/>
                </a:cubicBezTo>
                <a:cubicBezTo>
                  <a:pt x="92220" y="40460"/>
                  <a:pt x="84529" y="32769"/>
                  <a:pt x="75056" y="32769"/>
                </a:cubicBezTo>
                <a:close/>
              </a:path>
            </a:pathLst>
          </a:custGeom>
          <a:solidFill>
            <a:srgbClr val="8B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8"/>
          <p:cNvSpPr/>
          <p:nvPr/>
        </p:nvSpPr>
        <p:spPr>
          <a:xfrm>
            <a:off x="6445012" y="2696388"/>
            <a:ext cx="5509286" cy="26631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i="0" lang="en-US" sz="1573" u="none" cap="none" strike="noStrike">
                <a:solidFill>
                  <a:srgbClr val="8B0000"/>
                </a:solidFill>
                <a:latin typeface="Sorts Mill Goudy"/>
                <a:ea typeface="Sorts Mill Goudy"/>
                <a:cs typeface="Sorts Mill Goudy"/>
                <a:sym typeface="Sorts Mill Goudy"/>
              </a:rPr>
              <a:t>Data Preprocessing</a:t>
            </a:r>
            <a:endParaRPr b="0" i="0" sz="1600" u="none" cap="none" strike="noStrike"/>
          </a:p>
        </p:txBody>
      </p:sp>
      <p:sp>
        <p:nvSpPr>
          <p:cNvPr id="201" name="Google Shape;201;p8"/>
          <p:cNvSpPr/>
          <p:nvPr/>
        </p:nvSpPr>
        <p:spPr>
          <a:xfrm>
            <a:off x="6199507" y="3100014"/>
            <a:ext cx="5650763" cy="674097"/>
          </a:xfrm>
          <a:custGeom>
            <a:rect b="b" l="l" r="r" t="t"/>
            <a:pathLst>
              <a:path extrusionOk="0" h="674097" w="5650763">
                <a:moveTo>
                  <a:pt x="0" y="0"/>
                </a:moveTo>
                <a:lnTo>
                  <a:pt x="5650763" y="0"/>
                </a:lnTo>
                <a:lnTo>
                  <a:pt x="5650763" y="674097"/>
                </a:lnTo>
                <a:lnTo>
                  <a:pt x="0" y="674097"/>
                </a:lnTo>
                <a:lnTo>
                  <a:pt x="0" y="0"/>
                </a:lnTo>
                <a:close/>
              </a:path>
            </a:pathLst>
          </a:custGeom>
          <a:solidFill>
            <a:srgbClr val="F9FAFB"/>
          </a:solidFill>
          <a:ln cap="flat" cmpd="sng" w="12700">
            <a:solidFill>
              <a:srgbClr val="E5E7EB"/>
            </a:solidFill>
            <a:prstDash val="solid"/>
            <a:round/>
            <a:headEnd len="sm" w="sm" type="none"/>
            <a:tailEnd len="sm" w="sm" type="none"/>
          </a:ln>
        </p:spPr>
      </p:sp>
      <p:sp>
        <p:nvSpPr>
          <p:cNvPr id="202" name="Google Shape;202;p8"/>
          <p:cNvSpPr/>
          <p:nvPr/>
        </p:nvSpPr>
        <p:spPr>
          <a:xfrm>
            <a:off x="6303534" y="3204041"/>
            <a:ext cx="332887" cy="332887"/>
          </a:xfrm>
          <a:custGeom>
            <a:rect b="b" l="l" r="r" t="t"/>
            <a:pathLst>
              <a:path extrusionOk="0" h="332887" w="332887">
                <a:moveTo>
                  <a:pt x="0" y="0"/>
                </a:moveTo>
                <a:lnTo>
                  <a:pt x="332887" y="0"/>
                </a:lnTo>
                <a:lnTo>
                  <a:pt x="332887" y="332887"/>
                </a:lnTo>
                <a:lnTo>
                  <a:pt x="0" y="332887"/>
                </a:lnTo>
                <a:lnTo>
                  <a:pt x="0" y="0"/>
                </a:lnTo>
                <a:close/>
              </a:path>
            </a:pathLst>
          </a:custGeom>
          <a:solidFill>
            <a:srgbClr val="8B0000"/>
          </a:solidFill>
          <a:ln>
            <a:noFill/>
          </a:ln>
        </p:spPr>
      </p:sp>
      <p:sp>
        <p:nvSpPr>
          <p:cNvPr id="203" name="Google Shape;203;p8"/>
          <p:cNvSpPr/>
          <p:nvPr/>
        </p:nvSpPr>
        <p:spPr>
          <a:xfrm>
            <a:off x="6266085" y="3204041"/>
            <a:ext cx="407787" cy="332887"/>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1" i="0" lang="en-US" sz="1180" u="none" cap="none" strike="noStrike">
                <a:solidFill>
                  <a:srgbClr val="FFFFFF"/>
                </a:solidFill>
                <a:latin typeface="Sorts Mill Goudy"/>
                <a:ea typeface="Sorts Mill Goudy"/>
                <a:cs typeface="Sorts Mill Goudy"/>
                <a:sym typeface="Sorts Mill Goudy"/>
              </a:rPr>
              <a:t>1</a:t>
            </a:r>
            <a:endParaRPr b="0" i="0" sz="1600" u="none" cap="none" strike="noStrike"/>
          </a:p>
        </p:txBody>
      </p:sp>
      <p:sp>
        <p:nvSpPr>
          <p:cNvPr id="204" name="Google Shape;204;p8"/>
          <p:cNvSpPr/>
          <p:nvPr/>
        </p:nvSpPr>
        <p:spPr>
          <a:xfrm>
            <a:off x="6736288" y="3204041"/>
            <a:ext cx="2180412" cy="233021"/>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i="0" lang="en-US" sz="1180" u="none" cap="none" strike="noStrike">
                <a:solidFill>
                  <a:srgbClr val="1F2937"/>
                </a:solidFill>
                <a:latin typeface="Sorts Mill Goudy"/>
                <a:ea typeface="Sorts Mill Goudy"/>
                <a:cs typeface="Sorts Mill Goudy"/>
                <a:sym typeface="Sorts Mill Goudy"/>
              </a:rPr>
              <a:t>Drop Non-informative Columns</a:t>
            </a:r>
            <a:endParaRPr b="0" i="0" sz="1600" u="none" cap="none" strike="noStrike"/>
          </a:p>
        </p:txBody>
      </p:sp>
      <p:sp>
        <p:nvSpPr>
          <p:cNvPr id="205" name="Google Shape;205;p8"/>
          <p:cNvSpPr/>
          <p:nvPr/>
        </p:nvSpPr>
        <p:spPr>
          <a:xfrm>
            <a:off x="6199507" y="3882299"/>
            <a:ext cx="5650763" cy="674097"/>
          </a:xfrm>
          <a:custGeom>
            <a:rect b="b" l="l" r="r" t="t"/>
            <a:pathLst>
              <a:path extrusionOk="0" h="674097" w="5650763">
                <a:moveTo>
                  <a:pt x="0" y="0"/>
                </a:moveTo>
                <a:lnTo>
                  <a:pt x="5650763" y="0"/>
                </a:lnTo>
                <a:lnTo>
                  <a:pt x="5650763" y="674097"/>
                </a:lnTo>
                <a:lnTo>
                  <a:pt x="0" y="674097"/>
                </a:lnTo>
                <a:lnTo>
                  <a:pt x="0" y="0"/>
                </a:lnTo>
                <a:close/>
              </a:path>
            </a:pathLst>
          </a:custGeom>
          <a:solidFill>
            <a:srgbClr val="F9FAFB"/>
          </a:solidFill>
          <a:ln cap="flat" cmpd="sng" w="12700">
            <a:solidFill>
              <a:srgbClr val="E5E7EB"/>
            </a:solidFill>
            <a:prstDash val="solid"/>
            <a:round/>
            <a:headEnd len="sm" w="sm" type="none"/>
            <a:tailEnd len="sm" w="sm" type="none"/>
          </a:ln>
        </p:spPr>
      </p:sp>
      <p:sp>
        <p:nvSpPr>
          <p:cNvPr id="206" name="Google Shape;206;p8"/>
          <p:cNvSpPr/>
          <p:nvPr/>
        </p:nvSpPr>
        <p:spPr>
          <a:xfrm>
            <a:off x="6303534" y="3986326"/>
            <a:ext cx="332887" cy="332887"/>
          </a:xfrm>
          <a:custGeom>
            <a:rect b="b" l="l" r="r" t="t"/>
            <a:pathLst>
              <a:path extrusionOk="0" h="332887" w="332887">
                <a:moveTo>
                  <a:pt x="0" y="0"/>
                </a:moveTo>
                <a:lnTo>
                  <a:pt x="332887" y="0"/>
                </a:lnTo>
                <a:lnTo>
                  <a:pt x="332887" y="332887"/>
                </a:lnTo>
                <a:lnTo>
                  <a:pt x="0" y="332887"/>
                </a:lnTo>
                <a:lnTo>
                  <a:pt x="0" y="0"/>
                </a:lnTo>
                <a:close/>
              </a:path>
            </a:pathLst>
          </a:custGeom>
          <a:solidFill>
            <a:srgbClr val="8B0000"/>
          </a:solidFill>
          <a:ln>
            <a:noFill/>
          </a:ln>
        </p:spPr>
      </p:sp>
      <p:sp>
        <p:nvSpPr>
          <p:cNvPr id="207" name="Google Shape;207;p8"/>
          <p:cNvSpPr/>
          <p:nvPr/>
        </p:nvSpPr>
        <p:spPr>
          <a:xfrm>
            <a:off x="6266085" y="3986326"/>
            <a:ext cx="407787" cy="332887"/>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1" i="0" lang="en-US" sz="1180" u="none" cap="none" strike="noStrike">
                <a:solidFill>
                  <a:srgbClr val="FFFFFF"/>
                </a:solidFill>
                <a:latin typeface="Sorts Mill Goudy"/>
                <a:ea typeface="Sorts Mill Goudy"/>
                <a:cs typeface="Sorts Mill Goudy"/>
                <a:sym typeface="Sorts Mill Goudy"/>
              </a:rPr>
              <a:t>2</a:t>
            </a:r>
            <a:endParaRPr b="0" i="0" sz="1600" u="none" cap="none" strike="noStrike"/>
          </a:p>
        </p:txBody>
      </p:sp>
      <p:sp>
        <p:nvSpPr>
          <p:cNvPr id="208" name="Google Shape;208;p8"/>
          <p:cNvSpPr/>
          <p:nvPr/>
        </p:nvSpPr>
        <p:spPr>
          <a:xfrm>
            <a:off x="6736288" y="3986326"/>
            <a:ext cx="3170752" cy="233021"/>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i="0" lang="en-US" sz="1180" u="none" cap="none" strike="noStrike">
                <a:solidFill>
                  <a:srgbClr val="1F2937"/>
                </a:solidFill>
                <a:latin typeface="Sorts Mill Goudy"/>
                <a:ea typeface="Sorts Mill Goudy"/>
                <a:cs typeface="Sorts Mill Goudy"/>
                <a:sym typeface="Sorts Mill Goudy"/>
              </a:rPr>
              <a:t>Encode Categorical Variables</a:t>
            </a:r>
            <a:endParaRPr b="0" i="0" sz="1600" u="none" cap="none" strike="noStrike"/>
          </a:p>
        </p:txBody>
      </p:sp>
      <p:sp>
        <p:nvSpPr>
          <p:cNvPr id="209" name="Google Shape;209;p8"/>
          <p:cNvSpPr/>
          <p:nvPr/>
        </p:nvSpPr>
        <p:spPr>
          <a:xfrm>
            <a:off x="6736302" y="4252625"/>
            <a:ext cx="3790200" cy="1998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0" i="0" lang="en-US" sz="1048" u="none" cap="none" strike="noStrike">
                <a:solidFill>
                  <a:srgbClr val="6B7280"/>
                </a:solidFill>
                <a:latin typeface="Sorts Mill Goudy"/>
                <a:ea typeface="Sorts Mill Goudy"/>
                <a:cs typeface="Sorts Mill Goudy"/>
                <a:sym typeface="Sorts Mill Goudy"/>
              </a:rPr>
              <a:t>One-hot encoding or label encoding for TLD</a:t>
            </a:r>
            <a:r>
              <a:rPr lang="en-US" sz="1048">
                <a:solidFill>
                  <a:srgbClr val="6B7280"/>
                </a:solidFill>
                <a:latin typeface="Sorts Mill Goudy"/>
                <a:ea typeface="Sorts Mill Goudy"/>
                <a:cs typeface="Sorts Mill Goudy"/>
                <a:sym typeface="Sorts Mill Goudy"/>
              </a:rPr>
              <a:t> and domain</a:t>
            </a:r>
            <a:endParaRPr b="0" i="0" sz="1600" u="none" cap="none" strike="noStrike"/>
          </a:p>
        </p:txBody>
      </p:sp>
      <p:sp>
        <p:nvSpPr>
          <p:cNvPr id="210" name="Google Shape;210;p8"/>
          <p:cNvSpPr/>
          <p:nvPr/>
        </p:nvSpPr>
        <p:spPr>
          <a:xfrm>
            <a:off x="6199507" y="4664584"/>
            <a:ext cx="5650763" cy="674097"/>
          </a:xfrm>
          <a:custGeom>
            <a:rect b="b" l="l" r="r" t="t"/>
            <a:pathLst>
              <a:path extrusionOk="0" h="674097" w="5650763">
                <a:moveTo>
                  <a:pt x="0" y="0"/>
                </a:moveTo>
                <a:lnTo>
                  <a:pt x="5650763" y="0"/>
                </a:lnTo>
                <a:lnTo>
                  <a:pt x="5650763" y="674097"/>
                </a:lnTo>
                <a:lnTo>
                  <a:pt x="0" y="674097"/>
                </a:lnTo>
                <a:lnTo>
                  <a:pt x="0" y="0"/>
                </a:lnTo>
                <a:close/>
              </a:path>
            </a:pathLst>
          </a:custGeom>
          <a:solidFill>
            <a:srgbClr val="F9FAFB"/>
          </a:solidFill>
          <a:ln cap="flat" cmpd="sng" w="12700">
            <a:solidFill>
              <a:srgbClr val="E5E7EB"/>
            </a:solidFill>
            <a:prstDash val="solid"/>
            <a:round/>
            <a:headEnd len="sm" w="sm" type="none"/>
            <a:tailEnd len="sm" w="sm" type="none"/>
          </a:ln>
        </p:spPr>
      </p:sp>
      <p:sp>
        <p:nvSpPr>
          <p:cNvPr id="211" name="Google Shape;211;p8"/>
          <p:cNvSpPr/>
          <p:nvPr/>
        </p:nvSpPr>
        <p:spPr>
          <a:xfrm>
            <a:off x="6303534" y="4768612"/>
            <a:ext cx="332887" cy="332887"/>
          </a:xfrm>
          <a:custGeom>
            <a:rect b="b" l="l" r="r" t="t"/>
            <a:pathLst>
              <a:path extrusionOk="0" h="332887" w="332887">
                <a:moveTo>
                  <a:pt x="0" y="0"/>
                </a:moveTo>
                <a:lnTo>
                  <a:pt x="332887" y="0"/>
                </a:lnTo>
                <a:lnTo>
                  <a:pt x="332887" y="332887"/>
                </a:lnTo>
                <a:lnTo>
                  <a:pt x="0" y="332887"/>
                </a:lnTo>
                <a:lnTo>
                  <a:pt x="0" y="0"/>
                </a:lnTo>
                <a:close/>
              </a:path>
            </a:pathLst>
          </a:custGeom>
          <a:solidFill>
            <a:srgbClr val="8B0000"/>
          </a:solidFill>
          <a:ln>
            <a:noFill/>
          </a:ln>
        </p:spPr>
      </p:sp>
      <p:sp>
        <p:nvSpPr>
          <p:cNvPr id="212" name="Google Shape;212;p8"/>
          <p:cNvSpPr/>
          <p:nvPr/>
        </p:nvSpPr>
        <p:spPr>
          <a:xfrm>
            <a:off x="6266085" y="4768612"/>
            <a:ext cx="407787" cy="332887"/>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1" i="0" lang="en-US" sz="1180" u="none" cap="none" strike="noStrike">
                <a:solidFill>
                  <a:srgbClr val="FFFFFF"/>
                </a:solidFill>
                <a:latin typeface="Sorts Mill Goudy"/>
                <a:ea typeface="Sorts Mill Goudy"/>
                <a:cs typeface="Sorts Mill Goudy"/>
                <a:sym typeface="Sorts Mill Goudy"/>
              </a:rPr>
              <a:t>3</a:t>
            </a:r>
            <a:endParaRPr b="0" i="0" sz="1600" u="none" cap="none" strike="noStrike"/>
          </a:p>
        </p:txBody>
      </p:sp>
      <p:sp>
        <p:nvSpPr>
          <p:cNvPr id="213" name="Google Shape;213;p8"/>
          <p:cNvSpPr/>
          <p:nvPr/>
        </p:nvSpPr>
        <p:spPr>
          <a:xfrm>
            <a:off x="6736288" y="4768612"/>
            <a:ext cx="3270618" cy="233021"/>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i="0" lang="en-US" sz="1180" u="none" cap="none" strike="noStrike">
                <a:solidFill>
                  <a:srgbClr val="1F2937"/>
                </a:solidFill>
                <a:latin typeface="Sorts Mill Goudy"/>
                <a:ea typeface="Sorts Mill Goudy"/>
                <a:cs typeface="Sorts Mill Goudy"/>
                <a:sym typeface="Sorts Mill Goudy"/>
              </a:rPr>
              <a:t>Normalize/Standardize</a:t>
            </a:r>
            <a:endParaRPr b="0" i="0" sz="1600" u="none" cap="none" strike="noStrike"/>
          </a:p>
        </p:txBody>
      </p:sp>
      <p:sp>
        <p:nvSpPr>
          <p:cNvPr id="214" name="Google Shape;214;p8"/>
          <p:cNvSpPr/>
          <p:nvPr/>
        </p:nvSpPr>
        <p:spPr>
          <a:xfrm>
            <a:off x="6736288" y="5034922"/>
            <a:ext cx="3262296" cy="199732"/>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0" i="0" lang="en-US" sz="1048" u="none" cap="none" strike="noStrike">
                <a:solidFill>
                  <a:srgbClr val="6B7280"/>
                </a:solidFill>
                <a:latin typeface="Sorts Mill Goudy"/>
                <a:ea typeface="Sorts Mill Goudy"/>
                <a:cs typeface="Sorts Mill Goudy"/>
                <a:sym typeface="Sorts Mill Goudy"/>
              </a:rPr>
              <a:t>Scale continuous variables for distance-sensitive models</a:t>
            </a:r>
            <a:endParaRPr b="0" i="0" sz="1600" u="none" cap="none" strike="noStrike"/>
          </a:p>
        </p:txBody>
      </p:sp>
      <p:sp>
        <p:nvSpPr>
          <p:cNvPr id="215" name="Google Shape;215;p8"/>
          <p:cNvSpPr/>
          <p:nvPr/>
        </p:nvSpPr>
        <p:spPr>
          <a:xfrm>
            <a:off x="6199507" y="5446870"/>
            <a:ext cx="5650763" cy="674097"/>
          </a:xfrm>
          <a:custGeom>
            <a:rect b="b" l="l" r="r" t="t"/>
            <a:pathLst>
              <a:path extrusionOk="0" h="674097" w="5650763">
                <a:moveTo>
                  <a:pt x="0" y="0"/>
                </a:moveTo>
                <a:lnTo>
                  <a:pt x="5650763" y="0"/>
                </a:lnTo>
                <a:lnTo>
                  <a:pt x="5650763" y="674097"/>
                </a:lnTo>
                <a:lnTo>
                  <a:pt x="0" y="674097"/>
                </a:lnTo>
                <a:lnTo>
                  <a:pt x="0" y="0"/>
                </a:lnTo>
                <a:close/>
              </a:path>
            </a:pathLst>
          </a:custGeom>
          <a:solidFill>
            <a:srgbClr val="F9FAFB"/>
          </a:solidFill>
          <a:ln cap="flat" cmpd="sng" w="12700">
            <a:solidFill>
              <a:srgbClr val="E5E7EB"/>
            </a:solidFill>
            <a:prstDash val="solid"/>
            <a:round/>
            <a:headEnd len="sm" w="sm" type="none"/>
            <a:tailEnd len="sm" w="sm" type="none"/>
          </a:ln>
        </p:spPr>
      </p:sp>
      <p:sp>
        <p:nvSpPr>
          <p:cNvPr id="216" name="Google Shape;216;p8"/>
          <p:cNvSpPr/>
          <p:nvPr/>
        </p:nvSpPr>
        <p:spPr>
          <a:xfrm>
            <a:off x="6303534" y="5550897"/>
            <a:ext cx="332887" cy="332887"/>
          </a:xfrm>
          <a:custGeom>
            <a:rect b="b" l="l" r="r" t="t"/>
            <a:pathLst>
              <a:path extrusionOk="0" h="332887" w="332887">
                <a:moveTo>
                  <a:pt x="0" y="0"/>
                </a:moveTo>
                <a:lnTo>
                  <a:pt x="332887" y="0"/>
                </a:lnTo>
                <a:lnTo>
                  <a:pt x="332887" y="332887"/>
                </a:lnTo>
                <a:lnTo>
                  <a:pt x="0" y="332887"/>
                </a:lnTo>
                <a:lnTo>
                  <a:pt x="0" y="0"/>
                </a:lnTo>
                <a:close/>
              </a:path>
            </a:pathLst>
          </a:custGeom>
          <a:solidFill>
            <a:srgbClr val="8B0000"/>
          </a:solidFill>
          <a:ln>
            <a:noFill/>
          </a:ln>
        </p:spPr>
      </p:sp>
      <p:sp>
        <p:nvSpPr>
          <p:cNvPr id="217" name="Google Shape;217;p8"/>
          <p:cNvSpPr/>
          <p:nvPr/>
        </p:nvSpPr>
        <p:spPr>
          <a:xfrm>
            <a:off x="6266085" y="5550897"/>
            <a:ext cx="407787" cy="332887"/>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1" i="0" lang="en-US" sz="1180" u="none" cap="none" strike="noStrike">
                <a:solidFill>
                  <a:srgbClr val="FFFFFF"/>
                </a:solidFill>
                <a:latin typeface="Sorts Mill Goudy"/>
                <a:ea typeface="Sorts Mill Goudy"/>
                <a:cs typeface="Sorts Mill Goudy"/>
                <a:sym typeface="Sorts Mill Goudy"/>
              </a:rPr>
              <a:t>4</a:t>
            </a:r>
            <a:endParaRPr b="0" i="0" sz="1600" u="none" cap="none" strike="noStrike"/>
          </a:p>
        </p:txBody>
      </p:sp>
      <p:sp>
        <p:nvSpPr>
          <p:cNvPr id="218" name="Google Shape;218;p8"/>
          <p:cNvSpPr/>
          <p:nvPr/>
        </p:nvSpPr>
        <p:spPr>
          <a:xfrm>
            <a:off x="6736288" y="5550897"/>
            <a:ext cx="2296923" cy="233021"/>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i="0" lang="en-US" sz="1180" u="none" cap="none" strike="noStrike">
                <a:solidFill>
                  <a:srgbClr val="1F2937"/>
                </a:solidFill>
                <a:latin typeface="Sorts Mill Goudy"/>
                <a:ea typeface="Sorts Mill Goudy"/>
                <a:cs typeface="Sorts Mill Goudy"/>
                <a:sym typeface="Sorts Mill Goudy"/>
              </a:rPr>
              <a:t>Handle Class Imbalance</a:t>
            </a:r>
            <a:endParaRPr b="0" i="0" sz="1600" u="none" cap="none" strike="noStrike"/>
          </a:p>
        </p:txBody>
      </p:sp>
      <p:sp>
        <p:nvSpPr>
          <p:cNvPr id="219" name="Google Shape;219;p8"/>
          <p:cNvSpPr/>
          <p:nvPr/>
        </p:nvSpPr>
        <p:spPr>
          <a:xfrm>
            <a:off x="6736288" y="5817207"/>
            <a:ext cx="2288601" cy="199732"/>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0" i="0" lang="en-US" sz="1048" u="none" cap="none" strike="noStrike">
                <a:solidFill>
                  <a:srgbClr val="6B7280"/>
                </a:solidFill>
                <a:latin typeface="Sorts Mill Goudy"/>
                <a:ea typeface="Sorts Mill Goudy"/>
                <a:cs typeface="Sorts Mill Goudy"/>
                <a:sym typeface="Sorts Mill Goudy"/>
              </a:rPr>
              <a:t>Optional SMOTE for balancing classes</a:t>
            </a:r>
            <a:endParaRPr b="0" i="0" sz="1600" u="none" cap="none" strike="noStrike"/>
          </a:p>
        </p:txBody>
      </p:sp>
      <p:sp>
        <p:nvSpPr>
          <p:cNvPr id="220" name="Google Shape;220;p8"/>
          <p:cNvSpPr/>
          <p:nvPr/>
        </p:nvSpPr>
        <p:spPr>
          <a:xfrm>
            <a:off x="286596" y="5213833"/>
            <a:ext cx="5659085" cy="399465"/>
          </a:xfrm>
          <a:custGeom>
            <a:rect b="b" l="l" r="r" t="t"/>
            <a:pathLst>
              <a:path extrusionOk="0" h="399465" w="5659085">
                <a:moveTo>
                  <a:pt x="0" y="0"/>
                </a:moveTo>
                <a:lnTo>
                  <a:pt x="5659085" y="0"/>
                </a:lnTo>
                <a:lnTo>
                  <a:pt x="5659085" y="399465"/>
                </a:lnTo>
                <a:lnTo>
                  <a:pt x="0" y="399465"/>
                </a:lnTo>
                <a:lnTo>
                  <a:pt x="0" y="0"/>
                </a:lnTo>
                <a:close/>
              </a:path>
            </a:pathLst>
          </a:custGeom>
          <a:solidFill>
            <a:srgbClr val="1F2937"/>
          </a:solidFill>
          <a:ln>
            <a:noFill/>
          </a:ln>
        </p:spPr>
      </p:sp>
      <p:sp>
        <p:nvSpPr>
          <p:cNvPr id="221" name="Google Shape;221;p8"/>
          <p:cNvSpPr/>
          <p:nvPr/>
        </p:nvSpPr>
        <p:spPr>
          <a:xfrm>
            <a:off x="419751" y="5338665"/>
            <a:ext cx="99866" cy="133155"/>
          </a:xfrm>
          <a:custGeom>
            <a:rect b="b" l="l" r="r" t="t"/>
            <a:pathLst>
              <a:path extrusionOk="0" h="133155" w="99866">
                <a:moveTo>
                  <a:pt x="64991" y="17373"/>
                </a:moveTo>
                <a:cubicBezTo>
                  <a:pt x="67696" y="13654"/>
                  <a:pt x="66864" y="8452"/>
                  <a:pt x="63145" y="5748"/>
                </a:cubicBezTo>
                <a:cubicBezTo>
                  <a:pt x="59426" y="3043"/>
                  <a:pt x="54224" y="3875"/>
                  <a:pt x="51520" y="7594"/>
                </a:cubicBezTo>
                <a:lnTo>
                  <a:pt x="23952" y="45486"/>
                </a:lnTo>
                <a:lnTo>
                  <a:pt x="14200" y="35733"/>
                </a:lnTo>
                <a:cubicBezTo>
                  <a:pt x="10949" y="32483"/>
                  <a:pt x="5669" y="32483"/>
                  <a:pt x="2419" y="35733"/>
                </a:cubicBezTo>
                <a:cubicBezTo>
                  <a:pt x="-832" y="38984"/>
                  <a:pt x="-832" y="44264"/>
                  <a:pt x="2419" y="47514"/>
                </a:cubicBezTo>
                <a:lnTo>
                  <a:pt x="19063" y="64159"/>
                </a:lnTo>
                <a:cubicBezTo>
                  <a:pt x="20779" y="65875"/>
                  <a:pt x="23172" y="66760"/>
                  <a:pt x="25591" y="66577"/>
                </a:cubicBezTo>
                <a:cubicBezTo>
                  <a:pt x="28009" y="66395"/>
                  <a:pt x="30246" y="65147"/>
                  <a:pt x="31676" y="63171"/>
                </a:cubicBezTo>
                <a:lnTo>
                  <a:pt x="64965" y="17399"/>
                </a:lnTo>
                <a:close/>
                <a:moveTo>
                  <a:pt x="98280" y="52742"/>
                </a:moveTo>
                <a:cubicBezTo>
                  <a:pt x="100985" y="49023"/>
                  <a:pt x="100152" y="43822"/>
                  <a:pt x="96433" y="41117"/>
                </a:cubicBezTo>
                <a:cubicBezTo>
                  <a:pt x="92714" y="38412"/>
                  <a:pt x="87513" y="39244"/>
                  <a:pt x="84808" y="42963"/>
                </a:cubicBezTo>
                <a:lnTo>
                  <a:pt x="40597" y="103741"/>
                </a:lnTo>
                <a:lnTo>
                  <a:pt x="22522" y="85666"/>
                </a:lnTo>
                <a:cubicBezTo>
                  <a:pt x="19271" y="82416"/>
                  <a:pt x="13992" y="82416"/>
                  <a:pt x="10741" y="85666"/>
                </a:cubicBezTo>
                <a:cubicBezTo>
                  <a:pt x="7490" y="88917"/>
                  <a:pt x="7490" y="94197"/>
                  <a:pt x="10741" y="97448"/>
                </a:cubicBezTo>
                <a:lnTo>
                  <a:pt x="35707" y="122414"/>
                </a:lnTo>
                <a:cubicBezTo>
                  <a:pt x="37424" y="124131"/>
                  <a:pt x="39816" y="125015"/>
                  <a:pt x="42235" y="124833"/>
                </a:cubicBezTo>
                <a:cubicBezTo>
                  <a:pt x="44654" y="124651"/>
                  <a:pt x="46890" y="123402"/>
                  <a:pt x="48321" y="121426"/>
                </a:cubicBezTo>
                <a:lnTo>
                  <a:pt x="98254" y="52768"/>
                </a:lnTo>
                <a:close/>
              </a:path>
            </a:pathLst>
          </a:custGeom>
          <a:solidFill>
            <a:srgbClr val="8B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8"/>
          <p:cNvSpPr/>
          <p:nvPr/>
        </p:nvSpPr>
        <p:spPr>
          <a:xfrm>
            <a:off x="596534" y="5313699"/>
            <a:ext cx="5316000" cy="1998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i="0" lang="en-US" sz="1048" u="none" cap="none" strike="noStrike">
                <a:solidFill>
                  <a:srgbClr val="FFFFFF"/>
                </a:solidFill>
                <a:latin typeface="Sorts Mill Goudy"/>
                <a:ea typeface="Sorts Mill Goudy"/>
                <a:cs typeface="Sorts Mill Goudy"/>
                <a:sym typeface="Sorts Mill Goudy"/>
              </a:rPr>
              <a:t>Data Quality:</a:t>
            </a:r>
            <a:r>
              <a:rPr b="0" i="0" lang="en-US" sz="1048" u="none" cap="none" strike="noStrike">
                <a:solidFill>
                  <a:srgbClr val="FFFFFF"/>
                </a:solidFill>
                <a:latin typeface="Sorts Mill Goudy"/>
                <a:ea typeface="Sorts Mill Goudy"/>
                <a:cs typeface="Sorts Mill Goudy"/>
                <a:sym typeface="Sorts Mill Goudy"/>
              </a:rPr>
              <a:t> No missing values</a:t>
            </a:r>
            <a:r>
              <a:rPr b="0" i="0" lang="en-US" sz="1048" u="none" cap="none" strike="noStrike">
                <a:solidFill>
                  <a:srgbClr val="FFFFFF"/>
                </a:solidFill>
                <a:latin typeface="Sorts Mill Goudy"/>
                <a:ea typeface="Sorts Mill Goudy"/>
                <a:cs typeface="Sorts Mill Goudy"/>
                <a:sym typeface="Sorts Mill Goudy"/>
              </a:rPr>
              <a:t> - dataset</a:t>
            </a:r>
            <a:r>
              <a:rPr b="0" i="0" lang="en-US" sz="1048" u="none" cap="none" strike="noStrike">
                <a:solidFill>
                  <a:srgbClr val="FFFFFF"/>
                </a:solidFill>
                <a:latin typeface="Sorts Mill Goudy"/>
                <a:ea typeface="Sorts Mill Goudy"/>
                <a:cs typeface="Sorts Mill Goudy"/>
                <a:sym typeface="Sorts Mill Goudy"/>
              </a:rPr>
              <a:t> is complete and ready for preprocessing</a:t>
            </a:r>
            <a:endParaRPr b="0" i="0" sz="1600" u="none" cap="none" strike="noStrike"/>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7" name="Shape 227"/>
        <p:cNvGrpSpPr/>
        <p:nvPr/>
      </p:nvGrpSpPr>
      <p:grpSpPr>
        <a:xfrm>
          <a:off x="0" y="0"/>
          <a:ext cx="0" cy="0"/>
          <a:chOff x="0" y="0"/>
          <a:chExt cx="0" cy="0"/>
        </a:xfrm>
      </p:grpSpPr>
      <p:sp>
        <p:nvSpPr>
          <p:cNvPr id="228" name="Google Shape;228;p9"/>
          <p:cNvSpPr/>
          <p:nvPr/>
        </p:nvSpPr>
        <p:spPr>
          <a:xfrm>
            <a:off x="361512" y="379588"/>
            <a:ext cx="424777" cy="325361"/>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2135" u="none" cap="none" strike="noStrike">
                <a:solidFill>
                  <a:srgbClr val="8B0000"/>
                </a:solidFill>
                <a:latin typeface="Sorts Mill Goudy"/>
                <a:ea typeface="Sorts Mill Goudy"/>
                <a:cs typeface="Sorts Mill Goudy"/>
                <a:sym typeface="Sorts Mill Goudy"/>
              </a:rPr>
              <a:t>2.</a:t>
            </a:r>
            <a:r>
              <a:rPr b="1" lang="en-US" sz="2135">
                <a:solidFill>
                  <a:srgbClr val="8B0000"/>
                </a:solidFill>
                <a:latin typeface="Sorts Mill Goudy"/>
                <a:ea typeface="Sorts Mill Goudy"/>
                <a:cs typeface="Sorts Mill Goudy"/>
                <a:sym typeface="Sorts Mill Goudy"/>
              </a:rPr>
              <a:t>3</a:t>
            </a:r>
            <a:endParaRPr b="0" i="0" sz="1600" u="none" cap="none" strike="noStrike"/>
          </a:p>
        </p:txBody>
      </p:sp>
      <p:sp>
        <p:nvSpPr>
          <p:cNvPr id="229" name="Google Shape;229;p9"/>
          <p:cNvSpPr/>
          <p:nvPr/>
        </p:nvSpPr>
        <p:spPr>
          <a:xfrm>
            <a:off x="757410" y="361512"/>
            <a:ext cx="3154194" cy="361512"/>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1" i="0" lang="en-US" sz="2562" u="none" cap="none" strike="noStrike">
                <a:solidFill>
                  <a:srgbClr val="1F2937"/>
                </a:solidFill>
                <a:latin typeface="Sorts Mill Goudy"/>
                <a:ea typeface="Sorts Mill Goudy"/>
                <a:cs typeface="Sorts Mill Goudy"/>
                <a:sym typeface="Sorts Mill Goudy"/>
              </a:rPr>
              <a:t>Problem Formulation</a:t>
            </a:r>
            <a:endParaRPr b="0" i="0" sz="1600" u="none" cap="none" strike="noStrike"/>
          </a:p>
        </p:txBody>
      </p:sp>
      <p:sp>
        <p:nvSpPr>
          <p:cNvPr id="230" name="Google Shape;230;p9"/>
          <p:cNvSpPr/>
          <p:nvPr/>
        </p:nvSpPr>
        <p:spPr>
          <a:xfrm>
            <a:off x="867629" y="795327"/>
            <a:ext cx="867629" cy="36151"/>
          </a:xfrm>
          <a:custGeom>
            <a:rect b="b" l="l" r="r" t="t"/>
            <a:pathLst>
              <a:path extrusionOk="0" h="36151" w="867629">
                <a:moveTo>
                  <a:pt x="0" y="0"/>
                </a:moveTo>
                <a:lnTo>
                  <a:pt x="867629" y="0"/>
                </a:lnTo>
                <a:lnTo>
                  <a:pt x="867629" y="36151"/>
                </a:lnTo>
                <a:lnTo>
                  <a:pt x="0" y="36151"/>
                </a:lnTo>
                <a:lnTo>
                  <a:pt x="0" y="0"/>
                </a:lnTo>
                <a:close/>
              </a:path>
            </a:pathLst>
          </a:custGeom>
          <a:solidFill>
            <a:srgbClr val="8B0000"/>
          </a:solidFill>
          <a:ln>
            <a:noFill/>
          </a:ln>
        </p:spPr>
      </p:sp>
      <p:sp>
        <p:nvSpPr>
          <p:cNvPr id="231" name="Google Shape;231;p9"/>
          <p:cNvSpPr/>
          <p:nvPr/>
        </p:nvSpPr>
        <p:spPr>
          <a:xfrm>
            <a:off x="361512" y="976083"/>
            <a:ext cx="11468976" cy="2060620"/>
          </a:xfrm>
          <a:custGeom>
            <a:rect b="b" l="l" r="r" t="t"/>
            <a:pathLst>
              <a:path extrusionOk="0" h="2060620" w="11468976">
                <a:moveTo>
                  <a:pt x="0" y="0"/>
                </a:moveTo>
                <a:lnTo>
                  <a:pt x="11468976" y="0"/>
                </a:lnTo>
                <a:lnTo>
                  <a:pt x="11468976" y="2060620"/>
                </a:lnTo>
                <a:lnTo>
                  <a:pt x="0" y="2060620"/>
                </a:lnTo>
                <a:lnTo>
                  <a:pt x="0" y="0"/>
                </a:lnTo>
                <a:close/>
              </a:path>
            </a:pathLst>
          </a:custGeom>
          <a:solidFill>
            <a:srgbClr val="8B0000"/>
          </a:solidFill>
          <a:ln>
            <a:noFill/>
          </a:ln>
        </p:spPr>
      </p:sp>
      <p:sp>
        <p:nvSpPr>
          <p:cNvPr id="232" name="Google Shape;232;p9"/>
          <p:cNvSpPr/>
          <p:nvPr/>
        </p:nvSpPr>
        <p:spPr>
          <a:xfrm>
            <a:off x="632646" y="1301444"/>
            <a:ext cx="433815" cy="433815"/>
          </a:xfrm>
          <a:custGeom>
            <a:rect b="b" l="l" r="r" t="t"/>
            <a:pathLst>
              <a:path extrusionOk="0" h="433815" w="433815">
                <a:moveTo>
                  <a:pt x="0" y="67784"/>
                </a:moveTo>
                <a:cubicBezTo>
                  <a:pt x="0" y="45330"/>
                  <a:pt x="18217" y="27113"/>
                  <a:pt x="40670" y="27113"/>
                </a:cubicBezTo>
                <a:lnTo>
                  <a:pt x="122010" y="27113"/>
                </a:lnTo>
                <a:cubicBezTo>
                  <a:pt x="144464" y="27113"/>
                  <a:pt x="162681" y="45330"/>
                  <a:pt x="162681" y="67784"/>
                </a:cubicBezTo>
                <a:lnTo>
                  <a:pt x="162681" y="81340"/>
                </a:lnTo>
                <a:lnTo>
                  <a:pt x="271134" y="81340"/>
                </a:lnTo>
                <a:lnTo>
                  <a:pt x="271134" y="67784"/>
                </a:lnTo>
                <a:cubicBezTo>
                  <a:pt x="271134" y="45330"/>
                  <a:pt x="289351" y="27113"/>
                  <a:pt x="311804" y="27113"/>
                </a:cubicBezTo>
                <a:lnTo>
                  <a:pt x="393145" y="27113"/>
                </a:lnTo>
                <a:cubicBezTo>
                  <a:pt x="415598" y="27113"/>
                  <a:pt x="433815" y="45330"/>
                  <a:pt x="433815" y="67784"/>
                </a:cubicBezTo>
                <a:lnTo>
                  <a:pt x="433815" y="149124"/>
                </a:lnTo>
                <a:cubicBezTo>
                  <a:pt x="433815" y="171577"/>
                  <a:pt x="415598" y="189794"/>
                  <a:pt x="393145" y="189794"/>
                </a:cubicBezTo>
                <a:lnTo>
                  <a:pt x="311804" y="189794"/>
                </a:lnTo>
                <a:cubicBezTo>
                  <a:pt x="289351" y="189794"/>
                  <a:pt x="271134" y="171577"/>
                  <a:pt x="271134" y="149124"/>
                </a:cubicBezTo>
                <a:lnTo>
                  <a:pt x="271134" y="135567"/>
                </a:lnTo>
                <a:lnTo>
                  <a:pt x="162681" y="135567"/>
                </a:lnTo>
                <a:lnTo>
                  <a:pt x="162681" y="149124"/>
                </a:lnTo>
                <a:cubicBezTo>
                  <a:pt x="162681" y="155309"/>
                  <a:pt x="161240" y="161240"/>
                  <a:pt x="158783" y="166493"/>
                </a:cubicBezTo>
                <a:lnTo>
                  <a:pt x="216907" y="244021"/>
                </a:lnTo>
                <a:lnTo>
                  <a:pt x="284691" y="244021"/>
                </a:lnTo>
                <a:cubicBezTo>
                  <a:pt x="307144" y="244021"/>
                  <a:pt x="325361" y="262238"/>
                  <a:pt x="325361" y="284691"/>
                </a:cubicBezTo>
                <a:lnTo>
                  <a:pt x="325361" y="366031"/>
                </a:lnTo>
                <a:cubicBezTo>
                  <a:pt x="325361" y="388484"/>
                  <a:pt x="307144" y="406701"/>
                  <a:pt x="284691" y="406701"/>
                </a:cubicBezTo>
                <a:lnTo>
                  <a:pt x="203351" y="406701"/>
                </a:lnTo>
                <a:cubicBezTo>
                  <a:pt x="180897" y="406701"/>
                  <a:pt x="162681" y="388484"/>
                  <a:pt x="162681" y="366031"/>
                </a:cubicBezTo>
                <a:lnTo>
                  <a:pt x="162681" y="284691"/>
                </a:lnTo>
                <a:cubicBezTo>
                  <a:pt x="162681" y="278506"/>
                  <a:pt x="164121" y="272575"/>
                  <a:pt x="166578" y="267321"/>
                </a:cubicBezTo>
                <a:lnTo>
                  <a:pt x="108454" y="189794"/>
                </a:lnTo>
                <a:lnTo>
                  <a:pt x="40670" y="189794"/>
                </a:lnTo>
                <a:cubicBezTo>
                  <a:pt x="18217" y="189794"/>
                  <a:pt x="0" y="171577"/>
                  <a:pt x="0" y="149124"/>
                </a:cubicBezTo>
                <a:lnTo>
                  <a:pt x="0" y="67784"/>
                </a:lnTo>
                <a:close/>
              </a:path>
            </a:pathLst>
          </a:custGeom>
          <a:solidFill>
            <a:srgbClr val="FFFFFF">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9"/>
          <p:cNvSpPr/>
          <p:nvPr/>
        </p:nvSpPr>
        <p:spPr>
          <a:xfrm>
            <a:off x="1265293" y="1192990"/>
            <a:ext cx="3578971" cy="325361"/>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2135" u="none" cap="none" strike="noStrike">
                <a:solidFill>
                  <a:srgbClr val="FFFFFF"/>
                </a:solidFill>
                <a:latin typeface="Sorts Mill Goudy"/>
                <a:ea typeface="Sorts Mill Goudy"/>
                <a:cs typeface="Sorts Mill Goudy"/>
                <a:sym typeface="Sorts Mill Goudy"/>
              </a:rPr>
              <a:t>Binary Classification Problem</a:t>
            </a:r>
            <a:endParaRPr b="0" i="0" sz="1600" u="none" cap="none" strike="noStrike"/>
          </a:p>
        </p:txBody>
      </p:sp>
      <p:sp>
        <p:nvSpPr>
          <p:cNvPr id="234" name="Google Shape;234;p9"/>
          <p:cNvSpPr/>
          <p:nvPr/>
        </p:nvSpPr>
        <p:spPr>
          <a:xfrm>
            <a:off x="1265293" y="1590654"/>
            <a:ext cx="3533782" cy="253059"/>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1423" u="none" cap="none" strike="noStrike">
                <a:solidFill>
                  <a:srgbClr val="FFFFFF"/>
                </a:solidFill>
                <a:latin typeface="Sorts Mill Goudy"/>
                <a:ea typeface="Sorts Mill Goudy"/>
                <a:cs typeface="Sorts Mill Goudy"/>
                <a:sym typeface="Sorts Mill Goudy"/>
              </a:rPr>
              <a:t>Supervised Machine Learning Approach</a:t>
            </a:r>
            <a:endParaRPr b="0" i="0" sz="1600" u="none" cap="none" strike="noStrike"/>
          </a:p>
        </p:txBody>
      </p:sp>
      <p:sp>
        <p:nvSpPr>
          <p:cNvPr id="235" name="Google Shape;235;p9"/>
          <p:cNvSpPr/>
          <p:nvPr/>
        </p:nvSpPr>
        <p:spPr>
          <a:xfrm>
            <a:off x="578420" y="1988317"/>
            <a:ext cx="5413646" cy="831478"/>
          </a:xfrm>
          <a:custGeom>
            <a:rect b="b" l="l" r="r" t="t"/>
            <a:pathLst>
              <a:path extrusionOk="0" h="831478" w="5413646">
                <a:moveTo>
                  <a:pt x="0" y="0"/>
                </a:moveTo>
                <a:lnTo>
                  <a:pt x="5413646" y="0"/>
                </a:lnTo>
                <a:lnTo>
                  <a:pt x="5413646" y="831478"/>
                </a:lnTo>
                <a:lnTo>
                  <a:pt x="0" y="831478"/>
                </a:lnTo>
                <a:lnTo>
                  <a:pt x="0" y="0"/>
                </a:lnTo>
                <a:close/>
              </a:path>
            </a:pathLst>
          </a:custGeom>
          <a:solidFill>
            <a:srgbClr val="FFFFFF">
              <a:alpha val="10196"/>
            </a:srgbClr>
          </a:solidFill>
          <a:ln>
            <a:noFill/>
          </a:ln>
        </p:spPr>
      </p:sp>
      <p:sp>
        <p:nvSpPr>
          <p:cNvPr id="236" name="Google Shape;236;p9"/>
          <p:cNvSpPr/>
          <p:nvPr/>
        </p:nvSpPr>
        <p:spPr>
          <a:xfrm>
            <a:off x="723024" y="2132922"/>
            <a:ext cx="5205776" cy="253059"/>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i="0" lang="en-US" sz="1281" u="none" cap="none" strike="noStrike">
                <a:solidFill>
                  <a:srgbClr val="FFFFFF"/>
                </a:solidFill>
                <a:latin typeface="Sorts Mill Goudy"/>
                <a:ea typeface="Sorts Mill Goudy"/>
                <a:cs typeface="Sorts Mill Goudy"/>
                <a:sym typeface="Sorts Mill Goudy"/>
              </a:rPr>
              <a:t>Input</a:t>
            </a:r>
            <a:endParaRPr b="0" i="0" sz="1600" u="none" cap="none" strike="noStrike"/>
          </a:p>
        </p:txBody>
      </p:sp>
      <p:sp>
        <p:nvSpPr>
          <p:cNvPr id="237" name="Google Shape;237;p9"/>
          <p:cNvSpPr/>
          <p:nvPr/>
        </p:nvSpPr>
        <p:spPr>
          <a:xfrm>
            <a:off x="723024" y="2458283"/>
            <a:ext cx="5196738" cy="216907"/>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0" i="0" lang="en-US" sz="1139" u="none" cap="none" strike="noStrike">
                <a:solidFill>
                  <a:srgbClr val="FFFFFF"/>
                </a:solidFill>
                <a:latin typeface="Sorts Mill Goudy"/>
                <a:ea typeface="Sorts Mill Goudy"/>
                <a:cs typeface="Sorts Mill Goudy"/>
                <a:sym typeface="Sorts Mill Goudy"/>
              </a:rPr>
              <a:t>URL + Web Page Features</a:t>
            </a:r>
            <a:endParaRPr b="0" i="0" sz="1600" u="none" cap="none" strike="noStrike"/>
          </a:p>
        </p:txBody>
      </p:sp>
      <p:sp>
        <p:nvSpPr>
          <p:cNvPr id="238" name="Google Shape;238;p9"/>
          <p:cNvSpPr/>
          <p:nvPr/>
        </p:nvSpPr>
        <p:spPr>
          <a:xfrm>
            <a:off x="6205936" y="1988317"/>
            <a:ext cx="5413646" cy="831478"/>
          </a:xfrm>
          <a:custGeom>
            <a:rect b="b" l="l" r="r" t="t"/>
            <a:pathLst>
              <a:path extrusionOk="0" h="831478" w="5413646">
                <a:moveTo>
                  <a:pt x="0" y="0"/>
                </a:moveTo>
                <a:lnTo>
                  <a:pt x="5413646" y="0"/>
                </a:lnTo>
                <a:lnTo>
                  <a:pt x="5413646" y="831478"/>
                </a:lnTo>
                <a:lnTo>
                  <a:pt x="0" y="831478"/>
                </a:lnTo>
                <a:lnTo>
                  <a:pt x="0" y="0"/>
                </a:lnTo>
                <a:close/>
              </a:path>
            </a:pathLst>
          </a:custGeom>
          <a:solidFill>
            <a:srgbClr val="FFFFFF">
              <a:alpha val="10196"/>
            </a:srgbClr>
          </a:solidFill>
          <a:ln>
            <a:noFill/>
          </a:ln>
        </p:spPr>
      </p:sp>
      <p:sp>
        <p:nvSpPr>
          <p:cNvPr id="239" name="Google Shape;239;p9"/>
          <p:cNvSpPr/>
          <p:nvPr/>
        </p:nvSpPr>
        <p:spPr>
          <a:xfrm>
            <a:off x="6350541" y="2132922"/>
            <a:ext cx="5205776" cy="253059"/>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i="0" lang="en-US" sz="1281" u="none" cap="none" strike="noStrike">
                <a:solidFill>
                  <a:srgbClr val="FFFFFF"/>
                </a:solidFill>
                <a:latin typeface="Sorts Mill Goudy"/>
                <a:ea typeface="Sorts Mill Goudy"/>
                <a:cs typeface="Sorts Mill Goudy"/>
                <a:sym typeface="Sorts Mill Goudy"/>
              </a:rPr>
              <a:t>Output</a:t>
            </a:r>
            <a:endParaRPr b="0" i="0" sz="1600" u="none" cap="none" strike="noStrike"/>
          </a:p>
        </p:txBody>
      </p:sp>
      <p:sp>
        <p:nvSpPr>
          <p:cNvPr id="240" name="Google Shape;240;p9"/>
          <p:cNvSpPr/>
          <p:nvPr/>
        </p:nvSpPr>
        <p:spPr>
          <a:xfrm>
            <a:off x="6350541" y="2458283"/>
            <a:ext cx="5196738" cy="216907"/>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0" i="0" lang="en-US" sz="1139" u="none" cap="none" strike="noStrike">
                <a:solidFill>
                  <a:srgbClr val="FFFFFF"/>
                </a:solidFill>
                <a:latin typeface="Sorts Mill Goudy"/>
                <a:ea typeface="Sorts Mill Goudy"/>
                <a:cs typeface="Sorts Mill Goudy"/>
                <a:sym typeface="Sorts Mill Goudy"/>
              </a:rPr>
              <a:t>Binary Classification Result</a:t>
            </a:r>
            <a:endParaRPr b="0" i="0" sz="1600" u="none" cap="none" strike="noStrike"/>
          </a:p>
        </p:txBody>
      </p:sp>
      <p:sp>
        <p:nvSpPr>
          <p:cNvPr id="241" name="Google Shape;241;p9"/>
          <p:cNvSpPr/>
          <p:nvPr/>
        </p:nvSpPr>
        <p:spPr>
          <a:xfrm>
            <a:off x="370550" y="3226497"/>
            <a:ext cx="3687425" cy="2666153"/>
          </a:xfrm>
          <a:custGeom>
            <a:rect b="b" l="l" r="r" t="t"/>
            <a:pathLst>
              <a:path extrusionOk="0" h="2666153" w="3687425">
                <a:moveTo>
                  <a:pt x="0" y="0"/>
                </a:moveTo>
                <a:lnTo>
                  <a:pt x="3687425" y="0"/>
                </a:lnTo>
                <a:lnTo>
                  <a:pt x="3687425" y="2666153"/>
                </a:lnTo>
                <a:lnTo>
                  <a:pt x="0" y="2666153"/>
                </a:lnTo>
                <a:lnTo>
                  <a:pt x="0" y="0"/>
                </a:lnTo>
                <a:close/>
              </a:path>
            </a:pathLst>
          </a:custGeom>
          <a:solidFill>
            <a:srgbClr val="F9FAFB"/>
          </a:solidFill>
          <a:ln cap="flat" cmpd="sng" w="25400">
            <a:solidFill>
              <a:srgbClr val="1F2937"/>
            </a:solidFill>
            <a:prstDash val="solid"/>
            <a:round/>
            <a:headEnd len="sm" w="sm" type="none"/>
            <a:tailEnd len="sm" w="sm" type="none"/>
          </a:ln>
        </p:spPr>
      </p:sp>
      <p:sp>
        <p:nvSpPr>
          <p:cNvPr id="242" name="Google Shape;242;p9"/>
          <p:cNvSpPr/>
          <p:nvPr/>
        </p:nvSpPr>
        <p:spPr>
          <a:xfrm>
            <a:off x="560344" y="3416291"/>
            <a:ext cx="506117" cy="506117"/>
          </a:xfrm>
          <a:custGeom>
            <a:rect b="b" l="l" r="r" t="t"/>
            <a:pathLst>
              <a:path extrusionOk="0" h="506117" w="506117">
                <a:moveTo>
                  <a:pt x="0" y="0"/>
                </a:moveTo>
                <a:lnTo>
                  <a:pt x="506117" y="0"/>
                </a:lnTo>
                <a:lnTo>
                  <a:pt x="506117" y="506117"/>
                </a:lnTo>
                <a:lnTo>
                  <a:pt x="0" y="506117"/>
                </a:lnTo>
                <a:lnTo>
                  <a:pt x="0" y="0"/>
                </a:lnTo>
                <a:close/>
              </a:path>
            </a:pathLst>
          </a:custGeom>
          <a:solidFill>
            <a:srgbClr val="1F2937"/>
          </a:solidFill>
          <a:ln>
            <a:noFill/>
          </a:ln>
        </p:spPr>
      </p:sp>
      <p:sp>
        <p:nvSpPr>
          <p:cNvPr id="243" name="Google Shape;243;p9"/>
          <p:cNvSpPr/>
          <p:nvPr/>
        </p:nvSpPr>
        <p:spPr>
          <a:xfrm>
            <a:off x="506117" y="3416291"/>
            <a:ext cx="614571" cy="506117"/>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None/>
            </a:pPr>
            <a:r>
              <a:rPr b="1" i="0" lang="en-US" sz="1708" u="none" cap="none" strike="noStrike">
                <a:solidFill>
                  <a:srgbClr val="FFFFFF"/>
                </a:solidFill>
                <a:latin typeface="Sorts Mill Goudy"/>
                <a:ea typeface="Sorts Mill Goudy"/>
                <a:cs typeface="Sorts Mill Goudy"/>
                <a:sym typeface="Sorts Mill Goudy"/>
              </a:rPr>
              <a:t>1</a:t>
            </a:r>
            <a:endParaRPr b="0" i="0" sz="1600" u="none" cap="none" strike="noStrike"/>
          </a:p>
        </p:txBody>
      </p:sp>
      <p:sp>
        <p:nvSpPr>
          <p:cNvPr id="244" name="Google Shape;244;p9"/>
          <p:cNvSpPr/>
          <p:nvPr/>
        </p:nvSpPr>
        <p:spPr>
          <a:xfrm>
            <a:off x="1174915" y="3524744"/>
            <a:ext cx="1102612" cy="28921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i="0" lang="en-US" sz="1708" u="none" cap="none" strike="noStrike">
                <a:solidFill>
                  <a:srgbClr val="1F2937"/>
                </a:solidFill>
                <a:latin typeface="Sorts Mill Goudy"/>
                <a:ea typeface="Sorts Mill Goudy"/>
                <a:cs typeface="Sorts Mill Goudy"/>
                <a:sym typeface="Sorts Mill Goudy"/>
              </a:rPr>
              <a:t>Legitimate</a:t>
            </a:r>
            <a:endParaRPr b="0" i="0" sz="1600" u="none" cap="none" strike="noStrike"/>
          </a:p>
        </p:txBody>
      </p:sp>
      <p:sp>
        <p:nvSpPr>
          <p:cNvPr id="245" name="Google Shape;245;p9"/>
          <p:cNvSpPr/>
          <p:nvPr/>
        </p:nvSpPr>
        <p:spPr>
          <a:xfrm>
            <a:off x="1942069" y="4067013"/>
            <a:ext cx="542268" cy="542268"/>
          </a:xfrm>
          <a:custGeom>
            <a:rect b="b" l="l" r="r" t="t"/>
            <a:pathLst>
              <a:path extrusionOk="0" h="542268" w="542268">
                <a:moveTo>
                  <a:pt x="271134" y="542268"/>
                </a:moveTo>
                <a:cubicBezTo>
                  <a:pt x="420777" y="542268"/>
                  <a:pt x="542268" y="420777"/>
                  <a:pt x="542268" y="271134"/>
                </a:cubicBezTo>
                <a:cubicBezTo>
                  <a:pt x="542268" y="121491"/>
                  <a:pt x="420777" y="0"/>
                  <a:pt x="271134" y="0"/>
                </a:cubicBezTo>
                <a:cubicBezTo>
                  <a:pt x="121491" y="0"/>
                  <a:pt x="0" y="121491"/>
                  <a:pt x="0" y="271134"/>
                </a:cubicBezTo>
                <a:cubicBezTo>
                  <a:pt x="0" y="420777"/>
                  <a:pt x="121491" y="542268"/>
                  <a:pt x="271134" y="542268"/>
                </a:cubicBezTo>
                <a:close/>
                <a:moveTo>
                  <a:pt x="360524" y="225274"/>
                </a:moveTo>
                <a:lnTo>
                  <a:pt x="275794" y="360841"/>
                </a:lnTo>
                <a:cubicBezTo>
                  <a:pt x="271346" y="367938"/>
                  <a:pt x="263720" y="372386"/>
                  <a:pt x="255353" y="372809"/>
                </a:cubicBezTo>
                <a:cubicBezTo>
                  <a:pt x="246986" y="373233"/>
                  <a:pt x="238937" y="369420"/>
                  <a:pt x="233959" y="362642"/>
                </a:cubicBezTo>
                <a:lnTo>
                  <a:pt x="183121" y="294858"/>
                </a:lnTo>
                <a:cubicBezTo>
                  <a:pt x="174649" y="283632"/>
                  <a:pt x="176979" y="267745"/>
                  <a:pt x="188205" y="259272"/>
                </a:cubicBezTo>
                <a:cubicBezTo>
                  <a:pt x="199432" y="250799"/>
                  <a:pt x="215319" y="253129"/>
                  <a:pt x="223792" y="264356"/>
                </a:cubicBezTo>
                <a:lnTo>
                  <a:pt x="252388" y="302484"/>
                </a:lnTo>
                <a:lnTo>
                  <a:pt x="317418" y="198373"/>
                </a:lnTo>
                <a:cubicBezTo>
                  <a:pt x="324831" y="186511"/>
                  <a:pt x="340506" y="182804"/>
                  <a:pt x="352474" y="190323"/>
                </a:cubicBezTo>
                <a:cubicBezTo>
                  <a:pt x="364442" y="197843"/>
                  <a:pt x="368043" y="213412"/>
                  <a:pt x="360524" y="225380"/>
                </a:cubicBezTo>
                <a:close/>
              </a:path>
            </a:pathLst>
          </a:custGeom>
          <a:solidFill>
            <a:srgbClr val="1F29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9"/>
          <p:cNvSpPr/>
          <p:nvPr/>
        </p:nvSpPr>
        <p:spPr>
          <a:xfrm>
            <a:off x="1478740" y="4753886"/>
            <a:ext cx="1473162" cy="433815"/>
          </a:xfrm>
          <a:prstGeom prst="rect">
            <a:avLst/>
          </a:prstGeom>
          <a:noFill/>
          <a:ln>
            <a:noFill/>
          </a:ln>
        </p:spPr>
        <p:txBody>
          <a:bodyPr anchorCtr="0" anchor="ctr" bIns="0" lIns="0" spcFirstLastPara="1" rIns="0" wrap="square" tIns="0">
            <a:noAutofit/>
          </a:bodyPr>
          <a:lstStyle/>
          <a:p>
            <a:pPr indent="0" lvl="0" marL="0" marR="0" rtl="0" algn="ctr">
              <a:lnSpc>
                <a:spcPct val="80000"/>
              </a:lnSpc>
              <a:spcBef>
                <a:spcPts val="0"/>
              </a:spcBef>
              <a:spcAft>
                <a:spcPts val="0"/>
              </a:spcAft>
              <a:buNone/>
            </a:pPr>
            <a:r>
              <a:rPr b="1" i="0" lang="en-US" sz="3416" u="none" cap="none" strike="noStrike">
                <a:solidFill>
                  <a:srgbClr val="1F2937"/>
                </a:solidFill>
                <a:latin typeface="Sorts Mill Goudy"/>
                <a:ea typeface="Sorts Mill Goudy"/>
                <a:cs typeface="Sorts Mill Goudy"/>
                <a:sym typeface="Sorts Mill Goudy"/>
              </a:rPr>
              <a:t>Class 1</a:t>
            </a:r>
            <a:endParaRPr b="0" i="0" sz="1600" u="none" cap="none" strike="noStrike"/>
          </a:p>
        </p:txBody>
      </p:sp>
      <p:sp>
        <p:nvSpPr>
          <p:cNvPr id="247" name="Google Shape;247;p9"/>
          <p:cNvSpPr/>
          <p:nvPr/>
        </p:nvSpPr>
        <p:spPr>
          <a:xfrm>
            <a:off x="560344" y="5336824"/>
            <a:ext cx="3307837" cy="9038"/>
          </a:xfrm>
          <a:custGeom>
            <a:rect b="b" l="l" r="r" t="t"/>
            <a:pathLst>
              <a:path extrusionOk="0" h="9038" w="3307837">
                <a:moveTo>
                  <a:pt x="0" y="0"/>
                </a:moveTo>
                <a:lnTo>
                  <a:pt x="3307837" y="0"/>
                </a:lnTo>
                <a:lnTo>
                  <a:pt x="3307837" y="9038"/>
                </a:lnTo>
                <a:lnTo>
                  <a:pt x="0" y="9038"/>
                </a:lnTo>
                <a:lnTo>
                  <a:pt x="0" y="0"/>
                </a:lnTo>
                <a:close/>
              </a:path>
            </a:pathLst>
          </a:custGeom>
          <a:solidFill>
            <a:srgbClr val="E5E7EB"/>
          </a:solidFill>
          <a:ln>
            <a:noFill/>
          </a:ln>
        </p:spPr>
      </p:sp>
      <p:sp>
        <p:nvSpPr>
          <p:cNvPr id="248" name="Google Shape;248;p9"/>
          <p:cNvSpPr/>
          <p:nvPr/>
        </p:nvSpPr>
        <p:spPr>
          <a:xfrm>
            <a:off x="524193" y="5485948"/>
            <a:ext cx="3380139" cy="216907"/>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0" i="0" lang="en-US" sz="1139" u="none" cap="none" strike="noStrike">
                <a:solidFill>
                  <a:srgbClr val="6B7280"/>
                </a:solidFill>
                <a:latin typeface="Sorts Mill Goudy"/>
                <a:ea typeface="Sorts Mill Goudy"/>
                <a:cs typeface="Sorts Mill Goudy"/>
                <a:sym typeface="Sorts Mill Goudy"/>
              </a:rPr>
              <a:t>Safe, authentic websites</a:t>
            </a:r>
            <a:endParaRPr b="0" i="0" sz="1600" u="none" cap="none" strike="noStrike"/>
          </a:p>
        </p:txBody>
      </p:sp>
      <p:sp>
        <p:nvSpPr>
          <p:cNvPr id="249" name="Google Shape;249;p9"/>
          <p:cNvSpPr/>
          <p:nvPr/>
        </p:nvSpPr>
        <p:spPr>
          <a:xfrm>
            <a:off x="4254759" y="3226497"/>
            <a:ext cx="3687425" cy="2666153"/>
          </a:xfrm>
          <a:custGeom>
            <a:rect b="b" l="l" r="r" t="t"/>
            <a:pathLst>
              <a:path extrusionOk="0" h="2666153" w="3687425">
                <a:moveTo>
                  <a:pt x="0" y="0"/>
                </a:moveTo>
                <a:lnTo>
                  <a:pt x="3687425" y="0"/>
                </a:lnTo>
                <a:lnTo>
                  <a:pt x="3687425" y="2666153"/>
                </a:lnTo>
                <a:lnTo>
                  <a:pt x="0" y="2666153"/>
                </a:lnTo>
                <a:lnTo>
                  <a:pt x="0" y="0"/>
                </a:lnTo>
                <a:close/>
              </a:path>
            </a:pathLst>
          </a:custGeom>
          <a:solidFill>
            <a:srgbClr val="F9FAFB"/>
          </a:solidFill>
          <a:ln cap="flat" cmpd="sng" w="25400">
            <a:solidFill>
              <a:srgbClr val="8B0000"/>
            </a:solidFill>
            <a:prstDash val="solid"/>
            <a:round/>
            <a:headEnd len="sm" w="sm" type="none"/>
            <a:tailEnd len="sm" w="sm" type="none"/>
          </a:ln>
        </p:spPr>
      </p:sp>
      <p:sp>
        <p:nvSpPr>
          <p:cNvPr id="250" name="Google Shape;250;p9"/>
          <p:cNvSpPr/>
          <p:nvPr/>
        </p:nvSpPr>
        <p:spPr>
          <a:xfrm>
            <a:off x="4444553" y="3416291"/>
            <a:ext cx="506117" cy="506117"/>
          </a:xfrm>
          <a:custGeom>
            <a:rect b="b" l="l" r="r" t="t"/>
            <a:pathLst>
              <a:path extrusionOk="0" h="506117" w="506117">
                <a:moveTo>
                  <a:pt x="0" y="0"/>
                </a:moveTo>
                <a:lnTo>
                  <a:pt x="506117" y="0"/>
                </a:lnTo>
                <a:lnTo>
                  <a:pt x="506117" y="506117"/>
                </a:lnTo>
                <a:lnTo>
                  <a:pt x="0" y="506117"/>
                </a:lnTo>
                <a:lnTo>
                  <a:pt x="0" y="0"/>
                </a:lnTo>
                <a:close/>
              </a:path>
            </a:pathLst>
          </a:custGeom>
          <a:solidFill>
            <a:srgbClr val="8B0000"/>
          </a:solidFill>
          <a:ln>
            <a:noFill/>
          </a:ln>
        </p:spPr>
      </p:sp>
      <p:sp>
        <p:nvSpPr>
          <p:cNvPr id="251" name="Google Shape;251;p9"/>
          <p:cNvSpPr/>
          <p:nvPr/>
        </p:nvSpPr>
        <p:spPr>
          <a:xfrm>
            <a:off x="4390326" y="3416291"/>
            <a:ext cx="614571" cy="506117"/>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None/>
            </a:pPr>
            <a:r>
              <a:rPr b="1" i="0" lang="en-US" sz="1708" u="none" cap="none" strike="noStrike">
                <a:solidFill>
                  <a:srgbClr val="FFFFFF"/>
                </a:solidFill>
                <a:latin typeface="Sorts Mill Goudy"/>
                <a:ea typeface="Sorts Mill Goudy"/>
                <a:cs typeface="Sorts Mill Goudy"/>
                <a:sym typeface="Sorts Mill Goudy"/>
              </a:rPr>
              <a:t>0</a:t>
            </a:r>
            <a:endParaRPr b="0" i="0" sz="1600" u="none" cap="none" strike="noStrike"/>
          </a:p>
        </p:txBody>
      </p:sp>
      <p:sp>
        <p:nvSpPr>
          <p:cNvPr id="252" name="Google Shape;252;p9"/>
          <p:cNvSpPr/>
          <p:nvPr/>
        </p:nvSpPr>
        <p:spPr>
          <a:xfrm>
            <a:off x="5059124" y="3524744"/>
            <a:ext cx="930894" cy="28921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i="0" lang="en-US" sz="1708" u="none" cap="none" strike="noStrike">
                <a:solidFill>
                  <a:srgbClr val="8B0000"/>
                </a:solidFill>
                <a:latin typeface="Sorts Mill Goudy"/>
                <a:ea typeface="Sorts Mill Goudy"/>
                <a:cs typeface="Sorts Mill Goudy"/>
                <a:sym typeface="Sorts Mill Goudy"/>
              </a:rPr>
              <a:t>Phishing</a:t>
            </a:r>
            <a:endParaRPr b="0" i="0" sz="1600" u="none" cap="none" strike="noStrike"/>
          </a:p>
        </p:txBody>
      </p:sp>
      <p:sp>
        <p:nvSpPr>
          <p:cNvPr id="253" name="Google Shape;253;p9"/>
          <p:cNvSpPr/>
          <p:nvPr/>
        </p:nvSpPr>
        <p:spPr>
          <a:xfrm>
            <a:off x="5826278" y="4067013"/>
            <a:ext cx="542268" cy="542268"/>
          </a:xfrm>
          <a:custGeom>
            <a:rect b="b" l="l" r="r" t="t"/>
            <a:pathLst>
              <a:path extrusionOk="0" h="542268" w="542268">
                <a:moveTo>
                  <a:pt x="271134" y="542268"/>
                </a:moveTo>
                <a:cubicBezTo>
                  <a:pt x="420777" y="542268"/>
                  <a:pt x="542268" y="420777"/>
                  <a:pt x="542268" y="271134"/>
                </a:cubicBezTo>
                <a:cubicBezTo>
                  <a:pt x="542268" y="121491"/>
                  <a:pt x="420777" y="0"/>
                  <a:pt x="271134" y="0"/>
                </a:cubicBezTo>
                <a:cubicBezTo>
                  <a:pt x="121491" y="0"/>
                  <a:pt x="0" y="121491"/>
                  <a:pt x="0" y="271134"/>
                </a:cubicBezTo>
                <a:cubicBezTo>
                  <a:pt x="0" y="420777"/>
                  <a:pt x="121491" y="542268"/>
                  <a:pt x="271134" y="542268"/>
                </a:cubicBezTo>
                <a:close/>
                <a:moveTo>
                  <a:pt x="176873" y="176873"/>
                </a:moveTo>
                <a:cubicBezTo>
                  <a:pt x="186828" y="166917"/>
                  <a:pt x="202927" y="166917"/>
                  <a:pt x="212777" y="176873"/>
                </a:cubicBezTo>
                <a:lnTo>
                  <a:pt x="271028" y="235124"/>
                </a:lnTo>
                <a:lnTo>
                  <a:pt x="329280" y="176873"/>
                </a:lnTo>
                <a:cubicBezTo>
                  <a:pt x="339235" y="166917"/>
                  <a:pt x="355334" y="166917"/>
                  <a:pt x="365184" y="176873"/>
                </a:cubicBezTo>
                <a:cubicBezTo>
                  <a:pt x="375034" y="186828"/>
                  <a:pt x="375140" y="202927"/>
                  <a:pt x="365184" y="212777"/>
                </a:cubicBezTo>
                <a:lnTo>
                  <a:pt x="306932" y="271028"/>
                </a:lnTo>
                <a:lnTo>
                  <a:pt x="365184" y="329280"/>
                </a:lnTo>
                <a:cubicBezTo>
                  <a:pt x="375140" y="339235"/>
                  <a:pt x="375140" y="355334"/>
                  <a:pt x="365184" y="365184"/>
                </a:cubicBezTo>
                <a:cubicBezTo>
                  <a:pt x="355228" y="375034"/>
                  <a:pt x="339130" y="375140"/>
                  <a:pt x="329280" y="365184"/>
                </a:cubicBezTo>
                <a:lnTo>
                  <a:pt x="271028" y="306932"/>
                </a:lnTo>
                <a:lnTo>
                  <a:pt x="212777" y="365184"/>
                </a:lnTo>
                <a:cubicBezTo>
                  <a:pt x="202821" y="375140"/>
                  <a:pt x="186722" y="375140"/>
                  <a:pt x="176873" y="365184"/>
                </a:cubicBezTo>
                <a:cubicBezTo>
                  <a:pt x="167023" y="355228"/>
                  <a:pt x="166917" y="339130"/>
                  <a:pt x="176873" y="329280"/>
                </a:cubicBezTo>
                <a:lnTo>
                  <a:pt x="235124" y="271028"/>
                </a:lnTo>
                <a:lnTo>
                  <a:pt x="176873" y="212777"/>
                </a:lnTo>
                <a:cubicBezTo>
                  <a:pt x="166917" y="202821"/>
                  <a:pt x="166917" y="186722"/>
                  <a:pt x="176873" y="176873"/>
                </a:cubicBezTo>
                <a:close/>
              </a:path>
            </a:pathLst>
          </a:custGeom>
          <a:solidFill>
            <a:srgbClr val="8B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9"/>
          <p:cNvSpPr/>
          <p:nvPr/>
        </p:nvSpPr>
        <p:spPr>
          <a:xfrm>
            <a:off x="5321997" y="4753886"/>
            <a:ext cx="1554503" cy="433815"/>
          </a:xfrm>
          <a:prstGeom prst="rect">
            <a:avLst/>
          </a:prstGeom>
          <a:noFill/>
          <a:ln>
            <a:noFill/>
          </a:ln>
        </p:spPr>
        <p:txBody>
          <a:bodyPr anchorCtr="0" anchor="ctr" bIns="0" lIns="0" spcFirstLastPara="1" rIns="0" wrap="square" tIns="0">
            <a:noAutofit/>
          </a:bodyPr>
          <a:lstStyle/>
          <a:p>
            <a:pPr indent="0" lvl="0" marL="0" marR="0" rtl="0" algn="ctr">
              <a:lnSpc>
                <a:spcPct val="80000"/>
              </a:lnSpc>
              <a:spcBef>
                <a:spcPts val="0"/>
              </a:spcBef>
              <a:spcAft>
                <a:spcPts val="0"/>
              </a:spcAft>
              <a:buNone/>
            </a:pPr>
            <a:r>
              <a:rPr b="1" i="0" lang="en-US" sz="3416" u="none" cap="none" strike="noStrike">
                <a:solidFill>
                  <a:srgbClr val="8B0000"/>
                </a:solidFill>
                <a:latin typeface="Sorts Mill Goudy"/>
                <a:ea typeface="Sorts Mill Goudy"/>
                <a:cs typeface="Sorts Mill Goudy"/>
                <a:sym typeface="Sorts Mill Goudy"/>
              </a:rPr>
              <a:t>Class 0</a:t>
            </a:r>
            <a:endParaRPr b="0" i="0" sz="1600" u="none" cap="none" strike="noStrike"/>
          </a:p>
        </p:txBody>
      </p:sp>
      <p:sp>
        <p:nvSpPr>
          <p:cNvPr id="255" name="Google Shape;255;p9"/>
          <p:cNvSpPr/>
          <p:nvPr/>
        </p:nvSpPr>
        <p:spPr>
          <a:xfrm>
            <a:off x="4444553" y="5336824"/>
            <a:ext cx="3307837" cy="9038"/>
          </a:xfrm>
          <a:custGeom>
            <a:rect b="b" l="l" r="r" t="t"/>
            <a:pathLst>
              <a:path extrusionOk="0" h="9038" w="3307837">
                <a:moveTo>
                  <a:pt x="0" y="0"/>
                </a:moveTo>
                <a:lnTo>
                  <a:pt x="3307837" y="0"/>
                </a:lnTo>
                <a:lnTo>
                  <a:pt x="3307837" y="9038"/>
                </a:lnTo>
                <a:lnTo>
                  <a:pt x="0" y="9038"/>
                </a:lnTo>
                <a:lnTo>
                  <a:pt x="0" y="0"/>
                </a:lnTo>
                <a:close/>
              </a:path>
            </a:pathLst>
          </a:custGeom>
          <a:solidFill>
            <a:srgbClr val="E5E7EB"/>
          </a:solidFill>
          <a:ln>
            <a:noFill/>
          </a:ln>
        </p:spPr>
      </p:sp>
      <p:sp>
        <p:nvSpPr>
          <p:cNvPr id="256" name="Google Shape;256;p9"/>
          <p:cNvSpPr/>
          <p:nvPr/>
        </p:nvSpPr>
        <p:spPr>
          <a:xfrm>
            <a:off x="4408402" y="5485948"/>
            <a:ext cx="3380139" cy="216907"/>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0" i="0" lang="en-US" sz="1139" u="none" cap="none" strike="noStrike">
                <a:solidFill>
                  <a:srgbClr val="6B7280"/>
                </a:solidFill>
                <a:latin typeface="Sorts Mill Goudy"/>
                <a:ea typeface="Sorts Mill Goudy"/>
                <a:cs typeface="Sorts Mill Goudy"/>
                <a:sym typeface="Sorts Mill Goudy"/>
              </a:rPr>
              <a:t>Malicious, fraudulent websites</a:t>
            </a:r>
            <a:endParaRPr b="0" i="0" sz="1600" u="none" cap="none" strike="noStrike"/>
          </a:p>
        </p:txBody>
      </p:sp>
      <p:sp>
        <p:nvSpPr>
          <p:cNvPr id="257" name="Google Shape;257;p9"/>
          <p:cNvSpPr/>
          <p:nvPr/>
        </p:nvSpPr>
        <p:spPr>
          <a:xfrm>
            <a:off x="8129930" y="3217459"/>
            <a:ext cx="3705500" cy="2684228"/>
          </a:xfrm>
          <a:custGeom>
            <a:rect b="b" l="l" r="r" t="t"/>
            <a:pathLst>
              <a:path extrusionOk="0" h="2684228" w="3705500">
                <a:moveTo>
                  <a:pt x="0" y="0"/>
                </a:moveTo>
                <a:lnTo>
                  <a:pt x="3705500" y="0"/>
                </a:lnTo>
                <a:lnTo>
                  <a:pt x="3705500" y="2684228"/>
                </a:lnTo>
                <a:lnTo>
                  <a:pt x="0" y="2684228"/>
                </a:lnTo>
                <a:lnTo>
                  <a:pt x="0" y="0"/>
                </a:lnTo>
                <a:close/>
              </a:path>
            </a:pathLst>
          </a:custGeom>
          <a:solidFill>
            <a:srgbClr val="1F2937"/>
          </a:solidFill>
          <a:ln>
            <a:noFill/>
          </a:ln>
        </p:spPr>
      </p:sp>
      <p:sp>
        <p:nvSpPr>
          <p:cNvPr id="258" name="Google Shape;258;p9"/>
          <p:cNvSpPr/>
          <p:nvPr/>
        </p:nvSpPr>
        <p:spPr>
          <a:xfrm>
            <a:off x="8310686" y="3434366"/>
            <a:ext cx="225945" cy="180756"/>
          </a:xfrm>
          <a:custGeom>
            <a:rect b="b" l="l" r="r" t="t"/>
            <a:pathLst>
              <a:path extrusionOk="0" h="180756" w="225945">
                <a:moveTo>
                  <a:pt x="146829" y="74315"/>
                </a:moveTo>
                <a:cubicBezTo>
                  <a:pt x="151136" y="73150"/>
                  <a:pt x="155655" y="75197"/>
                  <a:pt x="157597" y="79187"/>
                </a:cubicBezTo>
                <a:lnTo>
                  <a:pt x="164163" y="92461"/>
                </a:lnTo>
                <a:cubicBezTo>
                  <a:pt x="167800" y="92955"/>
                  <a:pt x="171365" y="93944"/>
                  <a:pt x="174719" y="95321"/>
                </a:cubicBezTo>
                <a:lnTo>
                  <a:pt x="187076" y="87095"/>
                </a:lnTo>
                <a:cubicBezTo>
                  <a:pt x="190782" y="84624"/>
                  <a:pt x="195690" y="85118"/>
                  <a:pt x="198832" y="88260"/>
                </a:cubicBezTo>
                <a:lnTo>
                  <a:pt x="205610" y="95038"/>
                </a:lnTo>
                <a:cubicBezTo>
                  <a:pt x="208752" y="98180"/>
                  <a:pt x="209246" y="103123"/>
                  <a:pt x="206775" y="106794"/>
                </a:cubicBezTo>
                <a:lnTo>
                  <a:pt x="198549" y="119115"/>
                </a:lnTo>
                <a:cubicBezTo>
                  <a:pt x="199220" y="120775"/>
                  <a:pt x="199820" y="122505"/>
                  <a:pt x="200314" y="124305"/>
                </a:cubicBezTo>
                <a:cubicBezTo>
                  <a:pt x="200809" y="126106"/>
                  <a:pt x="201126" y="127871"/>
                  <a:pt x="201374" y="129671"/>
                </a:cubicBezTo>
                <a:lnTo>
                  <a:pt x="214683" y="136238"/>
                </a:lnTo>
                <a:cubicBezTo>
                  <a:pt x="218673" y="138215"/>
                  <a:pt x="220720" y="142734"/>
                  <a:pt x="219555" y="147006"/>
                </a:cubicBezTo>
                <a:lnTo>
                  <a:pt x="217084" y="156255"/>
                </a:lnTo>
                <a:cubicBezTo>
                  <a:pt x="215919" y="160527"/>
                  <a:pt x="211929" y="163422"/>
                  <a:pt x="207481" y="163139"/>
                </a:cubicBezTo>
                <a:lnTo>
                  <a:pt x="192654" y="162186"/>
                </a:lnTo>
                <a:cubicBezTo>
                  <a:pt x="190429" y="165046"/>
                  <a:pt x="187852" y="167694"/>
                  <a:pt x="184922" y="169953"/>
                </a:cubicBezTo>
                <a:lnTo>
                  <a:pt x="185875" y="184745"/>
                </a:lnTo>
                <a:cubicBezTo>
                  <a:pt x="186158" y="189194"/>
                  <a:pt x="183263" y="193218"/>
                  <a:pt x="178991" y="194348"/>
                </a:cubicBezTo>
                <a:lnTo>
                  <a:pt x="169741" y="196819"/>
                </a:lnTo>
                <a:cubicBezTo>
                  <a:pt x="165434" y="197984"/>
                  <a:pt x="160951" y="195937"/>
                  <a:pt x="158974" y="191947"/>
                </a:cubicBezTo>
                <a:lnTo>
                  <a:pt x="152407" y="178673"/>
                </a:lnTo>
                <a:cubicBezTo>
                  <a:pt x="148771" y="178179"/>
                  <a:pt x="145205" y="177190"/>
                  <a:pt x="141851" y="175814"/>
                </a:cubicBezTo>
                <a:lnTo>
                  <a:pt x="129495" y="184039"/>
                </a:lnTo>
                <a:cubicBezTo>
                  <a:pt x="125788" y="186511"/>
                  <a:pt x="120881" y="186016"/>
                  <a:pt x="117739" y="182874"/>
                </a:cubicBezTo>
                <a:lnTo>
                  <a:pt x="110960" y="176096"/>
                </a:lnTo>
                <a:cubicBezTo>
                  <a:pt x="107818" y="172954"/>
                  <a:pt x="107324" y="168047"/>
                  <a:pt x="109795" y="164340"/>
                </a:cubicBezTo>
                <a:lnTo>
                  <a:pt x="118021" y="151983"/>
                </a:lnTo>
                <a:cubicBezTo>
                  <a:pt x="117350" y="150324"/>
                  <a:pt x="116750" y="148594"/>
                  <a:pt x="116256" y="146794"/>
                </a:cubicBezTo>
                <a:cubicBezTo>
                  <a:pt x="115762" y="144993"/>
                  <a:pt x="115444" y="143193"/>
                  <a:pt x="115197" y="141428"/>
                </a:cubicBezTo>
                <a:lnTo>
                  <a:pt x="101887" y="134861"/>
                </a:lnTo>
                <a:cubicBezTo>
                  <a:pt x="97898" y="132884"/>
                  <a:pt x="95885" y="128365"/>
                  <a:pt x="97015" y="124093"/>
                </a:cubicBezTo>
                <a:lnTo>
                  <a:pt x="99486" y="114844"/>
                </a:lnTo>
                <a:cubicBezTo>
                  <a:pt x="100652" y="110572"/>
                  <a:pt x="104641" y="107677"/>
                  <a:pt x="109089" y="107959"/>
                </a:cubicBezTo>
                <a:lnTo>
                  <a:pt x="123881" y="108913"/>
                </a:lnTo>
                <a:cubicBezTo>
                  <a:pt x="126106" y="106053"/>
                  <a:pt x="128683" y="103405"/>
                  <a:pt x="131613" y="101146"/>
                </a:cubicBezTo>
                <a:lnTo>
                  <a:pt x="130660" y="86389"/>
                </a:lnTo>
                <a:cubicBezTo>
                  <a:pt x="130377" y="81940"/>
                  <a:pt x="133272" y="77916"/>
                  <a:pt x="137544" y="76786"/>
                </a:cubicBezTo>
                <a:lnTo>
                  <a:pt x="146794" y="74315"/>
                </a:lnTo>
                <a:close/>
                <a:moveTo>
                  <a:pt x="158303" y="120033"/>
                </a:moveTo>
                <a:cubicBezTo>
                  <a:pt x="149730" y="120043"/>
                  <a:pt x="142777" y="127011"/>
                  <a:pt x="142787" y="135585"/>
                </a:cubicBezTo>
                <a:cubicBezTo>
                  <a:pt x="142796" y="144158"/>
                  <a:pt x="149765" y="151111"/>
                  <a:pt x="158338" y="151101"/>
                </a:cubicBezTo>
                <a:cubicBezTo>
                  <a:pt x="166911" y="151091"/>
                  <a:pt x="173864" y="144123"/>
                  <a:pt x="173854" y="135549"/>
                </a:cubicBezTo>
                <a:cubicBezTo>
                  <a:pt x="173844" y="126976"/>
                  <a:pt x="166876" y="120024"/>
                  <a:pt x="158303" y="120033"/>
                </a:cubicBezTo>
                <a:close/>
                <a:moveTo>
                  <a:pt x="79399" y="-16063"/>
                </a:moveTo>
                <a:lnTo>
                  <a:pt x="88648" y="-13592"/>
                </a:lnTo>
                <a:cubicBezTo>
                  <a:pt x="92920" y="-12427"/>
                  <a:pt x="95815" y="-8402"/>
                  <a:pt x="95532" y="-3989"/>
                </a:cubicBezTo>
                <a:lnTo>
                  <a:pt x="94579" y="10768"/>
                </a:lnTo>
                <a:cubicBezTo>
                  <a:pt x="97509" y="13027"/>
                  <a:pt x="100087" y="15640"/>
                  <a:pt x="102311" y="18535"/>
                </a:cubicBezTo>
                <a:lnTo>
                  <a:pt x="117138" y="17581"/>
                </a:lnTo>
                <a:cubicBezTo>
                  <a:pt x="121551" y="17299"/>
                  <a:pt x="125576" y="20194"/>
                  <a:pt x="126741" y="24466"/>
                </a:cubicBezTo>
                <a:lnTo>
                  <a:pt x="129212" y="33715"/>
                </a:lnTo>
                <a:cubicBezTo>
                  <a:pt x="130342" y="37987"/>
                  <a:pt x="128330" y="42506"/>
                  <a:pt x="124340" y="44483"/>
                </a:cubicBezTo>
                <a:lnTo>
                  <a:pt x="111031" y="51049"/>
                </a:lnTo>
                <a:cubicBezTo>
                  <a:pt x="110784" y="52850"/>
                  <a:pt x="110431" y="54650"/>
                  <a:pt x="109972" y="56416"/>
                </a:cubicBezTo>
                <a:cubicBezTo>
                  <a:pt x="109513" y="58181"/>
                  <a:pt x="108877" y="59946"/>
                  <a:pt x="108207" y="61605"/>
                </a:cubicBezTo>
                <a:lnTo>
                  <a:pt x="116432" y="73962"/>
                </a:lnTo>
                <a:cubicBezTo>
                  <a:pt x="118904" y="77669"/>
                  <a:pt x="118409" y="82576"/>
                  <a:pt x="115267" y="85718"/>
                </a:cubicBezTo>
                <a:lnTo>
                  <a:pt x="108489" y="92496"/>
                </a:lnTo>
                <a:cubicBezTo>
                  <a:pt x="105347" y="95638"/>
                  <a:pt x="100440" y="96133"/>
                  <a:pt x="96733" y="93661"/>
                </a:cubicBezTo>
                <a:lnTo>
                  <a:pt x="84376" y="85436"/>
                </a:lnTo>
                <a:cubicBezTo>
                  <a:pt x="81023" y="86812"/>
                  <a:pt x="77457" y="87801"/>
                  <a:pt x="73821" y="88295"/>
                </a:cubicBezTo>
                <a:lnTo>
                  <a:pt x="67254" y="101569"/>
                </a:lnTo>
                <a:cubicBezTo>
                  <a:pt x="65277" y="105559"/>
                  <a:pt x="60758" y="107571"/>
                  <a:pt x="56486" y="106441"/>
                </a:cubicBezTo>
                <a:lnTo>
                  <a:pt x="47237" y="103970"/>
                </a:lnTo>
                <a:cubicBezTo>
                  <a:pt x="42930" y="102805"/>
                  <a:pt x="40070" y="98780"/>
                  <a:pt x="40352" y="94367"/>
                </a:cubicBezTo>
                <a:lnTo>
                  <a:pt x="41306" y="79575"/>
                </a:lnTo>
                <a:cubicBezTo>
                  <a:pt x="38375" y="77316"/>
                  <a:pt x="35798" y="74703"/>
                  <a:pt x="33574" y="71808"/>
                </a:cubicBezTo>
                <a:lnTo>
                  <a:pt x="18746" y="72761"/>
                </a:lnTo>
                <a:cubicBezTo>
                  <a:pt x="14333" y="73044"/>
                  <a:pt x="10309" y="70149"/>
                  <a:pt x="9144" y="65877"/>
                </a:cubicBezTo>
                <a:lnTo>
                  <a:pt x="6672" y="56628"/>
                </a:lnTo>
                <a:cubicBezTo>
                  <a:pt x="5543" y="52356"/>
                  <a:pt x="7555" y="47837"/>
                  <a:pt x="11544" y="45860"/>
                </a:cubicBezTo>
                <a:lnTo>
                  <a:pt x="24854" y="39293"/>
                </a:lnTo>
                <a:cubicBezTo>
                  <a:pt x="25101" y="37493"/>
                  <a:pt x="25454" y="35728"/>
                  <a:pt x="25913" y="33927"/>
                </a:cubicBezTo>
                <a:cubicBezTo>
                  <a:pt x="26407" y="32127"/>
                  <a:pt x="26972" y="30397"/>
                  <a:pt x="27678" y="28737"/>
                </a:cubicBezTo>
                <a:lnTo>
                  <a:pt x="19452" y="16416"/>
                </a:lnTo>
                <a:cubicBezTo>
                  <a:pt x="16981" y="12709"/>
                  <a:pt x="17475" y="7802"/>
                  <a:pt x="20617" y="4660"/>
                </a:cubicBezTo>
                <a:lnTo>
                  <a:pt x="27396" y="-2118"/>
                </a:lnTo>
                <a:cubicBezTo>
                  <a:pt x="30538" y="-5260"/>
                  <a:pt x="35445" y="-5755"/>
                  <a:pt x="39152" y="-3283"/>
                </a:cubicBezTo>
                <a:lnTo>
                  <a:pt x="51508" y="4943"/>
                </a:lnTo>
                <a:cubicBezTo>
                  <a:pt x="54862" y="3566"/>
                  <a:pt x="58428" y="2577"/>
                  <a:pt x="62064" y="2083"/>
                </a:cubicBezTo>
                <a:lnTo>
                  <a:pt x="68631" y="-11191"/>
                </a:lnTo>
                <a:cubicBezTo>
                  <a:pt x="70608" y="-15181"/>
                  <a:pt x="75091" y="-17193"/>
                  <a:pt x="79399" y="-16063"/>
                </a:cubicBezTo>
                <a:close/>
                <a:moveTo>
                  <a:pt x="67925" y="29655"/>
                </a:moveTo>
                <a:cubicBezTo>
                  <a:pt x="59351" y="29655"/>
                  <a:pt x="52391" y="36616"/>
                  <a:pt x="52391" y="45189"/>
                </a:cubicBezTo>
                <a:cubicBezTo>
                  <a:pt x="52391" y="53762"/>
                  <a:pt x="59351" y="60723"/>
                  <a:pt x="67925" y="60723"/>
                </a:cubicBezTo>
                <a:cubicBezTo>
                  <a:pt x="76498" y="60723"/>
                  <a:pt x="83458" y="53762"/>
                  <a:pt x="83458" y="45189"/>
                </a:cubicBezTo>
                <a:cubicBezTo>
                  <a:pt x="83458" y="36616"/>
                  <a:pt x="76498" y="29655"/>
                  <a:pt x="67925" y="29655"/>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9"/>
          <p:cNvSpPr/>
          <p:nvPr/>
        </p:nvSpPr>
        <p:spPr>
          <a:xfrm>
            <a:off x="8536631" y="3398215"/>
            <a:ext cx="3208421" cy="253059"/>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423" u="none" cap="none" strike="noStrike">
                <a:solidFill>
                  <a:srgbClr val="FFFFFF"/>
                </a:solidFill>
                <a:latin typeface="Sorts Mill Goudy"/>
                <a:ea typeface="Sorts Mill Goudy"/>
                <a:cs typeface="Sorts Mill Goudy"/>
                <a:sym typeface="Sorts Mill Goudy"/>
              </a:rPr>
              <a:t>Methodology</a:t>
            </a:r>
            <a:endParaRPr b="0" i="0" sz="1600" u="none" cap="none" strike="noStrike"/>
          </a:p>
        </p:txBody>
      </p:sp>
      <p:sp>
        <p:nvSpPr>
          <p:cNvPr id="260" name="Google Shape;260;p9"/>
          <p:cNvSpPr/>
          <p:nvPr/>
        </p:nvSpPr>
        <p:spPr>
          <a:xfrm>
            <a:off x="8328762" y="3832030"/>
            <a:ext cx="144605" cy="144605"/>
          </a:xfrm>
          <a:custGeom>
            <a:rect b="b" l="l" r="r" t="t"/>
            <a:pathLst>
              <a:path extrusionOk="0" h="144605" w="144605">
                <a:moveTo>
                  <a:pt x="141950" y="78685"/>
                </a:moveTo>
                <a:cubicBezTo>
                  <a:pt x="145480" y="75155"/>
                  <a:pt x="145480" y="69422"/>
                  <a:pt x="141950" y="65891"/>
                </a:cubicBezTo>
                <a:lnTo>
                  <a:pt x="96761" y="20702"/>
                </a:lnTo>
                <a:cubicBezTo>
                  <a:pt x="93231" y="17172"/>
                  <a:pt x="87497" y="17172"/>
                  <a:pt x="83967" y="20702"/>
                </a:cubicBezTo>
                <a:cubicBezTo>
                  <a:pt x="80436" y="24233"/>
                  <a:pt x="80436" y="29966"/>
                  <a:pt x="83967" y="33496"/>
                </a:cubicBezTo>
                <a:lnTo>
                  <a:pt x="113735" y="63265"/>
                </a:lnTo>
                <a:lnTo>
                  <a:pt x="9038" y="63265"/>
                </a:lnTo>
                <a:cubicBezTo>
                  <a:pt x="4039" y="63265"/>
                  <a:pt x="0" y="67303"/>
                  <a:pt x="0" y="72302"/>
                </a:cubicBezTo>
                <a:cubicBezTo>
                  <a:pt x="0" y="77301"/>
                  <a:pt x="4039" y="81340"/>
                  <a:pt x="9038" y="81340"/>
                </a:cubicBezTo>
                <a:lnTo>
                  <a:pt x="113735" y="81340"/>
                </a:lnTo>
                <a:lnTo>
                  <a:pt x="83967" y="111109"/>
                </a:lnTo>
                <a:cubicBezTo>
                  <a:pt x="80436" y="114639"/>
                  <a:pt x="80436" y="120372"/>
                  <a:pt x="83967" y="123903"/>
                </a:cubicBezTo>
                <a:cubicBezTo>
                  <a:pt x="87497" y="127433"/>
                  <a:pt x="93231" y="127433"/>
                  <a:pt x="96761" y="123903"/>
                </a:cubicBezTo>
                <a:lnTo>
                  <a:pt x="141950" y="78714"/>
                </a:lnTo>
                <a:close/>
              </a:path>
            </a:pathLst>
          </a:custGeom>
          <a:solidFill>
            <a:srgbClr val="8B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9"/>
          <p:cNvSpPr/>
          <p:nvPr/>
        </p:nvSpPr>
        <p:spPr>
          <a:xfrm>
            <a:off x="8563745" y="3795878"/>
            <a:ext cx="2539623" cy="216907"/>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0" i="0" lang="en-US" sz="1139" u="none" cap="none" strike="noStrike">
                <a:solidFill>
                  <a:srgbClr val="FFFFFF"/>
                </a:solidFill>
                <a:latin typeface="Sorts Mill Goudy"/>
                <a:ea typeface="Sorts Mill Goudy"/>
                <a:cs typeface="Sorts Mill Goudy"/>
                <a:sym typeface="Sorts Mill Goudy"/>
              </a:rPr>
              <a:t>Train multiple supervised ML classifiers</a:t>
            </a:r>
            <a:endParaRPr b="0" i="0" sz="1600" u="none" cap="none" strike="noStrike"/>
          </a:p>
        </p:txBody>
      </p:sp>
      <p:sp>
        <p:nvSpPr>
          <p:cNvPr id="262" name="Google Shape;262;p9"/>
          <p:cNvSpPr/>
          <p:nvPr/>
        </p:nvSpPr>
        <p:spPr>
          <a:xfrm>
            <a:off x="8328762" y="4157391"/>
            <a:ext cx="144605" cy="144605"/>
          </a:xfrm>
          <a:custGeom>
            <a:rect b="b" l="l" r="r" t="t"/>
            <a:pathLst>
              <a:path extrusionOk="0" h="144605" w="144605">
                <a:moveTo>
                  <a:pt x="141950" y="78685"/>
                </a:moveTo>
                <a:cubicBezTo>
                  <a:pt x="145480" y="75155"/>
                  <a:pt x="145480" y="69422"/>
                  <a:pt x="141950" y="65891"/>
                </a:cubicBezTo>
                <a:lnTo>
                  <a:pt x="96761" y="20702"/>
                </a:lnTo>
                <a:cubicBezTo>
                  <a:pt x="93231" y="17172"/>
                  <a:pt x="87497" y="17172"/>
                  <a:pt x="83967" y="20702"/>
                </a:cubicBezTo>
                <a:cubicBezTo>
                  <a:pt x="80436" y="24233"/>
                  <a:pt x="80436" y="29966"/>
                  <a:pt x="83967" y="33496"/>
                </a:cubicBezTo>
                <a:lnTo>
                  <a:pt x="113735" y="63265"/>
                </a:lnTo>
                <a:lnTo>
                  <a:pt x="9038" y="63265"/>
                </a:lnTo>
                <a:cubicBezTo>
                  <a:pt x="4039" y="63265"/>
                  <a:pt x="0" y="67303"/>
                  <a:pt x="0" y="72302"/>
                </a:cubicBezTo>
                <a:cubicBezTo>
                  <a:pt x="0" y="77301"/>
                  <a:pt x="4039" y="81340"/>
                  <a:pt x="9038" y="81340"/>
                </a:cubicBezTo>
                <a:lnTo>
                  <a:pt x="113735" y="81340"/>
                </a:lnTo>
                <a:lnTo>
                  <a:pt x="83967" y="111109"/>
                </a:lnTo>
                <a:cubicBezTo>
                  <a:pt x="80436" y="114639"/>
                  <a:pt x="80436" y="120372"/>
                  <a:pt x="83967" y="123903"/>
                </a:cubicBezTo>
                <a:cubicBezTo>
                  <a:pt x="87497" y="127433"/>
                  <a:pt x="93231" y="127433"/>
                  <a:pt x="96761" y="123903"/>
                </a:cubicBezTo>
                <a:lnTo>
                  <a:pt x="141950" y="78714"/>
                </a:lnTo>
                <a:close/>
              </a:path>
            </a:pathLst>
          </a:custGeom>
          <a:solidFill>
            <a:srgbClr val="8B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9"/>
          <p:cNvSpPr/>
          <p:nvPr/>
        </p:nvSpPr>
        <p:spPr>
          <a:xfrm>
            <a:off x="8563745" y="4121239"/>
            <a:ext cx="1961204" cy="216907"/>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0" i="0" lang="en-US" sz="1139" u="none" cap="none" strike="noStrike">
                <a:solidFill>
                  <a:srgbClr val="FFFFFF"/>
                </a:solidFill>
                <a:latin typeface="Sorts Mill Goudy"/>
                <a:ea typeface="Sorts Mill Goudy"/>
                <a:cs typeface="Sorts Mill Goudy"/>
                <a:sym typeface="Sorts Mill Goudy"/>
              </a:rPr>
              <a:t>Compare performance metrics</a:t>
            </a:r>
            <a:endParaRPr b="0" i="0" sz="1600" u="none" cap="none" strike="noStrike"/>
          </a:p>
        </p:txBody>
      </p:sp>
      <p:sp>
        <p:nvSpPr>
          <p:cNvPr id="264" name="Google Shape;264;p9"/>
          <p:cNvSpPr/>
          <p:nvPr/>
        </p:nvSpPr>
        <p:spPr>
          <a:xfrm>
            <a:off x="8328762" y="4482752"/>
            <a:ext cx="144605" cy="144605"/>
          </a:xfrm>
          <a:custGeom>
            <a:rect b="b" l="l" r="r" t="t"/>
            <a:pathLst>
              <a:path extrusionOk="0" h="144605" w="144605">
                <a:moveTo>
                  <a:pt x="141950" y="78685"/>
                </a:moveTo>
                <a:cubicBezTo>
                  <a:pt x="145480" y="75155"/>
                  <a:pt x="145480" y="69422"/>
                  <a:pt x="141950" y="65891"/>
                </a:cubicBezTo>
                <a:lnTo>
                  <a:pt x="96761" y="20702"/>
                </a:lnTo>
                <a:cubicBezTo>
                  <a:pt x="93231" y="17172"/>
                  <a:pt x="87497" y="17172"/>
                  <a:pt x="83967" y="20702"/>
                </a:cubicBezTo>
                <a:cubicBezTo>
                  <a:pt x="80436" y="24233"/>
                  <a:pt x="80436" y="29966"/>
                  <a:pt x="83967" y="33496"/>
                </a:cubicBezTo>
                <a:lnTo>
                  <a:pt x="113735" y="63265"/>
                </a:lnTo>
                <a:lnTo>
                  <a:pt x="9038" y="63265"/>
                </a:lnTo>
                <a:cubicBezTo>
                  <a:pt x="4039" y="63265"/>
                  <a:pt x="0" y="67303"/>
                  <a:pt x="0" y="72302"/>
                </a:cubicBezTo>
                <a:cubicBezTo>
                  <a:pt x="0" y="77301"/>
                  <a:pt x="4039" y="81340"/>
                  <a:pt x="9038" y="81340"/>
                </a:cubicBezTo>
                <a:lnTo>
                  <a:pt x="113735" y="81340"/>
                </a:lnTo>
                <a:lnTo>
                  <a:pt x="83967" y="111109"/>
                </a:lnTo>
                <a:cubicBezTo>
                  <a:pt x="80436" y="114639"/>
                  <a:pt x="80436" y="120372"/>
                  <a:pt x="83967" y="123903"/>
                </a:cubicBezTo>
                <a:cubicBezTo>
                  <a:pt x="87497" y="127433"/>
                  <a:pt x="93231" y="127433"/>
                  <a:pt x="96761" y="123903"/>
                </a:cubicBezTo>
                <a:lnTo>
                  <a:pt x="141950" y="78714"/>
                </a:lnTo>
                <a:close/>
              </a:path>
            </a:pathLst>
          </a:custGeom>
          <a:solidFill>
            <a:srgbClr val="8B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9"/>
          <p:cNvSpPr/>
          <p:nvPr/>
        </p:nvSpPr>
        <p:spPr>
          <a:xfrm>
            <a:off x="8563745" y="4446600"/>
            <a:ext cx="1870826" cy="216907"/>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0" i="0" lang="en-US" sz="1139" u="none" cap="none" strike="noStrike">
                <a:solidFill>
                  <a:srgbClr val="FFFFFF"/>
                </a:solidFill>
                <a:latin typeface="Sorts Mill Goudy"/>
                <a:ea typeface="Sorts Mill Goudy"/>
                <a:cs typeface="Sorts Mill Goudy"/>
                <a:sym typeface="Sorts Mill Goudy"/>
              </a:rPr>
              <a:t>Identify most effective model</a:t>
            </a:r>
            <a:endParaRPr b="0" i="0" sz="1600" u="none" cap="none" strike="noStrike"/>
          </a:p>
        </p:txBody>
      </p:sp>
      <p:sp>
        <p:nvSpPr>
          <p:cNvPr id="266" name="Google Shape;266;p9"/>
          <p:cNvSpPr/>
          <p:nvPr/>
        </p:nvSpPr>
        <p:spPr>
          <a:xfrm>
            <a:off x="8328762" y="4808113"/>
            <a:ext cx="144605" cy="144605"/>
          </a:xfrm>
          <a:custGeom>
            <a:rect b="b" l="l" r="r" t="t"/>
            <a:pathLst>
              <a:path extrusionOk="0" h="144605" w="144605">
                <a:moveTo>
                  <a:pt x="141950" y="78685"/>
                </a:moveTo>
                <a:cubicBezTo>
                  <a:pt x="145480" y="75155"/>
                  <a:pt x="145480" y="69422"/>
                  <a:pt x="141950" y="65891"/>
                </a:cubicBezTo>
                <a:lnTo>
                  <a:pt x="96761" y="20702"/>
                </a:lnTo>
                <a:cubicBezTo>
                  <a:pt x="93231" y="17172"/>
                  <a:pt x="87497" y="17172"/>
                  <a:pt x="83967" y="20702"/>
                </a:cubicBezTo>
                <a:cubicBezTo>
                  <a:pt x="80436" y="24233"/>
                  <a:pt x="80436" y="29966"/>
                  <a:pt x="83967" y="33496"/>
                </a:cubicBezTo>
                <a:lnTo>
                  <a:pt x="113735" y="63265"/>
                </a:lnTo>
                <a:lnTo>
                  <a:pt x="9038" y="63265"/>
                </a:lnTo>
                <a:cubicBezTo>
                  <a:pt x="4039" y="63265"/>
                  <a:pt x="0" y="67303"/>
                  <a:pt x="0" y="72302"/>
                </a:cubicBezTo>
                <a:cubicBezTo>
                  <a:pt x="0" y="77301"/>
                  <a:pt x="4039" y="81340"/>
                  <a:pt x="9038" y="81340"/>
                </a:cubicBezTo>
                <a:lnTo>
                  <a:pt x="113735" y="81340"/>
                </a:lnTo>
                <a:lnTo>
                  <a:pt x="83967" y="111109"/>
                </a:lnTo>
                <a:cubicBezTo>
                  <a:pt x="80436" y="114639"/>
                  <a:pt x="80436" y="120372"/>
                  <a:pt x="83967" y="123903"/>
                </a:cubicBezTo>
                <a:cubicBezTo>
                  <a:pt x="87497" y="127433"/>
                  <a:pt x="93231" y="127433"/>
                  <a:pt x="96761" y="123903"/>
                </a:cubicBezTo>
                <a:lnTo>
                  <a:pt x="141950" y="78714"/>
                </a:lnTo>
                <a:close/>
              </a:path>
            </a:pathLst>
          </a:custGeom>
          <a:solidFill>
            <a:srgbClr val="8B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9"/>
          <p:cNvSpPr/>
          <p:nvPr/>
        </p:nvSpPr>
        <p:spPr>
          <a:xfrm>
            <a:off x="8563745" y="4771961"/>
            <a:ext cx="2304640" cy="216907"/>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0" i="0" lang="en-US" sz="1139" u="none" cap="none" strike="noStrike">
                <a:solidFill>
                  <a:srgbClr val="FFFFFF"/>
                </a:solidFill>
                <a:latin typeface="Sorts Mill Goudy"/>
                <a:ea typeface="Sorts Mill Goudy"/>
                <a:cs typeface="Sorts Mill Goudy"/>
                <a:sym typeface="Sorts Mill Goudy"/>
              </a:rPr>
              <a:t>Optimize for real-world deployment</a:t>
            </a:r>
            <a:endParaRPr b="0" i="0" sz="1600" u="none" cap="none" strike="noStrike"/>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2" name="Shape 272"/>
        <p:cNvGrpSpPr/>
        <p:nvPr/>
      </p:nvGrpSpPr>
      <p:grpSpPr>
        <a:xfrm>
          <a:off x="0" y="0"/>
          <a:ext cx="0" cy="0"/>
          <a:chOff x="0" y="0"/>
          <a:chExt cx="0" cy="0"/>
        </a:xfrm>
      </p:grpSpPr>
      <p:sp>
        <p:nvSpPr>
          <p:cNvPr id="273" name="Google Shape;273;p10"/>
          <p:cNvSpPr/>
          <p:nvPr/>
        </p:nvSpPr>
        <p:spPr>
          <a:xfrm>
            <a:off x="317500" y="333375"/>
            <a:ext cx="373063" cy="2857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875" u="none" cap="none" strike="noStrike">
                <a:solidFill>
                  <a:srgbClr val="8B0000"/>
                </a:solidFill>
                <a:latin typeface="Sorts Mill Goudy"/>
                <a:ea typeface="Sorts Mill Goudy"/>
                <a:cs typeface="Sorts Mill Goudy"/>
                <a:sym typeface="Sorts Mill Goudy"/>
              </a:rPr>
              <a:t>2.</a:t>
            </a:r>
            <a:r>
              <a:rPr b="1" lang="en-US" sz="1875">
                <a:solidFill>
                  <a:srgbClr val="8B0000"/>
                </a:solidFill>
                <a:latin typeface="Sorts Mill Goudy"/>
                <a:ea typeface="Sorts Mill Goudy"/>
                <a:cs typeface="Sorts Mill Goudy"/>
                <a:sym typeface="Sorts Mill Goudy"/>
              </a:rPr>
              <a:t>4</a:t>
            </a:r>
            <a:endParaRPr b="0" i="0" sz="1600" u="none" cap="none" strike="noStrike"/>
          </a:p>
        </p:txBody>
      </p:sp>
      <p:sp>
        <p:nvSpPr>
          <p:cNvPr id="274" name="Google Shape;274;p10"/>
          <p:cNvSpPr/>
          <p:nvPr/>
        </p:nvSpPr>
        <p:spPr>
          <a:xfrm>
            <a:off x="665696" y="317500"/>
            <a:ext cx="3349625" cy="3175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1" i="0" lang="en-US" sz="2250" u="none" cap="none" strike="noStrike">
                <a:solidFill>
                  <a:srgbClr val="1F2937"/>
                </a:solidFill>
                <a:latin typeface="Sorts Mill Goudy"/>
                <a:ea typeface="Sorts Mill Goudy"/>
                <a:cs typeface="Sorts Mill Goudy"/>
                <a:sym typeface="Sorts Mill Goudy"/>
              </a:rPr>
              <a:t>Machine Learning Models</a:t>
            </a:r>
            <a:endParaRPr b="0" i="0" sz="1600" u="none" cap="none" strike="noStrike"/>
          </a:p>
        </p:txBody>
      </p:sp>
      <p:sp>
        <p:nvSpPr>
          <p:cNvPr id="275" name="Google Shape;275;p10"/>
          <p:cNvSpPr/>
          <p:nvPr/>
        </p:nvSpPr>
        <p:spPr>
          <a:xfrm>
            <a:off x="762000" y="698500"/>
            <a:ext cx="762000" cy="31750"/>
          </a:xfrm>
          <a:custGeom>
            <a:rect b="b" l="l" r="r" t="t"/>
            <a:pathLst>
              <a:path extrusionOk="0" h="31750" w="762000">
                <a:moveTo>
                  <a:pt x="0" y="0"/>
                </a:moveTo>
                <a:lnTo>
                  <a:pt x="762000" y="0"/>
                </a:lnTo>
                <a:lnTo>
                  <a:pt x="762000" y="31750"/>
                </a:lnTo>
                <a:lnTo>
                  <a:pt x="0" y="31750"/>
                </a:lnTo>
                <a:lnTo>
                  <a:pt x="0" y="0"/>
                </a:lnTo>
                <a:close/>
              </a:path>
            </a:pathLst>
          </a:custGeom>
          <a:solidFill>
            <a:srgbClr val="8B0000"/>
          </a:solidFill>
          <a:ln>
            <a:noFill/>
          </a:ln>
        </p:spPr>
      </p:sp>
      <p:sp>
        <p:nvSpPr>
          <p:cNvPr id="276" name="Google Shape;276;p10"/>
          <p:cNvSpPr/>
          <p:nvPr/>
        </p:nvSpPr>
        <p:spPr>
          <a:xfrm>
            <a:off x="321463" y="793747"/>
            <a:ext cx="5699125" cy="2905125"/>
          </a:xfrm>
          <a:custGeom>
            <a:rect b="b" l="l" r="r" t="t"/>
            <a:pathLst>
              <a:path extrusionOk="0" h="2905125" w="5699125">
                <a:moveTo>
                  <a:pt x="0" y="0"/>
                </a:moveTo>
                <a:lnTo>
                  <a:pt x="5699125" y="0"/>
                </a:lnTo>
                <a:lnTo>
                  <a:pt x="5699125" y="2905125"/>
                </a:lnTo>
                <a:lnTo>
                  <a:pt x="0" y="2905125"/>
                </a:lnTo>
                <a:lnTo>
                  <a:pt x="0" y="0"/>
                </a:lnTo>
                <a:close/>
              </a:path>
            </a:pathLst>
          </a:custGeom>
          <a:solidFill>
            <a:srgbClr val="FFFFFF"/>
          </a:solidFill>
          <a:ln cap="flat" cmpd="sng" w="25400">
            <a:solidFill>
              <a:srgbClr val="1F2937"/>
            </a:solidFill>
            <a:prstDash val="solid"/>
            <a:round/>
            <a:headEnd len="sm" w="sm" type="none"/>
            <a:tailEnd len="sm" w="sm" type="none"/>
          </a:ln>
        </p:spPr>
      </p:sp>
      <p:sp>
        <p:nvSpPr>
          <p:cNvPr id="277" name="Google Shape;277;p10"/>
          <p:cNvSpPr/>
          <p:nvPr/>
        </p:nvSpPr>
        <p:spPr>
          <a:xfrm>
            <a:off x="488150" y="960435"/>
            <a:ext cx="444500" cy="444500"/>
          </a:xfrm>
          <a:custGeom>
            <a:rect b="b" l="l" r="r" t="t"/>
            <a:pathLst>
              <a:path extrusionOk="0" h="444500" w="444500">
                <a:moveTo>
                  <a:pt x="0" y="0"/>
                </a:moveTo>
                <a:lnTo>
                  <a:pt x="444500" y="0"/>
                </a:lnTo>
                <a:lnTo>
                  <a:pt x="444500" y="444500"/>
                </a:lnTo>
                <a:lnTo>
                  <a:pt x="0" y="444500"/>
                </a:lnTo>
                <a:lnTo>
                  <a:pt x="0" y="0"/>
                </a:lnTo>
                <a:close/>
              </a:path>
            </a:pathLst>
          </a:custGeom>
          <a:solidFill>
            <a:srgbClr val="1F2937"/>
          </a:solidFill>
          <a:ln>
            <a:noFill/>
          </a:ln>
        </p:spPr>
      </p:sp>
      <p:sp>
        <p:nvSpPr>
          <p:cNvPr id="278" name="Google Shape;278;p10"/>
          <p:cNvSpPr/>
          <p:nvPr/>
        </p:nvSpPr>
        <p:spPr>
          <a:xfrm>
            <a:off x="615150" y="1087435"/>
            <a:ext cx="190500" cy="190500"/>
          </a:xfrm>
          <a:custGeom>
            <a:rect b="b" l="l" r="r" t="t"/>
            <a:pathLst>
              <a:path extrusionOk="0" h="190500" w="190500">
                <a:moveTo>
                  <a:pt x="23812" y="23812"/>
                </a:moveTo>
                <a:cubicBezTo>
                  <a:pt x="23812" y="17227"/>
                  <a:pt x="18492" y="11906"/>
                  <a:pt x="11906" y="11906"/>
                </a:cubicBezTo>
                <a:cubicBezTo>
                  <a:pt x="5321" y="11906"/>
                  <a:pt x="0" y="17227"/>
                  <a:pt x="0" y="23812"/>
                </a:cubicBezTo>
                <a:lnTo>
                  <a:pt x="0" y="148828"/>
                </a:lnTo>
                <a:cubicBezTo>
                  <a:pt x="0" y="165274"/>
                  <a:pt x="13320" y="178594"/>
                  <a:pt x="29766" y="178594"/>
                </a:cubicBezTo>
                <a:lnTo>
                  <a:pt x="178594" y="178594"/>
                </a:lnTo>
                <a:cubicBezTo>
                  <a:pt x="185179" y="178594"/>
                  <a:pt x="190500" y="173273"/>
                  <a:pt x="190500" y="166688"/>
                </a:cubicBezTo>
                <a:cubicBezTo>
                  <a:pt x="190500" y="160102"/>
                  <a:pt x="185179" y="154781"/>
                  <a:pt x="178594" y="154781"/>
                </a:cubicBezTo>
                <a:lnTo>
                  <a:pt x="29766" y="154781"/>
                </a:lnTo>
                <a:cubicBezTo>
                  <a:pt x="26491" y="154781"/>
                  <a:pt x="23812" y="152102"/>
                  <a:pt x="23812" y="148828"/>
                </a:cubicBezTo>
                <a:lnTo>
                  <a:pt x="23812" y="23812"/>
                </a:lnTo>
                <a:close/>
                <a:moveTo>
                  <a:pt x="175096" y="56034"/>
                </a:moveTo>
                <a:cubicBezTo>
                  <a:pt x="179747" y="51383"/>
                  <a:pt x="179747" y="43830"/>
                  <a:pt x="175096" y="39179"/>
                </a:cubicBezTo>
                <a:cubicBezTo>
                  <a:pt x="170445" y="34528"/>
                  <a:pt x="162892" y="34528"/>
                  <a:pt x="158242" y="39179"/>
                </a:cubicBezTo>
                <a:lnTo>
                  <a:pt x="119063" y="78395"/>
                </a:lnTo>
                <a:lnTo>
                  <a:pt x="97706" y="57076"/>
                </a:lnTo>
                <a:cubicBezTo>
                  <a:pt x="93055" y="52425"/>
                  <a:pt x="85502" y="52425"/>
                  <a:pt x="80851" y="57076"/>
                </a:cubicBezTo>
                <a:lnTo>
                  <a:pt x="45132" y="92794"/>
                </a:lnTo>
                <a:cubicBezTo>
                  <a:pt x="40481" y="97445"/>
                  <a:pt x="40481" y="104998"/>
                  <a:pt x="45132" y="109649"/>
                </a:cubicBezTo>
                <a:cubicBezTo>
                  <a:pt x="49783" y="114300"/>
                  <a:pt x="57336" y="114300"/>
                  <a:pt x="61987" y="109649"/>
                </a:cubicBezTo>
                <a:lnTo>
                  <a:pt x="89297" y="82339"/>
                </a:lnTo>
                <a:lnTo>
                  <a:pt x="110654" y="103696"/>
                </a:lnTo>
                <a:cubicBezTo>
                  <a:pt x="115305" y="108347"/>
                  <a:pt x="122858" y="108347"/>
                  <a:pt x="127508" y="103696"/>
                </a:cubicBezTo>
                <a:lnTo>
                  <a:pt x="175133" y="5607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0"/>
          <p:cNvSpPr/>
          <p:nvPr/>
        </p:nvSpPr>
        <p:spPr>
          <a:xfrm>
            <a:off x="1027900" y="960435"/>
            <a:ext cx="1682700" cy="2541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i="0" lang="en-US" sz="1500" u="none" cap="none" strike="noStrike">
                <a:solidFill>
                  <a:srgbClr val="1F2937"/>
                </a:solidFill>
                <a:latin typeface="Sorts Mill Goudy"/>
                <a:ea typeface="Sorts Mill Goudy"/>
                <a:cs typeface="Sorts Mill Goudy"/>
                <a:sym typeface="Sorts Mill Goudy"/>
              </a:rPr>
              <a:t>Logistic Regression</a:t>
            </a:r>
            <a:endParaRPr b="0" i="0" sz="1600" u="none" cap="none" strike="noStrike"/>
          </a:p>
        </p:txBody>
      </p:sp>
      <p:sp>
        <p:nvSpPr>
          <p:cNvPr id="280" name="Google Shape;280;p10"/>
          <p:cNvSpPr/>
          <p:nvPr/>
        </p:nvSpPr>
        <p:spPr>
          <a:xfrm>
            <a:off x="1027900" y="1214435"/>
            <a:ext cx="1650900" cy="1905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0" i="0" lang="en-US" sz="1000" u="none" cap="none" strike="noStrike">
                <a:solidFill>
                  <a:srgbClr val="6B7280"/>
                </a:solidFill>
                <a:latin typeface="Sorts Mill Goudy"/>
                <a:ea typeface="Sorts Mill Goudy"/>
                <a:cs typeface="Sorts Mill Goudy"/>
                <a:sym typeface="Sorts Mill Goudy"/>
              </a:rPr>
              <a:t>Baseline Model</a:t>
            </a:r>
            <a:endParaRPr b="0" i="0" sz="1600" u="none" cap="none" strike="noStrike"/>
          </a:p>
        </p:txBody>
      </p:sp>
      <p:sp>
        <p:nvSpPr>
          <p:cNvPr id="281" name="Google Shape;281;p10"/>
          <p:cNvSpPr/>
          <p:nvPr/>
        </p:nvSpPr>
        <p:spPr>
          <a:xfrm>
            <a:off x="488150" y="1531935"/>
            <a:ext cx="5365750" cy="603250"/>
          </a:xfrm>
          <a:custGeom>
            <a:rect b="b" l="l" r="r" t="t"/>
            <a:pathLst>
              <a:path extrusionOk="0" h="603250" w="5365750">
                <a:moveTo>
                  <a:pt x="0" y="0"/>
                </a:moveTo>
                <a:lnTo>
                  <a:pt x="5365750" y="0"/>
                </a:lnTo>
                <a:lnTo>
                  <a:pt x="5365750" y="603250"/>
                </a:lnTo>
                <a:lnTo>
                  <a:pt x="0" y="603250"/>
                </a:lnTo>
                <a:lnTo>
                  <a:pt x="0" y="0"/>
                </a:lnTo>
                <a:close/>
              </a:path>
            </a:pathLst>
          </a:custGeom>
          <a:solidFill>
            <a:srgbClr val="F9FAFB"/>
          </a:solidFill>
          <a:ln>
            <a:noFill/>
          </a:ln>
        </p:spPr>
      </p:sp>
      <p:sp>
        <p:nvSpPr>
          <p:cNvPr id="282" name="Google Shape;282;p10"/>
          <p:cNvSpPr/>
          <p:nvPr/>
        </p:nvSpPr>
        <p:spPr>
          <a:xfrm>
            <a:off x="583400" y="1627185"/>
            <a:ext cx="5238900" cy="1905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i="0" lang="en-US" sz="1000" u="none" cap="none" strike="noStrike">
                <a:solidFill>
                  <a:srgbClr val="1F2937"/>
                </a:solidFill>
                <a:latin typeface="Sorts Mill Goudy"/>
                <a:ea typeface="Sorts Mill Goudy"/>
                <a:cs typeface="Sorts Mill Goudy"/>
                <a:sym typeface="Sorts Mill Goudy"/>
              </a:rPr>
              <a:t>Type</a:t>
            </a:r>
            <a:endParaRPr b="0" i="0" sz="1600" u="none" cap="none" strike="noStrike"/>
          </a:p>
        </p:txBody>
      </p:sp>
      <p:sp>
        <p:nvSpPr>
          <p:cNvPr id="283" name="Google Shape;283;p10"/>
          <p:cNvSpPr/>
          <p:nvPr/>
        </p:nvSpPr>
        <p:spPr>
          <a:xfrm>
            <a:off x="583400" y="1849435"/>
            <a:ext cx="5238900" cy="1905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0" i="0" lang="en-US" sz="1000" u="none" cap="none" strike="noStrike">
                <a:solidFill>
                  <a:srgbClr val="6B7280"/>
                </a:solidFill>
                <a:latin typeface="Sorts Mill Goudy"/>
                <a:ea typeface="Sorts Mill Goudy"/>
                <a:cs typeface="Sorts Mill Goudy"/>
                <a:sym typeface="Sorts Mill Goudy"/>
              </a:rPr>
              <a:t>Linear classifier for binary classification</a:t>
            </a:r>
            <a:endParaRPr b="0" i="0" sz="1600" u="none" cap="none" strike="noStrike"/>
          </a:p>
        </p:txBody>
      </p:sp>
      <p:sp>
        <p:nvSpPr>
          <p:cNvPr id="284" name="Google Shape;284;p10"/>
          <p:cNvSpPr/>
          <p:nvPr/>
        </p:nvSpPr>
        <p:spPr>
          <a:xfrm>
            <a:off x="488150" y="2230435"/>
            <a:ext cx="5365750" cy="603250"/>
          </a:xfrm>
          <a:custGeom>
            <a:rect b="b" l="l" r="r" t="t"/>
            <a:pathLst>
              <a:path extrusionOk="0" h="603250" w="5365750">
                <a:moveTo>
                  <a:pt x="0" y="0"/>
                </a:moveTo>
                <a:lnTo>
                  <a:pt x="5365750" y="0"/>
                </a:lnTo>
                <a:lnTo>
                  <a:pt x="5365750" y="603250"/>
                </a:lnTo>
                <a:lnTo>
                  <a:pt x="0" y="603250"/>
                </a:lnTo>
                <a:lnTo>
                  <a:pt x="0" y="0"/>
                </a:lnTo>
                <a:close/>
              </a:path>
            </a:pathLst>
          </a:custGeom>
          <a:solidFill>
            <a:srgbClr val="F9FAFB"/>
          </a:solidFill>
          <a:ln>
            <a:noFill/>
          </a:ln>
        </p:spPr>
      </p:sp>
      <p:sp>
        <p:nvSpPr>
          <p:cNvPr id="285" name="Google Shape;285;p10"/>
          <p:cNvSpPr/>
          <p:nvPr/>
        </p:nvSpPr>
        <p:spPr>
          <a:xfrm>
            <a:off x="583400" y="2325685"/>
            <a:ext cx="5238900" cy="1905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i="0" lang="en-US" sz="1000" u="none" cap="none" strike="noStrike">
                <a:solidFill>
                  <a:srgbClr val="1F2937"/>
                </a:solidFill>
                <a:latin typeface="Sorts Mill Goudy"/>
                <a:ea typeface="Sorts Mill Goudy"/>
                <a:cs typeface="Sorts Mill Goudy"/>
                <a:sym typeface="Sorts Mill Goudy"/>
              </a:rPr>
              <a:t>Purpose</a:t>
            </a:r>
            <a:endParaRPr b="0" i="0" sz="1600" u="none" cap="none" strike="noStrike"/>
          </a:p>
        </p:txBody>
      </p:sp>
      <p:sp>
        <p:nvSpPr>
          <p:cNvPr id="286" name="Google Shape;286;p10"/>
          <p:cNvSpPr/>
          <p:nvPr/>
        </p:nvSpPr>
        <p:spPr>
          <a:xfrm>
            <a:off x="583400" y="2547935"/>
            <a:ext cx="5238900" cy="1905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0" i="0" lang="en-US" sz="1000" u="none" cap="none" strike="noStrike">
                <a:solidFill>
                  <a:srgbClr val="6B7280"/>
                </a:solidFill>
                <a:latin typeface="Sorts Mill Goudy"/>
                <a:ea typeface="Sorts Mill Goudy"/>
                <a:cs typeface="Sorts Mill Goudy"/>
                <a:sym typeface="Sorts Mill Goudy"/>
              </a:rPr>
              <a:t>Establish baseline performance for comparison</a:t>
            </a:r>
            <a:endParaRPr b="0" i="0" sz="1600" u="none" cap="none" strike="noStrike"/>
          </a:p>
        </p:txBody>
      </p:sp>
      <p:sp>
        <p:nvSpPr>
          <p:cNvPr id="287" name="Google Shape;287;p10"/>
          <p:cNvSpPr/>
          <p:nvPr/>
        </p:nvSpPr>
        <p:spPr>
          <a:xfrm>
            <a:off x="488150" y="2928935"/>
            <a:ext cx="5365750" cy="603250"/>
          </a:xfrm>
          <a:custGeom>
            <a:rect b="b" l="l" r="r" t="t"/>
            <a:pathLst>
              <a:path extrusionOk="0" h="603250" w="5365750">
                <a:moveTo>
                  <a:pt x="0" y="0"/>
                </a:moveTo>
                <a:lnTo>
                  <a:pt x="5365750" y="0"/>
                </a:lnTo>
                <a:lnTo>
                  <a:pt x="5365750" y="603250"/>
                </a:lnTo>
                <a:lnTo>
                  <a:pt x="0" y="603250"/>
                </a:lnTo>
                <a:lnTo>
                  <a:pt x="0" y="0"/>
                </a:lnTo>
                <a:close/>
              </a:path>
            </a:pathLst>
          </a:custGeom>
          <a:solidFill>
            <a:srgbClr val="F9FAFB"/>
          </a:solidFill>
          <a:ln>
            <a:noFill/>
          </a:ln>
        </p:spPr>
      </p:sp>
      <p:sp>
        <p:nvSpPr>
          <p:cNvPr id="288" name="Google Shape;288;p10"/>
          <p:cNvSpPr/>
          <p:nvPr/>
        </p:nvSpPr>
        <p:spPr>
          <a:xfrm>
            <a:off x="583400" y="3024185"/>
            <a:ext cx="5238900" cy="1905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i="0" lang="en-US" sz="1000" u="none" cap="none" strike="noStrike">
                <a:solidFill>
                  <a:srgbClr val="1F2937"/>
                </a:solidFill>
                <a:latin typeface="Sorts Mill Goudy"/>
                <a:ea typeface="Sorts Mill Goudy"/>
                <a:cs typeface="Sorts Mill Goudy"/>
                <a:sym typeface="Sorts Mill Goudy"/>
              </a:rPr>
              <a:t>Strengths</a:t>
            </a:r>
            <a:endParaRPr b="0" i="0" sz="1600" u="none" cap="none" strike="noStrike"/>
          </a:p>
        </p:txBody>
      </p:sp>
      <p:sp>
        <p:nvSpPr>
          <p:cNvPr id="289" name="Google Shape;289;p10"/>
          <p:cNvSpPr/>
          <p:nvPr/>
        </p:nvSpPr>
        <p:spPr>
          <a:xfrm>
            <a:off x="583400" y="3246435"/>
            <a:ext cx="5238900" cy="1905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0" i="0" lang="en-US" sz="1000" u="none" cap="none" strike="noStrike">
                <a:solidFill>
                  <a:srgbClr val="6B7280"/>
                </a:solidFill>
                <a:latin typeface="Sorts Mill Goudy"/>
                <a:ea typeface="Sorts Mill Goudy"/>
                <a:cs typeface="Sorts Mill Goudy"/>
                <a:sym typeface="Sorts Mill Goudy"/>
              </a:rPr>
              <a:t>Interpretable, fast training, probabilistic output</a:t>
            </a:r>
            <a:endParaRPr b="0" i="0" sz="1600" u="none" cap="none" strike="noStrike"/>
          </a:p>
        </p:txBody>
      </p:sp>
      <p:sp>
        <p:nvSpPr>
          <p:cNvPr id="290" name="Google Shape;290;p10"/>
          <p:cNvSpPr/>
          <p:nvPr/>
        </p:nvSpPr>
        <p:spPr>
          <a:xfrm>
            <a:off x="6163463" y="793747"/>
            <a:ext cx="5699125" cy="2905125"/>
          </a:xfrm>
          <a:custGeom>
            <a:rect b="b" l="l" r="r" t="t"/>
            <a:pathLst>
              <a:path extrusionOk="0" h="2905125" w="5699125">
                <a:moveTo>
                  <a:pt x="0" y="0"/>
                </a:moveTo>
                <a:lnTo>
                  <a:pt x="5699125" y="0"/>
                </a:lnTo>
                <a:lnTo>
                  <a:pt x="5699125" y="2905125"/>
                </a:lnTo>
                <a:lnTo>
                  <a:pt x="0" y="2905125"/>
                </a:lnTo>
                <a:lnTo>
                  <a:pt x="0" y="0"/>
                </a:lnTo>
                <a:close/>
              </a:path>
            </a:pathLst>
          </a:custGeom>
          <a:solidFill>
            <a:srgbClr val="FFFFFF"/>
          </a:solidFill>
          <a:ln cap="flat" cmpd="sng" w="25400">
            <a:solidFill>
              <a:srgbClr val="8B0000"/>
            </a:solidFill>
            <a:prstDash val="solid"/>
            <a:round/>
            <a:headEnd len="sm" w="sm" type="none"/>
            <a:tailEnd len="sm" w="sm" type="none"/>
          </a:ln>
        </p:spPr>
      </p:sp>
      <p:sp>
        <p:nvSpPr>
          <p:cNvPr id="291" name="Google Shape;291;p10"/>
          <p:cNvSpPr/>
          <p:nvPr/>
        </p:nvSpPr>
        <p:spPr>
          <a:xfrm>
            <a:off x="6330150" y="960435"/>
            <a:ext cx="444500" cy="444500"/>
          </a:xfrm>
          <a:custGeom>
            <a:rect b="b" l="l" r="r" t="t"/>
            <a:pathLst>
              <a:path extrusionOk="0" h="444500" w="444500">
                <a:moveTo>
                  <a:pt x="0" y="0"/>
                </a:moveTo>
                <a:lnTo>
                  <a:pt x="444500" y="0"/>
                </a:lnTo>
                <a:lnTo>
                  <a:pt x="444500" y="444500"/>
                </a:lnTo>
                <a:lnTo>
                  <a:pt x="0" y="444500"/>
                </a:lnTo>
                <a:lnTo>
                  <a:pt x="0" y="0"/>
                </a:lnTo>
                <a:close/>
              </a:path>
            </a:pathLst>
          </a:custGeom>
          <a:solidFill>
            <a:srgbClr val="8B0000"/>
          </a:solidFill>
          <a:ln>
            <a:noFill/>
          </a:ln>
        </p:spPr>
      </p:sp>
      <p:sp>
        <p:nvSpPr>
          <p:cNvPr id="292" name="Google Shape;292;p10"/>
          <p:cNvSpPr/>
          <p:nvPr/>
        </p:nvSpPr>
        <p:spPr>
          <a:xfrm>
            <a:off x="6469056" y="1087435"/>
            <a:ext cx="166688" cy="190500"/>
          </a:xfrm>
          <a:custGeom>
            <a:rect b="b" l="l" r="r" t="t"/>
            <a:pathLst>
              <a:path extrusionOk="0" h="190500" w="166688">
                <a:moveTo>
                  <a:pt x="83344" y="-11906"/>
                </a:moveTo>
                <a:cubicBezTo>
                  <a:pt x="85948" y="-11906"/>
                  <a:pt x="88441" y="-10753"/>
                  <a:pt x="90153" y="-8744"/>
                </a:cubicBezTo>
                <a:lnTo>
                  <a:pt x="140754" y="50788"/>
                </a:lnTo>
                <a:cubicBezTo>
                  <a:pt x="143024" y="53429"/>
                  <a:pt x="143508" y="57150"/>
                  <a:pt x="142056" y="60313"/>
                </a:cubicBezTo>
                <a:cubicBezTo>
                  <a:pt x="140605" y="63475"/>
                  <a:pt x="137443" y="65484"/>
                  <a:pt x="133945" y="65484"/>
                </a:cubicBezTo>
                <a:lnTo>
                  <a:pt x="124681" y="65484"/>
                </a:lnTo>
                <a:lnTo>
                  <a:pt x="152660" y="98413"/>
                </a:lnTo>
                <a:cubicBezTo>
                  <a:pt x="154930" y="101054"/>
                  <a:pt x="155414" y="104775"/>
                  <a:pt x="153963" y="107938"/>
                </a:cubicBezTo>
                <a:cubicBezTo>
                  <a:pt x="152512" y="111100"/>
                  <a:pt x="149349" y="113109"/>
                  <a:pt x="145852" y="113109"/>
                </a:cubicBezTo>
                <a:lnTo>
                  <a:pt x="131527" y="113109"/>
                </a:lnTo>
                <a:lnTo>
                  <a:pt x="164567" y="151991"/>
                </a:lnTo>
                <a:cubicBezTo>
                  <a:pt x="166836" y="154632"/>
                  <a:pt x="167320" y="158353"/>
                  <a:pt x="165869" y="161516"/>
                </a:cubicBezTo>
                <a:cubicBezTo>
                  <a:pt x="164418" y="164678"/>
                  <a:pt x="161255" y="166688"/>
                  <a:pt x="157758" y="166688"/>
                </a:cubicBezTo>
                <a:lnTo>
                  <a:pt x="95250" y="166688"/>
                </a:lnTo>
                <a:lnTo>
                  <a:pt x="95250" y="190500"/>
                </a:lnTo>
                <a:cubicBezTo>
                  <a:pt x="95250" y="197086"/>
                  <a:pt x="89929" y="202406"/>
                  <a:pt x="83344" y="202406"/>
                </a:cubicBezTo>
                <a:cubicBezTo>
                  <a:pt x="76758" y="202406"/>
                  <a:pt x="71438" y="197086"/>
                  <a:pt x="71438" y="190500"/>
                </a:cubicBezTo>
                <a:lnTo>
                  <a:pt x="71438" y="166688"/>
                </a:lnTo>
                <a:lnTo>
                  <a:pt x="8930" y="166688"/>
                </a:lnTo>
                <a:cubicBezTo>
                  <a:pt x="5432" y="166688"/>
                  <a:pt x="2270" y="164678"/>
                  <a:pt x="819" y="161516"/>
                </a:cubicBezTo>
                <a:cubicBezTo>
                  <a:pt x="-633" y="158353"/>
                  <a:pt x="-149" y="154632"/>
                  <a:pt x="2121" y="151991"/>
                </a:cubicBezTo>
                <a:lnTo>
                  <a:pt x="35161" y="113109"/>
                </a:lnTo>
                <a:lnTo>
                  <a:pt x="20836" y="113109"/>
                </a:lnTo>
                <a:cubicBezTo>
                  <a:pt x="17338" y="113109"/>
                  <a:pt x="14176" y="111100"/>
                  <a:pt x="12725" y="107938"/>
                </a:cubicBezTo>
                <a:cubicBezTo>
                  <a:pt x="11274" y="104775"/>
                  <a:pt x="11757" y="101054"/>
                  <a:pt x="14027" y="98413"/>
                </a:cubicBezTo>
                <a:lnTo>
                  <a:pt x="42007" y="65484"/>
                </a:lnTo>
                <a:lnTo>
                  <a:pt x="32742" y="65484"/>
                </a:lnTo>
                <a:cubicBezTo>
                  <a:pt x="29245" y="65484"/>
                  <a:pt x="26082" y="63475"/>
                  <a:pt x="24631" y="60313"/>
                </a:cubicBezTo>
                <a:cubicBezTo>
                  <a:pt x="23180" y="57150"/>
                  <a:pt x="23664" y="53429"/>
                  <a:pt x="25933" y="50788"/>
                </a:cubicBezTo>
                <a:lnTo>
                  <a:pt x="76535" y="-8744"/>
                </a:lnTo>
                <a:cubicBezTo>
                  <a:pt x="78246" y="-10753"/>
                  <a:pt x="80739" y="-11906"/>
                  <a:pt x="83344" y="-11906"/>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0"/>
          <p:cNvSpPr/>
          <p:nvPr/>
        </p:nvSpPr>
        <p:spPr>
          <a:xfrm>
            <a:off x="6869900" y="960435"/>
            <a:ext cx="1349400" cy="2541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i="0" lang="en-US" sz="1500" u="none" cap="none" strike="noStrike">
                <a:solidFill>
                  <a:srgbClr val="8B0000"/>
                </a:solidFill>
                <a:latin typeface="Sorts Mill Goudy"/>
                <a:ea typeface="Sorts Mill Goudy"/>
                <a:cs typeface="Sorts Mill Goudy"/>
                <a:sym typeface="Sorts Mill Goudy"/>
              </a:rPr>
              <a:t>Random Forest</a:t>
            </a:r>
            <a:endParaRPr b="0" i="0" sz="1600" u="none" cap="none" strike="noStrike"/>
          </a:p>
        </p:txBody>
      </p:sp>
      <p:sp>
        <p:nvSpPr>
          <p:cNvPr id="294" name="Google Shape;294;p10"/>
          <p:cNvSpPr/>
          <p:nvPr/>
        </p:nvSpPr>
        <p:spPr>
          <a:xfrm>
            <a:off x="6869900" y="1214435"/>
            <a:ext cx="1317600" cy="1905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0" i="0" lang="en-US" sz="1000" u="none" cap="none" strike="noStrike">
                <a:solidFill>
                  <a:srgbClr val="6B7280"/>
                </a:solidFill>
                <a:latin typeface="Sorts Mill Goudy"/>
                <a:ea typeface="Sorts Mill Goudy"/>
                <a:cs typeface="Sorts Mill Goudy"/>
                <a:sym typeface="Sorts Mill Goudy"/>
              </a:rPr>
              <a:t>Ensemble Method</a:t>
            </a:r>
            <a:endParaRPr b="0" i="0" sz="1600" u="none" cap="none" strike="noStrike"/>
          </a:p>
        </p:txBody>
      </p:sp>
      <p:sp>
        <p:nvSpPr>
          <p:cNvPr id="295" name="Google Shape;295;p10"/>
          <p:cNvSpPr/>
          <p:nvPr/>
        </p:nvSpPr>
        <p:spPr>
          <a:xfrm>
            <a:off x="6330150" y="1531935"/>
            <a:ext cx="5365750" cy="603250"/>
          </a:xfrm>
          <a:custGeom>
            <a:rect b="b" l="l" r="r" t="t"/>
            <a:pathLst>
              <a:path extrusionOk="0" h="603250" w="5365750">
                <a:moveTo>
                  <a:pt x="0" y="0"/>
                </a:moveTo>
                <a:lnTo>
                  <a:pt x="5365750" y="0"/>
                </a:lnTo>
                <a:lnTo>
                  <a:pt x="5365750" y="603250"/>
                </a:lnTo>
                <a:lnTo>
                  <a:pt x="0" y="603250"/>
                </a:lnTo>
                <a:lnTo>
                  <a:pt x="0" y="0"/>
                </a:lnTo>
                <a:close/>
              </a:path>
            </a:pathLst>
          </a:custGeom>
          <a:solidFill>
            <a:srgbClr val="F9FAFB"/>
          </a:solidFill>
          <a:ln>
            <a:noFill/>
          </a:ln>
        </p:spPr>
      </p:sp>
      <p:sp>
        <p:nvSpPr>
          <p:cNvPr id="296" name="Google Shape;296;p10"/>
          <p:cNvSpPr/>
          <p:nvPr/>
        </p:nvSpPr>
        <p:spPr>
          <a:xfrm>
            <a:off x="6425400" y="1627185"/>
            <a:ext cx="5238900" cy="1905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i="0" lang="en-US" sz="1000" u="none" cap="none" strike="noStrike">
                <a:solidFill>
                  <a:srgbClr val="1F2937"/>
                </a:solidFill>
                <a:latin typeface="Sorts Mill Goudy"/>
                <a:ea typeface="Sorts Mill Goudy"/>
                <a:cs typeface="Sorts Mill Goudy"/>
                <a:sym typeface="Sorts Mill Goudy"/>
              </a:rPr>
              <a:t>Type</a:t>
            </a:r>
            <a:endParaRPr b="0" i="0" sz="1600" u="none" cap="none" strike="noStrike"/>
          </a:p>
        </p:txBody>
      </p:sp>
      <p:sp>
        <p:nvSpPr>
          <p:cNvPr id="297" name="Google Shape;297;p10"/>
          <p:cNvSpPr/>
          <p:nvPr/>
        </p:nvSpPr>
        <p:spPr>
          <a:xfrm>
            <a:off x="6425400" y="1849435"/>
            <a:ext cx="5238900" cy="1905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0" i="0" lang="en-US" sz="1000" u="none" cap="none" strike="noStrike">
                <a:solidFill>
                  <a:srgbClr val="6B7280"/>
                </a:solidFill>
                <a:latin typeface="Sorts Mill Goudy"/>
                <a:ea typeface="Sorts Mill Goudy"/>
                <a:cs typeface="Sorts Mill Goudy"/>
                <a:sym typeface="Sorts Mill Goudy"/>
              </a:rPr>
              <a:t>Tree-based ensemble using bagging</a:t>
            </a:r>
            <a:endParaRPr b="0" i="0" sz="1600" u="none" cap="none" strike="noStrike"/>
          </a:p>
        </p:txBody>
      </p:sp>
      <p:sp>
        <p:nvSpPr>
          <p:cNvPr id="298" name="Google Shape;298;p10"/>
          <p:cNvSpPr/>
          <p:nvPr/>
        </p:nvSpPr>
        <p:spPr>
          <a:xfrm>
            <a:off x="6330150" y="2230435"/>
            <a:ext cx="5365750" cy="603250"/>
          </a:xfrm>
          <a:custGeom>
            <a:rect b="b" l="l" r="r" t="t"/>
            <a:pathLst>
              <a:path extrusionOk="0" h="603250" w="5365750">
                <a:moveTo>
                  <a:pt x="0" y="0"/>
                </a:moveTo>
                <a:lnTo>
                  <a:pt x="5365750" y="0"/>
                </a:lnTo>
                <a:lnTo>
                  <a:pt x="5365750" y="603250"/>
                </a:lnTo>
                <a:lnTo>
                  <a:pt x="0" y="603250"/>
                </a:lnTo>
                <a:lnTo>
                  <a:pt x="0" y="0"/>
                </a:lnTo>
                <a:close/>
              </a:path>
            </a:pathLst>
          </a:custGeom>
          <a:solidFill>
            <a:srgbClr val="F9FAFB"/>
          </a:solidFill>
          <a:ln>
            <a:noFill/>
          </a:ln>
        </p:spPr>
      </p:sp>
      <p:sp>
        <p:nvSpPr>
          <p:cNvPr id="299" name="Google Shape;299;p10"/>
          <p:cNvSpPr/>
          <p:nvPr/>
        </p:nvSpPr>
        <p:spPr>
          <a:xfrm>
            <a:off x="6425400" y="2325685"/>
            <a:ext cx="5238900" cy="1905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i="0" lang="en-US" sz="1000" u="none" cap="none" strike="noStrike">
                <a:solidFill>
                  <a:srgbClr val="1F2937"/>
                </a:solidFill>
                <a:latin typeface="Sorts Mill Goudy"/>
                <a:ea typeface="Sorts Mill Goudy"/>
                <a:cs typeface="Sorts Mill Goudy"/>
                <a:sym typeface="Sorts Mill Goudy"/>
              </a:rPr>
              <a:t>Purpose</a:t>
            </a:r>
            <a:endParaRPr b="0" i="0" sz="1600" u="none" cap="none" strike="noStrike"/>
          </a:p>
        </p:txBody>
      </p:sp>
      <p:sp>
        <p:nvSpPr>
          <p:cNvPr id="300" name="Google Shape;300;p10"/>
          <p:cNvSpPr/>
          <p:nvPr/>
        </p:nvSpPr>
        <p:spPr>
          <a:xfrm>
            <a:off x="6425400" y="2547935"/>
            <a:ext cx="5238900" cy="1905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0" i="0" lang="en-US" sz="1000" u="none" cap="none" strike="noStrike">
                <a:solidFill>
                  <a:srgbClr val="6B7280"/>
                </a:solidFill>
                <a:latin typeface="Sorts Mill Goudy"/>
                <a:ea typeface="Sorts Mill Goudy"/>
                <a:cs typeface="Sorts Mill Goudy"/>
                <a:sym typeface="Sorts Mill Goudy"/>
              </a:rPr>
              <a:t>Handle non-linear relationships and feature interactions</a:t>
            </a:r>
            <a:endParaRPr b="0" i="0" sz="1600" u="none" cap="none" strike="noStrike"/>
          </a:p>
        </p:txBody>
      </p:sp>
      <p:sp>
        <p:nvSpPr>
          <p:cNvPr id="301" name="Google Shape;301;p10"/>
          <p:cNvSpPr/>
          <p:nvPr/>
        </p:nvSpPr>
        <p:spPr>
          <a:xfrm>
            <a:off x="6330150" y="2928935"/>
            <a:ext cx="5365750" cy="603250"/>
          </a:xfrm>
          <a:custGeom>
            <a:rect b="b" l="l" r="r" t="t"/>
            <a:pathLst>
              <a:path extrusionOk="0" h="603250" w="5365750">
                <a:moveTo>
                  <a:pt x="0" y="0"/>
                </a:moveTo>
                <a:lnTo>
                  <a:pt x="5365750" y="0"/>
                </a:lnTo>
                <a:lnTo>
                  <a:pt x="5365750" y="603250"/>
                </a:lnTo>
                <a:lnTo>
                  <a:pt x="0" y="603250"/>
                </a:lnTo>
                <a:lnTo>
                  <a:pt x="0" y="0"/>
                </a:lnTo>
                <a:close/>
              </a:path>
            </a:pathLst>
          </a:custGeom>
          <a:solidFill>
            <a:srgbClr val="F9FAFB"/>
          </a:solidFill>
          <a:ln>
            <a:noFill/>
          </a:ln>
        </p:spPr>
      </p:sp>
      <p:sp>
        <p:nvSpPr>
          <p:cNvPr id="302" name="Google Shape;302;p10"/>
          <p:cNvSpPr/>
          <p:nvPr/>
        </p:nvSpPr>
        <p:spPr>
          <a:xfrm>
            <a:off x="6425400" y="3024185"/>
            <a:ext cx="5238900" cy="1905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i="0" lang="en-US" sz="1000" u="none" cap="none" strike="noStrike">
                <a:solidFill>
                  <a:srgbClr val="1F2937"/>
                </a:solidFill>
                <a:latin typeface="Sorts Mill Goudy"/>
                <a:ea typeface="Sorts Mill Goudy"/>
                <a:cs typeface="Sorts Mill Goudy"/>
                <a:sym typeface="Sorts Mill Goudy"/>
              </a:rPr>
              <a:t>Strengths</a:t>
            </a:r>
            <a:endParaRPr b="0" i="0" sz="1600" u="none" cap="none" strike="noStrike"/>
          </a:p>
        </p:txBody>
      </p:sp>
      <p:sp>
        <p:nvSpPr>
          <p:cNvPr id="303" name="Google Shape;303;p10"/>
          <p:cNvSpPr/>
          <p:nvPr/>
        </p:nvSpPr>
        <p:spPr>
          <a:xfrm>
            <a:off x="6425400" y="3246435"/>
            <a:ext cx="5238900" cy="1905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0" i="0" lang="en-US" sz="1000" u="none" cap="none" strike="noStrike">
                <a:solidFill>
                  <a:srgbClr val="6B7280"/>
                </a:solidFill>
                <a:latin typeface="Sorts Mill Goudy"/>
                <a:ea typeface="Sorts Mill Goudy"/>
                <a:cs typeface="Sorts Mill Goudy"/>
                <a:sym typeface="Sorts Mill Goudy"/>
              </a:rPr>
              <a:t>Robust to overfitting, feature importance, handles mixed data</a:t>
            </a:r>
            <a:endParaRPr b="0" i="0" sz="1600" u="none" cap="none" strike="noStrike"/>
          </a:p>
        </p:txBody>
      </p:sp>
      <p:sp>
        <p:nvSpPr>
          <p:cNvPr id="304" name="Google Shape;304;p10"/>
          <p:cNvSpPr/>
          <p:nvPr/>
        </p:nvSpPr>
        <p:spPr>
          <a:xfrm>
            <a:off x="321463" y="3841747"/>
            <a:ext cx="5699125" cy="2905125"/>
          </a:xfrm>
          <a:custGeom>
            <a:rect b="b" l="l" r="r" t="t"/>
            <a:pathLst>
              <a:path extrusionOk="0" h="2905125" w="5699125">
                <a:moveTo>
                  <a:pt x="0" y="0"/>
                </a:moveTo>
                <a:lnTo>
                  <a:pt x="5699125" y="0"/>
                </a:lnTo>
                <a:lnTo>
                  <a:pt x="5699125" y="2905125"/>
                </a:lnTo>
                <a:lnTo>
                  <a:pt x="0" y="2905125"/>
                </a:lnTo>
                <a:lnTo>
                  <a:pt x="0" y="0"/>
                </a:lnTo>
                <a:close/>
              </a:path>
            </a:pathLst>
          </a:custGeom>
          <a:solidFill>
            <a:srgbClr val="FFFFFF"/>
          </a:solidFill>
          <a:ln cap="flat" cmpd="sng" w="25400">
            <a:solidFill>
              <a:srgbClr val="8B0000"/>
            </a:solidFill>
            <a:prstDash val="solid"/>
            <a:round/>
            <a:headEnd len="sm" w="sm" type="none"/>
            <a:tailEnd len="sm" w="sm" type="none"/>
          </a:ln>
        </p:spPr>
      </p:sp>
      <p:sp>
        <p:nvSpPr>
          <p:cNvPr id="305" name="Google Shape;305;p10"/>
          <p:cNvSpPr/>
          <p:nvPr/>
        </p:nvSpPr>
        <p:spPr>
          <a:xfrm>
            <a:off x="488150" y="4008435"/>
            <a:ext cx="444500" cy="444500"/>
          </a:xfrm>
          <a:custGeom>
            <a:rect b="b" l="l" r="r" t="t"/>
            <a:pathLst>
              <a:path extrusionOk="0" h="444500" w="444500">
                <a:moveTo>
                  <a:pt x="0" y="0"/>
                </a:moveTo>
                <a:lnTo>
                  <a:pt x="444500" y="0"/>
                </a:lnTo>
                <a:lnTo>
                  <a:pt x="444500" y="444500"/>
                </a:lnTo>
                <a:lnTo>
                  <a:pt x="0" y="444500"/>
                </a:lnTo>
                <a:lnTo>
                  <a:pt x="0" y="0"/>
                </a:lnTo>
                <a:close/>
              </a:path>
            </a:pathLst>
          </a:custGeom>
          <a:solidFill>
            <a:srgbClr val="8B0000"/>
          </a:solidFill>
          <a:ln>
            <a:noFill/>
          </a:ln>
        </p:spPr>
      </p:sp>
      <p:sp>
        <p:nvSpPr>
          <p:cNvPr id="306" name="Google Shape;306;p10"/>
          <p:cNvSpPr/>
          <p:nvPr/>
        </p:nvSpPr>
        <p:spPr>
          <a:xfrm>
            <a:off x="615150" y="4135435"/>
            <a:ext cx="190500" cy="190500"/>
          </a:xfrm>
          <a:custGeom>
            <a:rect b="b" l="l" r="r" t="t"/>
            <a:pathLst>
              <a:path extrusionOk="0" h="190500" w="190500">
                <a:moveTo>
                  <a:pt x="24519" y="85018"/>
                </a:moveTo>
                <a:cubicBezTo>
                  <a:pt x="29468" y="50416"/>
                  <a:pt x="59271" y="23812"/>
                  <a:pt x="95250" y="23812"/>
                </a:cubicBezTo>
                <a:cubicBezTo>
                  <a:pt x="114970" y="23812"/>
                  <a:pt x="132829" y="31812"/>
                  <a:pt x="145777" y="44723"/>
                </a:cubicBezTo>
                <a:cubicBezTo>
                  <a:pt x="145852" y="44797"/>
                  <a:pt x="145926" y="44872"/>
                  <a:pt x="146000" y="44946"/>
                </a:cubicBezTo>
                <a:lnTo>
                  <a:pt x="148828" y="47625"/>
                </a:lnTo>
                <a:lnTo>
                  <a:pt x="131006" y="47625"/>
                </a:lnTo>
                <a:cubicBezTo>
                  <a:pt x="124420" y="47625"/>
                  <a:pt x="119100" y="52946"/>
                  <a:pt x="119100" y="59531"/>
                </a:cubicBezTo>
                <a:cubicBezTo>
                  <a:pt x="119100" y="66117"/>
                  <a:pt x="124420" y="71438"/>
                  <a:pt x="131006" y="71438"/>
                </a:cubicBezTo>
                <a:lnTo>
                  <a:pt x="178631" y="71438"/>
                </a:lnTo>
                <a:cubicBezTo>
                  <a:pt x="185217" y="71438"/>
                  <a:pt x="190537" y="66117"/>
                  <a:pt x="190537" y="59531"/>
                </a:cubicBezTo>
                <a:lnTo>
                  <a:pt x="190537" y="11906"/>
                </a:lnTo>
                <a:cubicBezTo>
                  <a:pt x="190537" y="5321"/>
                  <a:pt x="185217" y="0"/>
                  <a:pt x="178631" y="0"/>
                </a:cubicBezTo>
                <a:cubicBezTo>
                  <a:pt x="172045" y="0"/>
                  <a:pt x="166725" y="5321"/>
                  <a:pt x="166725" y="11906"/>
                </a:cubicBezTo>
                <a:lnTo>
                  <a:pt x="166725" y="31775"/>
                </a:lnTo>
                <a:lnTo>
                  <a:pt x="162520" y="27794"/>
                </a:lnTo>
                <a:cubicBezTo>
                  <a:pt x="145293" y="10641"/>
                  <a:pt x="121481" y="0"/>
                  <a:pt x="95250" y="0"/>
                </a:cubicBezTo>
                <a:cubicBezTo>
                  <a:pt x="47253" y="0"/>
                  <a:pt x="7553" y="35496"/>
                  <a:pt x="967" y="81669"/>
                </a:cubicBezTo>
                <a:cubicBezTo>
                  <a:pt x="37" y="88181"/>
                  <a:pt x="4539" y="94208"/>
                  <a:pt x="11050" y="95138"/>
                </a:cubicBezTo>
                <a:cubicBezTo>
                  <a:pt x="17562" y="96069"/>
                  <a:pt x="23589" y="91529"/>
                  <a:pt x="24519" y="85055"/>
                </a:cubicBezTo>
                <a:close/>
                <a:moveTo>
                  <a:pt x="189533" y="108831"/>
                </a:moveTo>
                <a:cubicBezTo>
                  <a:pt x="190463" y="102319"/>
                  <a:pt x="185924" y="96292"/>
                  <a:pt x="179450" y="95362"/>
                </a:cubicBezTo>
                <a:cubicBezTo>
                  <a:pt x="172975" y="94431"/>
                  <a:pt x="166911" y="98971"/>
                  <a:pt x="165981" y="105445"/>
                </a:cubicBezTo>
                <a:cubicBezTo>
                  <a:pt x="161032" y="140047"/>
                  <a:pt x="131229" y="166650"/>
                  <a:pt x="95250" y="166650"/>
                </a:cubicBezTo>
                <a:cubicBezTo>
                  <a:pt x="75530" y="166650"/>
                  <a:pt x="57671" y="158651"/>
                  <a:pt x="44723" y="145740"/>
                </a:cubicBezTo>
                <a:cubicBezTo>
                  <a:pt x="44648" y="145666"/>
                  <a:pt x="44574" y="145591"/>
                  <a:pt x="44500" y="145517"/>
                </a:cubicBezTo>
                <a:lnTo>
                  <a:pt x="41672" y="142838"/>
                </a:lnTo>
                <a:lnTo>
                  <a:pt x="59494" y="142838"/>
                </a:lnTo>
                <a:cubicBezTo>
                  <a:pt x="66080" y="142838"/>
                  <a:pt x="71400" y="137517"/>
                  <a:pt x="71400" y="130932"/>
                </a:cubicBezTo>
                <a:cubicBezTo>
                  <a:pt x="71400" y="124346"/>
                  <a:pt x="66080" y="119025"/>
                  <a:pt x="59494" y="119025"/>
                </a:cubicBezTo>
                <a:lnTo>
                  <a:pt x="11906" y="119063"/>
                </a:lnTo>
                <a:cubicBezTo>
                  <a:pt x="8744" y="119063"/>
                  <a:pt x="5693" y="120328"/>
                  <a:pt x="3460" y="122597"/>
                </a:cubicBezTo>
                <a:cubicBezTo>
                  <a:pt x="1228" y="124867"/>
                  <a:pt x="-37" y="127881"/>
                  <a:pt x="0" y="131080"/>
                </a:cubicBezTo>
                <a:lnTo>
                  <a:pt x="372" y="178333"/>
                </a:lnTo>
                <a:cubicBezTo>
                  <a:pt x="409" y="184919"/>
                  <a:pt x="5804" y="190202"/>
                  <a:pt x="12390" y="190128"/>
                </a:cubicBezTo>
                <a:cubicBezTo>
                  <a:pt x="18976" y="190054"/>
                  <a:pt x="24259" y="184696"/>
                  <a:pt x="24185" y="178110"/>
                </a:cubicBezTo>
                <a:lnTo>
                  <a:pt x="24036" y="158948"/>
                </a:lnTo>
                <a:lnTo>
                  <a:pt x="28017" y="162706"/>
                </a:lnTo>
                <a:cubicBezTo>
                  <a:pt x="45244" y="179859"/>
                  <a:pt x="69019" y="190500"/>
                  <a:pt x="95250" y="190500"/>
                </a:cubicBezTo>
                <a:cubicBezTo>
                  <a:pt x="143247" y="190500"/>
                  <a:pt x="182947" y="155004"/>
                  <a:pt x="189533" y="10883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0"/>
          <p:cNvSpPr/>
          <p:nvPr/>
        </p:nvSpPr>
        <p:spPr>
          <a:xfrm>
            <a:off x="1027900" y="4008435"/>
            <a:ext cx="1103400" cy="2541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i="0" lang="en-US" sz="1500" u="none" cap="none" strike="noStrike">
                <a:solidFill>
                  <a:srgbClr val="8B0000"/>
                </a:solidFill>
                <a:latin typeface="Sorts Mill Goudy"/>
                <a:ea typeface="Sorts Mill Goudy"/>
                <a:cs typeface="Sorts Mill Goudy"/>
                <a:sym typeface="Sorts Mill Goudy"/>
              </a:rPr>
              <a:t>XGBoost</a:t>
            </a:r>
            <a:endParaRPr b="0" i="0" sz="1600" u="none" cap="none" strike="noStrike"/>
          </a:p>
        </p:txBody>
      </p:sp>
      <p:sp>
        <p:nvSpPr>
          <p:cNvPr id="308" name="Google Shape;308;p10"/>
          <p:cNvSpPr/>
          <p:nvPr/>
        </p:nvSpPr>
        <p:spPr>
          <a:xfrm>
            <a:off x="1027900" y="4262435"/>
            <a:ext cx="1071600" cy="1905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0" i="0" lang="en-US" sz="1000" u="none" cap="none" strike="noStrike">
                <a:solidFill>
                  <a:srgbClr val="6B7280"/>
                </a:solidFill>
                <a:latin typeface="Sorts Mill Goudy"/>
                <a:ea typeface="Sorts Mill Goudy"/>
                <a:cs typeface="Sorts Mill Goudy"/>
                <a:sym typeface="Sorts Mill Goudy"/>
              </a:rPr>
              <a:t>Gradient Boosting</a:t>
            </a:r>
            <a:endParaRPr b="0" i="0" sz="1600" u="none" cap="none" strike="noStrike"/>
          </a:p>
        </p:txBody>
      </p:sp>
      <p:sp>
        <p:nvSpPr>
          <p:cNvPr id="309" name="Google Shape;309;p10"/>
          <p:cNvSpPr/>
          <p:nvPr/>
        </p:nvSpPr>
        <p:spPr>
          <a:xfrm>
            <a:off x="488150" y="4579935"/>
            <a:ext cx="5365750" cy="603250"/>
          </a:xfrm>
          <a:custGeom>
            <a:rect b="b" l="l" r="r" t="t"/>
            <a:pathLst>
              <a:path extrusionOk="0" h="603250" w="5365750">
                <a:moveTo>
                  <a:pt x="0" y="0"/>
                </a:moveTo>
                <a:lnTo>
                  <a:pt x="5365750" y="0"/>
                </a:lnTo>
                <a:lnTo>
                  <a:pt x="5365750" y="603250"/>
                </a:lnTo>
                <a:lnTo>
                  <a:pt x="0" y="603250"/>
                </a:lnTo>
                <a:lnTo>
                  <a:pt x="0" y="0"/>
                </a:lnTo>
                <a:close/>
              </a:path>
            </a:pathLst>
          </a:custGeom>
          <a:solidFill>
            <a:srgbClr val="F9FAFB"/>
          </a:solidFill>
          <a:ln>
            <a:noFill/>
          </a:ln>
        </p:spPr>
      </p:sp>
      <p:sp>
        <p:nvSpPr>
          <p:cNvPr id="310" name="Google Shape;310;p10"/>
          <p:cNvSpPr/>
          <p:nvPr/>
        </p:nvSpPr>
        <p:spPr>
          <a:xfrm>
            <a:off x="583400" y="4675185"/>
            <a:ext cx="5238900" cy="1905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i="0" lang="en-US" sz="1000" u="none" cap="none" strike="noStrike">
                <a:solidFill>
                  <a:srgbClr val="1F2937"/>
                </a:solidFill>
                <a:latin typeface="Sorts Mill Goudy"/>
                <a:ea typeface="Sorts Mill Goudy"/>
                <a:cs typeface="Sorts Mill Goudy"/>
                <a:sym typeface="Sorts Mill Goudy"/>
              </a:rPr>
              <a:t>Type</a:t>
            </a:r>
            <a:endParaRPr b="0" i="0" sz="1600" u="none" cap="none" strike="noStrike"/>
          </a:p>
        </p:txBody>
      </p:sp>
      <p:sp>
        <p:nvSpPr>
          <p:cNvPr id="311" name="Google Shape;311;p10"/>
          <p:cNvSpPr/>
          <p:nvPr/>
        </p:nvSpPr>
        <p:spPr>
          <a:xfrm>
            <a:off x="583400" y="4897435"/>
            <a:ext cx="5238900" cy="1905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0" i="0" lang="en-US" sz="1000" u="none" cap="none" strike="noStrike">
                <a:solidFill>
                  <a:srgbClr val="6B7280"/>
                </a:solidFill>
                <a:latin typeface="Sorts Mill Goudy"/>
                <a:ea typeface="Sorts Mill Goudy"/>
                <a:cs typeface="Sorts Mill Goudy"/>
                <a:sym typeface="Sorts Mill Goudy"/>
              </a:rPr>
              <a:t>Extreme Gradient Boosting ensemble</a:t>
            </a:r>
            <a:endParaRPr b="0" i="0" sz="1600" u="none" cap="none" strike="noStrike"/>
          </a:p>
        </p:txBody>
      </p:sp>
      <p:sp>
        <p:nvSpPr>
          <p:cNvPr id="312" name="Google Shape;312;p10"/>
          <p:cNvSpPr/>
          <p:nvPr/>
        </p:nvSpPr>
        <p:spPr>
          <a:xfrm>
            <a:off x="488150" y="5278435"/>
            <a:ext cx="5365750" cy="603250"/>
          </a:xfrm>
          <a:custGeom>
            <a:rect b="b" l="l" r="r" t="t"/>
            <a:pathLst>
              <a:path extrusionOk="0" h="603250" w="5365750">
                <a:moveTo>
                  <a:pt x="0" y="0"/>
                </a:moveTo>
                <a:lnTo>
                  <a:pt x="5365750" y="0"/>
                </a:lnTo>
                <a:lnTo>
                  <a:pt x="5365750" y="603250"/>
                </a:lnTo>
                <a:lnTo>
                  <a:pt x="0" y="603250"/>
                </a:lnTo>
                <a:lnTo>
                  <a:pt x="0" y="0"/>
                </a:lnTo>
                <a:close/>
              </a:path>
            </a:pathLst>
          </a:custGeom>
          <a:solidFill>
            <a:srgbClr val="F9FAFB"/>
          </a:solidFill>
          <a:ln>
            <a:noFill/>
          </a:ln>
        </p:spPr>
      </p:sp>
      <p:sp>
        <p:nvSpPr>
          <p:cNvPr id="313" name="Google Shape;313;p10"/>
          <p:cNvSpPr/>
          <p:nvPr/>
        </p:nvSpPr>
        <p:spPr>
          <a:xfrm>
            <a:off x="583400" y="5373685"/>
            <a:ext cx="5238900" cy="1905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i="0" lang="en-US" sz="1000" u="none" cap="none" strike="noStrike">
                <a:solidFill>
                  <a:srgbClr val="1F2937"/>
                </a:solidFill>
                <a:latin typeface="Sorts Mill Goudy"/>
                <a:ea typeface="Sorts Mill Goudy"/>
                <a:cs typeface="Sorts Mill Goudy"/>
                <a:sym typeface="Sorts Mill Goudy"/>
              </a:rPr>
              <a:t>Purpose</a:t>
            </a:r>
            <a:endParaRPr b="0" i="0" sz="1600" u="none" cap="none" strike="noStrike"/>
          </a:p>
        </p:txBody>
      </p:sp>
      <p:sp>
        <p:nvSpPr>
          <p:cNvPr id="314" name="Google Shape;314;p10"/>
          <p:cNvSpPr/>
          <p:nvPr/>
        </p:nvSpPr>
        <p:spPr>
          <a:xfrm>
            <a:off x="583400" y="5595935"/>
            <a:ext cx="5238900" cy="1905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0" i="0" lang="en-US" sz="1000" u="none" cap="none" strike="noStrike">
                <a:solidFill>
                  <a:srgbClr val="6B7280"/>
                </a:solidFill>
                <a:latin typeface="Sorts Mill Goudy"/>
                <a:ea typeface="Sorts Mill Goudy"/>
                <a:cs typeface="Sorts Mill Goudy"/>
                <a:sym typeface="Sorts Mill Goudy"/>
              </a:rPr>
              <a:t>Optimize prediction accuracy with regularization</a:t>
            </a:r>
            <a:endParaRPr b="0" i="0" sz="1600" u="none" cap="none" strike="noStrike"/>
          </a:p>
        </p:txBody>
      </p:sp>
      <p:sp>
        <p:nvSpPr>
          <p:cNvPr id="315" name="Google Shape;315;p10"/>
          <p:cNvSpPr/>
          <p:nvPr/>
        </p:nvSpPr>
        <p:spPr>
          <a:xfrm>
            <a:off x="488150" y="5976935"/>
            <a:ext cx="5365750" cy="603250"/>
          </a:xfrm>
          <a:custGeom>
            <a:rect b="b" l="l" r="r" t="t"/>
            <a:pathLst>
              <a:path extrusionOk="0" h="603250" w="5365750">
                <a:moveTo>
                  <a:pt x="0" y="0"/>
                </a:moveTo>
                <a:lnTo>
                  <a:pt x="5365750" y="0"/>
                </a:lnTo>
                <a:lnTo>
                  <a:pt x="5365750" y="603250"/>
                </a:lnTo>
                <a:lnTo>
                  <a:pt x="0" y="603250"/>
                </a:lnTo>
                <a:lnTo>
                  <a:pt x="0" y="0"/>
                </a:lnTo>
                <a:close/>
              </a:path>
            </a:pathLst>
          </a:custGeom>
          <a:solidFill>
            <a:srgbClr val="F9FAFB"/>
          </a:solidFill>
          <a:ln>
            <a:noFill/>
          </a:ln>
        </p:spPr>
      </p:sp>
      <p:sp>
        <p:nvSpPr>
          <p:cNvPr id="316" name="Google Shape;316;p10"/>
          <p:cNvSpPr/>
          <p:nvPr/>
        </p:nvSpPr>
        <p:spPr>
          <a:xfrm>
            <a:off x="583400" y="6072185"/>
            <a:ext cx="5238900" cy="1905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i="0" lang="en-US" sz="1000" u="none" cap="none" strike="noStrike">
                <a:solidFill>
                  <a:srgbClr val="1F2937"/>
                </a:solidFill>
                <a:latin typeface="Sorts Mill Goudy"/>
                <a:ea typeface="Sorts Mill Goudy"/>
                <a:cs typeface="Sorts Mill Goudy"/>
                <a:sym typeface="Sorts Mill Goudy"/>
              </a:rPr>
              <a:t>Strengths</a:t>
            </a:r>
            <a:endParaRPr b="0" i="0" sz="1600" u="none" cap="none" strike="noStrike"/>
          </a:p>
        </p:txBody>
      </p:sp>
      <p:sp>
        <p:nvSpPr>
          <p:cNvPr id="317" name="Google Shape;317;p10"/>
          <p:cNvSpPr/>
          <p:nvPr/>
        </p:nvSpPr>
        <p:spPr>
          <a:xfrm>
            <a:off x="488138" y="6326172"/>
            <a:ext cx="5238900" cy="1905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0" i="0" lang="en-US" sz="1000" u="none" cap="none" strike="noStrike">
                <a:solidFill>
                  <a:srgbClr val="6B7280"/>
                </a:solidFill>
                <a:latin typeface="Sorts Mill Goudy"/>
                <a:ea typeface="Sorts Mill Goudy"/>
                <a:cs typeface="Sorts Mill Goudy"/>
                <a:sym typeface="Sorts Mill Goudy"/>
              </a:rPr>
              <a:t>High performance, handles imbalanced data, efficient</a:t>
            </a:r>
            <a:endParaRPr b="0" i="0" sz="1600" u="none" cap="none" strike="noStrike"/>
          </a:p>
        </p:txBody>
      </p:sp>
      <p:sp>
        <p:nvSpPr>
          <p:cNvPr id="318" name="Google Shape;318;p10"/>
          <p:cNvSpPr/>
          <p:nvPr/>
        </p:nvSpPr>
        <p:spPr>
          <a:xfrm>
            <a:off x="6155525" y="3833810"/>
            <a:ext cx="5715000" cy="2921000"/>
          </a:xfrm>
          <a:custGeom>
            <a:rect b="b" l="l" r="r" t="t"/>
            <a:pathLst>
              <a:path extrusionOk="0" h="2921000" w="5715000">
                <a:moveTo>
                  <a:pt x="0" y="0"/>
                </a:moveTo>
                <a:lnTo>
                  <a:pt x="5715000" y="0"/>
                </a:lnTo>
                <a:lnTo>
                  <a:pt x="5715000" y="2921000"/>
                </a:lnTo>
                <a:lnTo>
                  <a:pt x="0" y="2921000"/>
                </a:lnTo>
                <a:lnTo>
                  <a:pt x="0" y="0"/>
                </a:lnTo>
                <a:close/>
              </a:path>
            </a:pathLst>
          </a:custGeom>
          <a:solidFill>
            <a:srgbClr val="1F2937"/>
          </a:solidFill>
          <a:ln>
            <a:noFill/>
          </a:ln>
        </p:spPr>
      </p:sp>
      <p:sp>
        <p:nvSpPr>
          <p:cNvPr id="319" name="Google Shape;319;p10"/>
          <p:cNvSpPr/>
          <p:nvPr/>
        </p:nvSpPr>
        <p:spPr>
          <a:xfrm>
            <a:off x="6314275" y="3992560"/>
            <a:ext cx="444500" cy="444500"/>
          </a:xfrm>
          <a:custGeom>
            <a:rect b="b" l="l" r="r" t="t"/>
            <a:pathLst>
              <a:path extrusionOk="0" h="444500" w="444500">
                <a:moveTo>
                  <a:pt x="0" y="0"/>
                </a:moveTo>
                <a:lnTo>
                  <a:pt x="444500" y="0"/>
                </a:lnTo>
                <a:lnTo>
                  <a:pt x="444500" y="444500"/>
                </a:lnTo>
                <a:lnTo>
                  <a:pt x="0" y="444500"/>
                </a:lnTo>
                <a:lnTo>
                  <a:pt x="0" y="0"/>
                </a:lnTo>
                <a:close/>
              </a:path>
            </a:pathLst>
          </a:custGeom>
          <a:solidFill>
            <a:srgbClr val="FFFFFF"/>
          </a:solidFill>
          <a:ln>
            <a:noFill/>
          </a:ln>
        </p:spPr>
      </p:sp>
      <p:sp>
        <p:nvSpPr>
          <p:cNvPr id="320" name="Google Shape;320;p10"/>
          <p:cNvSpPr/>
          <p:nvPr/>
        </p:nvSpPr>
        <p:spPr>
          <a:xfrm>
            <a:off x="6441275" y="4119560"/>
            <a:ext cx="190500" cy="190500"/>
          </a:xfrm>
          <a:custGeom>
            <a:rect b="b" l="l" r="r" t="t"/>
            <a:pathLst>
              <a:path extrusionOk="0" h="190500" w="190500">
                <a:moveTo>
                  <a:pt x="44648" y="20836"/>
                </a:moveTo>
                <a:cubicBezTo>
                  <a:pt x="44648" y="9339"/>
                  <a:pt x="53987" y="0"/>
                  <a:pt x="65484" y="0"/>
                </a:cubicBezTo>
                <a:lnTo>
                  <a:pt x="74414" y="0"/>
                </a:lnTo>
                <a:cubicBezTo>
                  <a:pt x="81000" y="0"/>
                  <a:pt x="86320" y="5321"/>
                  <a:pt x="86320" y="11906"/>
                </a:cubicBezTo>
                <a:lnTo>
                  <a:pt x="86320" y="178594"/>
                </a:lnTo>
                <a:cubicBezTo>
                  <a:pt x="86320" y="185179"/>
                  <a:pt x="81000" y="190500"/>
                  <a:pt x="74414" y="190500"/>
                </a:cubicBezTo>
                <a:lnTo>
                  <a:pt x="62508" y="190500"/>
                </a:lnTo>
                <a:cubicBezTo>
                  <a:pt x="51420" y="190500"/>
                  <a:pt x="42081" y="182910"/>
                  <a:pt x="39439" y="172641"/>
                </a:cubicBezTo>
                <a:cubicBezTo>
                  <a:pt x="39179" y="172641"/>
                  <a:pt x="38956" y="172641"/>
                  <a:pt x="38695" y="172641"/>
                </a:cubicBezTo>
                <a:cubicBezTo>
                  <a:pt x="22250" y="172641"/>
                  <a:pt x="8930" y="159321"/>
                  <a:pt x="8930" y="142875"/>
                </a:cubicBezTo>
                <a:cubicBezTo>
                  <a:pt x="8930" y="136178"/>
                  <a:pt x="11162" y="130001"/>
                  <a:pt x="14883" y="125016"/>
                </a:cubicBezTo>
                <a:cubicBezTo>
                  <a:pt x="7665" y="119583"/>
                  <a:pt x="2977" y="110951"/>
                  <a:pt x="2977" y="101203"/>
                </a:cubicBezTo>
                <a:cubicBezTo>
                  <a:pt x="2977" y="89706"/>
                  <a:pt x="9525" y="79697"/>
                  <a:pt x="19050" y="74749"/>
                </a:cubicBezTo>
                <a:cubicBezTo>
                  <a:pt x="16408" y="70284"/>
                  <a:pt x="14883" y="65075"/>
                  <a:pt x="14883" y="59531"/>
                </a:cubicBezTo>
                <a:cubicBezTo>
                  <a:pt x="14883" y="43086"/>
                  <a:pt x="28203" y="29766"/>
                  <a:pt x="44648" y="29766"/>
                </a:cubicBezTo>
                <a:lnTo>
                  <a:pt x="44648" y="20836"/>
                </a:lnTo>
                <a:close/>
                <a:moveTo>
                  <a:pt x="145852" y="20836"/>
                </a:moveTo>
                <a:lnTo>
                  <a:pt x="145852" y="29766"/>
                </a:lnTo>
                <a:cubicBezTo>
                  <a:pt x="162297" y="29766"/>
                  <a:pt x="175617" y="43086"/>
                  <a:pt x="175617" y="59531"/>
                </a:cubicBezTo>
                <a:cubicBezTo>
                  <a:pt x="175617" y="65112"/>
                  <a:pt x="174092" y="70321"/>
                  <a:pt x="171450" y="74749"/>
                </a:cubicBezTo>
                <a:cubicBezTo>
                  <a:pt x="181012" y="79697"/>
                  <a:pt x="187523" y="89669"/>
                  <a:pt x="187523" y="101203"/>
                </a:cubicBezTo>
                <a:cubicBezTo>
                  <a:pt x="187523" y="110951"/>
                  <a:pt x="182835" y="119583"/>
                  <a:pt x="175617" y="125016"/>
                </a:cubicBezTo>
                <a:cubicBezTo>
                  <a:pt x="179338" y="130001"/>
                  <a:pt x="181570" y="136178"/>
                  <a:pt x="181570" y="142875"/>
                </a:cubicBezTo>
                <a:cubicBezTo>
                  <a:pt x="181570" y="159321"/>
                  <a:pt x="168250" y="172641"/>
                  <a:pt x="151805" y="172641"/>
                </a:cubicBezTo>
                <a:cubicBezTo>
                  <a:pt x="151544" y="172641"/>
                  <a:pt x="151321" y="172641"/>
                  <a:pt x="151061" y="172641"/>
                </a:cubicBezTo>
                <a:cubicBezTo>
                  <a:pt x="148419" y="182910"/>
                  <a:pt x="139080" y="190500"/>
                  <a:pt x="127992" y="190500"/>
                </a:cubicBezTo>
                <a:lnTo>
                  <a:pt x="116086" y="190500"/>
                </a:lnTo>
                <a:cubicBezTo>
                  <a:pt x="109500" y="190500"/>
                  <a:pt x="104180" y="185179"/>
                  <a:pt x="104180" y="178594"/>
                </a:cubicBezTo>
                <a:lnTo>
                  <a:pt x="104180" y="11906"/>
                </a:lnTo>
                <a:cubicBezTo>
                  <a:pt x="104180" y="5321"/>
                  <a:pt x="109500" y="0"/>
                  <a:pt x="116086" y="0"/>
                </a:cubicBezTo>
                <a:lnTo>
                  <a:pt x="125016" y="0"/>
                </a:lnTo>
                <a:cubicBezTo>
                  <a:pt x="136513" y="0"/>
                  <a:pt x="145852" y="9339"/>
                  <a:pt x="145852" y="20836"/>
                </a:cubicBezTo>
                <a:close/>
              </a:path>
            </a:pathLst>
          </a:custGeom>
          <a:solidFill>
            <a:srgbClr val="1F29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0"/>
          <p:cNvSpPr/>
          <p:nvPr/>
        </p:nvSpPr>
        <p:spPr>
          <a:xfrm>
            <a:off x="6854025" y="3992560"/>
            <a:ext cx="1905000" cy="2541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i="0" lang="en-US" sz="1500" u="none" cap="none" strike="noStrike">
                <a:solidFill>
                  <a:srgbClr val="FFFFFF"/>
                </a:solidFill>
                <a:latin typeface="Sorts Mill Goudy"/>
                <a:ea typeface="Sorts Mill Goudy"/>
                <a:cs typeface="Sorts Mill Goudy"/>
                <a:sym typeface="Sorts Mill Goudy"/>
              </a:rPr>
              <a:t>Deep Neural Network</a:t>
            </a:r>
            <a:endParaRPr b="0" i="0" sz="1600" u="none" cap="none" strike="noStrike"/>
          </a:p>
        </p:txBody>
      </p:sp>
      <p:sp>
        <p:nvSpPr>
          <p:cNvPr id="322" name="Google Shape;322;p10"/>
          <p:cNvSpPr/>
          <p:nvPr/>
        </p:nvSpPr>
        <p:spPr>
          <a:xfrm>
            <a:off x="6854025" y="4246560"/>
            <a:ext cx="1873200" cy="1905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0" i="0" lang="en-US" sz="1000" u="none" cap="none" strike="noStrike">
                <a:solidFill>
                  <a:srgbClr val="FFFFFF"/>
                </a:solidFill>
                <a:latin typeface="Sorts Mill Goudy"/>
                <a:ea typeface="Sorts Mill Goudy"/>
                <a:cs typeface="Sorts Mill Goudy"/>
                <a:sym typeface="Sorts Mill Goudy"/>
              </a:rPr>
              <a:t>Deep Learning</a:t>
            </a:r>
            <a:endParaRPr b="0" i="0" sz="1600" u="none" cap="none" strike="noStrike"/>
          </a:p>
        </p:txBody>
      </p:sp>
      <p:sp>
        <p:nvSpPr>
          <p:cNvPr id="323" name="Google Shape;323;p10"/>
          <p:cNvSpPr/>
          <p:nvPr/>
        </p:nvSpPr>
        <p:spPr>
          <a:xfrm>
            <a:off x="6314275" y="4564060"/>
            <a:ext cx="5397500" cy="603250"/>
          </a:xfrm>
          <a:custGeom>
            <a:rect b="b" l="l" r="r" t="t"/>
            <a:pathLst>
              <a:path extrusionOk="0" h="603250" w="5397500">
                <a:moveTo>
                  <a:pt x="0" y="0"/>
                </a:moveTo>
                <a:lnTo>
                  <a:pt x="5397500" y="0"/>
                </a:lnTo>
                <a:lnTo>
                  <a:pt x="5397500" y="603250"/>
                </a:lnTo>
                <a:lnTo>
                  <a:pt x="0" y="603250"/>
                </a:lnTo>
                <a:lnTo>
                  <a:pt x="0" y="0"/>
                </a:lnTo>
                <a:close/>
              </a:path>
            </a:pathLst>
          </a:custGeom>
          <a:solidFill>
            <a:srgbClr val="FFFFFF">
              <a:alpha val="10196"/>
            </a:srgbClr>
          </a:solidFill>
          <a:ln>
            <a:noFill/>
          </a:ln>
        </p:spPr>
      </p:sp>
      <p:sp>
        <p:nvSpPr>
          <p:cNvPr id="324" name="Google Shape;324;p10"/>
          <p:cNvSpPr/>
          <p:nvPr/>
        </p:nvSpPr>
        <p:spPr>
          <a:xfrm>
            <a:off x="6409525" y="4659310"/>
            <a:ext cx="5270400" cy="1905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i="0" lang="en-US" sz="1000" u="none" cap="none" strike="noStrike">
                <a:solidFill>
                  <a:srgbClr val="FFFFFF"/>
                </a:solidFill>
                <a:latin typeface="Sorts Mill Goudy"/>
                <a:ea typeface="Sorts Mill Goudy"/>
                <a:cs typeface="Sorts Mill Goudy"/>
                <a:sym typeface="Sorts Mill Goudy"/>
              </a:rPr>
              <a:t>Type</a:t>
            </a:r>
            <a:endParaRPr b="0" i="0" sz="1600" u="none" cap="none" strike="noStrike"/>
          </a:p>
        </p:txBody>
      </p:sp>
      <p:sp>
        <p:nvSpPr>
          <p:cNvPr id="325" name="Google Shape;325;p10"/>
          <p:cNvSpPr/>
          <p:nvPr/>
        </p:nvSpPr>
        <p:spPr>
          <a:xfrm>
            <a:off x="6409525" y="4881560"/>
            <a:ext cx="5270400" cy="1905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0" i="0" lang="en-US" sz="1000" u="none" cap="none" strike="noStrike">
                <a:solidFill>
                  <a:srgbClr val="FFFFFF"/>
                </a:solidFill>
                <a:latin typeface="Sorts Mill Goudy"/>
                <a:ea typeface="Sorts Mill Goudy"/>
                <a:cs typeface="Sorts Mill Goudy"/>
                <a:sym typeface="Sorts Mill Goudy"/>
              </a:rPr>
              <a:t>Multi-layer neural network architecture</a:t>
            </a:r>
            <a:endParaRPr b="0" i="0" sz="1600" u="none" cap="none" strike="noStrike"/>
          </a:p>
        </p:txBody>
      </p:sp>
      <p:sp>
        <p:nvSpPr>
          <p:cNvPr id="326" name="Google Shape;326;p10"/>
          <p:cNvSpPr/>
          <p:nvPr/>
        </p:nvSpPr>
        <p:spPr>
          <a:xfrm>
            <a:off x="6314275" y="5262560"/>
            <a:ext cx="5397500" cy="603250"/>
          </a:xfrm>
          <a:custGeom>
            <a:rect b="b" l="l" r="r" t="t"/>
            <a:pathLst>
              <a:path extrusionOk="0" h="603250" w="5397500">
                <a:moveTo>
                  <a:pt x="0" y="0"/>
                </a:moveTo>
                <a:lnTo>
                  <a:pt x="5397500" y="0"/>
                </a:lnTo>
                <a:lnTo>
                  <a:pt x="5397500" y="603250"/>
                </a:lnTo>
                <a:lnTo>
                  <a:pt x="0" y="603250"/>
                </a:lnTo>
                <a:lnTo>
                  <a:pt x="0" y="0"/>
                </a:lnTo>
                <a:close/>
              </a:path>
            </a:pathLst>
          </a:custGeom>
          <a:solidFill>
            <a:srgbClr val="FFFFFF">
              <a:alpha val="10196"/>
            </a:srgbClr>
          </a:solidFill>
          <a:ln>
            <a:noFill/>
          </a:ln>
        </p:spPr>
      </p:sp>
      <p:sp>
        <p:nvSpPr>
          <p:cNvPr id="327" name="Google Shape;327;p10"/>
          <p:cNvSpPr/>
          <p:nvPr/>
        </p:nvSpPr>
        <p:spPr>
          <a:xfrm>
            <a:off x="6409525" y="5357810"/>
            <a:ext cx="5270400" cy="1905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i="0" lang="en-US" sz="1000" u="none" cap="none" strike="noStrike">
                <a:solidFill>
                  <a:srgbClr val="FFFFFF"/>
                </a:solidFill>
                <a:latin typeface="Sorts Mill Goudy"/>
                <a:ea typeface="Sorts Mill Goudy"/>
                <a:cs typeface="Sorts Mill Goudy"/>
                <a:sym typeface="Sorts Mill Goudy"/>
              </a:rPr>
              <a:t>Purpose</a:t>
            </a:r>
            <a:endParaRPr b="0" i="0" sz="1600" u="none" cap="none" strike="noStrike"/>
          </a:p>
        </p:txBody>
      </p:sp>
      <p:sp>
        <p:nvSpPr>
          <p:cNvPr id="328" name="Google Shape;328;p10"/>
          <p:cNvSpPr/>
          <p:nvPr/>
        </p:nvSpPr>
        <p:spPr>
          <a:xfrm>
            <a:off x="6409525" y="5580060"/>
            <a:ext cx="5270400" cy="1905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0" i="0" lang="en-US" sz="1000" u="none" cap="none" strike="noStrike">
                <a:solidFill>
                  <a:srgbClr val="FFFFFF"/>
                </a:solidFill>
                <a:latin typeface="Sorts Mill Goudy"/>
                <a:ea typeface="Sorts Mill Goudy"/>
                <a:cs typeface="Sorts Mill Goudy"/>
                <a:sym typeface="Sorts Mill Goudy"/>
              </a:rPr>
              <a:t>Capture complex non-linear relationships</a:t>
            </a:r>
            <a:endParaRPr b="0" i="0" sz="1600" u="none" cap="none" strike="noStrike"/>
          </a:p>
        </p:txBody>
      </p:sp>
      <p:sp>
        <p:nvSpPr>
          <p:cNvPr id="329" name="Google Shape;329;p10"/>
          <p:cNvSpPr/>
          <p:nvPr/>
        </p:nvSpPr>
        <p:spPr>
          <a:xfrm>
            <a:off x="6314275" y="5961060"/>
            <a:ext cx="5397500" cy="603250"/>
          </a:xfrm>
          <a:custGeom>
            <a:rect b="b" l="l" r="r" t="t"/>
            <a:pathLst>
              <a:path extrusionOk="0" h="603250" w="5397500">
                <a:moveTo>
                  <a:pt x="0" y="0"/>
                </a:moveTo>
                <a:lnTo>
                  <a:pt x="5397500" y="0"/>
                </a:lnTo>
                <a:lnTo>
                  <a:pt x="5397500" y="603250"/>
                </a:lnTo>
                <a:lnTo>
                  <a:pt x="0" y="603250"/>
                </a:lnTo>
                <a:lnTo>
                  <a:pt x="0" y="0"/>
                </a:lnTo>
                <a:close/>
              </a:path>
            </a:pathLst>
          </a:custGeom>
          <a:solidFill>
            <a:srgbClr val="FFFFFF">
              <a:alpha val="10196"/>
            </a:srgbClr>
          </a:solidFill>
          <a:ln>
            <a:noFill/>
          </a:ln>
        </p:spPr>
      </p:sp>
      <p:sp>
        <p:nvSpPr>
          <p:cNvPr id="330" name="Google Shape;330;p10"/>
          <p:cNvSpPr/>
          <p:nvPr/>
        </p:nvSpPr>
        <p:spPr>
          <a:xfrm>
            <a:off x="6409525" y="6056310"/>
            <a:ext cx="5270400" cy="1905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i="0" lang="en-US" sz="1000" u="none" cap="none" strike="noStrike">
                <a:solidFill>
                  <a:srgbClr val="FFFFFF"/>
                </a:solidFill>
                <a:latin typeface="Sorts Mill Goudy"/>
                <a:ea typeface="Sorts Mill Goudy"/>
                <a:cs typeface="Sorts Mill Goudy"/>
                <a:sym typeface="Sorts Mill Goudy"/>
              </a:rPr>
              <a:t>Expected</a:t>
            </a:r>
            <a:endParaRPr b="0" i="0" sz="1600" u="none" cap="none" strike="noStrike"/>
          </a:p>
        </p:txBody>
      </p:sp>
      <p:sp>
        <p:nvSpPr>
          <p:cNvPr id="331" name="Google Shape;331;p10"/>
          <p:cNvSpPr/>
          <p:nvPr/>
        </p:nvSpPr>
        <p:spPr>
          <a:xfrm>
            <a:off x="6413500" y="6979047"/>
            <a:ext cx="5270500" cy="1905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0" i="0" lang="en-US" sz="1000" u="none" cap="none" strike="noStrike">
                <a:solidFill>
                  <a:srgbClr val="FFFFFF"/>
                </a:solidFill>
                <a:latin typeface="Sorts Mill Goudy"/>
                <a:ea typeface="Sorts Mill Goudy"/>
                <a:cs typeface="Sorts Mill Goudy"/>
                <a:sym typeface="Sorts Mill Goudy"/>
              </a:rPr>
              <a:t>Superior performance on complex patterns</a:t>
            </a:r>
            <a:endParaRPr b="0" i="0" sz="1600" u="none" cap="none" strike="noStrike"/>
          </a:p>
        </p:txBody>
      </p:sp>
      <p:sp>
        <p:nvSpPr>
          <p:cNvPr id="332" name="Google Shape;332;p10"/>
          <p:cNvSpPr/>
          <p:nvPr/>
        </p:nvSpPr>
        <p:spPr>
          <a:xfrm>
            <a:off x="6409650" y="6279560"/>
            <a:ext cx="5270400" cy="1905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lang="en-US" sz="1000">
                <a:solidFill>
                  <a:srgbClr val="FFFFFF"/>
                </a:solidFill>
                <a:latin typeface="Sorts Mill Goudy"/>
                <a:ea typeface="Sorts Mill Goudy"/>
                <a:cs typeface="Sorts Mill Goudy"/>
                <a:sym typeface="Sorts Mill Goudy"/>
              </a:rPr>
              <a:t>Superior performance on complex patterns</a:t>
            </a:r>
            <a:endParaRPr b="0" i="0" sz="1600" u="none" cap="none" strike="noStrike"/>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7" name="Shape 337"/>
        <p:cNvGrpSpPr/>
        <p:nvPr/>
      </p:nvGrpSpPr>
      <p:grpSpPr>
        <a:xfrm>
          <a:off x="0" y="0"/>
          <a:ext cx="0" cy="0"/>
          <a:chOff x="0" y="0"/>
          <a:chExt cx="0" cy="0"/>
        </a:xfrm>
      </p:grpSpPr>
      <p:sp>
        <p:nvSpPr>
          <p:cNvPr id="338" name="Google Shape;338;p11"/>
          <p:cNvSpPr/>
          <p:nvPr/>
        </p:nvSpPr>
        <p:spPr>
          <a:xfrm>
            <a:off x="317500" y="333375"/>
            <a:ext cx="412750" cy="2857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875" u="none" cap="none" strike="noStrike">
                <a:solidFill>
                  <a:srgbClr val="8B0000"/>
                </a:solidFill>
                <a:latin typeface="Sorts Mill Goudy"/>
                <a:ea typeface="Sorts Mill Goudy"/>
                <a:cs typeface="Sorts Mill Goudy"/>
                <a:sym typeface="Sorts Mill Goudy"/>
              </a:rPr>
              <a:t>2.</a:t>
            </a:r>
            <a:r>
              <a:rPr b="1" lang="en-US" sz="1875">
                <a:solidFill>
                  <a:srgbClr val="8B0000"/>
                </a:solidFill>
                <a:latin typeface="Sorts Mill Goudy"/>
                <a:ea typeface="Sorts Mill Goudy"/>
                <a:cs typeface="Sorts Mill Goudy"/>
                <a:sym typeface="Sorts Mill Goudy"/>
              </a:rPr>
              <a:t>5</a:t>
            </a:r>
            <a:endParaRPr b="0" i="0" sz="1600" u="none" cap="none" strike="noStrike"/>
          </a:p>
        </p:txBody>
      </p:sp>
      <p:sp>
        <p:nvSpPr>
          <p:cNvPr id="339" name="Google Shape;339;p11"/>
          <p:cNvSpPr/>
          <p:nvPr/>
        </p:nvSpPr>
        <p:spPr>
          <a:xfrm>
            <a:off x="702593" y="317500"/>
            <a:ext cx="5214938" cy="3175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1" i="0" lang="en-US" sz="2250" u="none" cap="none" strike="noStrike">
                <a:solidFill>
                  <a:srgbClr val="1F2937"/>
                </a:solidFill>
                <a:latin typeface="Sorts Mill Goudy"/>
                <a:ea typeface="Sorts Mill Goudy"/>
                <a:cs typeface="Sorts Mill Goudy"/>
                <a:sym typeface="Sorts Mill Goudy"/>
              </a:rPr>
              <a:t>Evaluation Metrics &amp; Expected Outcome</a:t>
            </a:r>
            <a:endParaRPr b="0" i="0" sz="1600" u="none" cap="none" strike="noStrike"/>
          </a:p>
        </p:txBody>
      </p:sp>
      <p:sp>
        <p:nvSpPr>
          <p:cNvPr id="340" name="Google Shape;340;p11"/>
          <p:cNvSpPr/>
          <p:nvPr/>
        </p:nvSpPr>
        <p:spPr>
          <a:xfrm>
            <a:off x="762000" y="698500"/>
            <a:ext cx="762000" cy="31750"/>
          </a:xfrm>
          <a:custGeom>
            <a:rect b="b" l="l" r="r" t="t"/>
            <a:pathLst>
              <a:path extrusionOk="0" h="31750" w="762000">
                <a:moveTo>
                  <a:pt x="0" y="0"/>
                </a:moveTo>
                <a:lnTo>
                  <a:pt x="762000" y="0"/>
                </a:lnTo>
                <a:lnTo>
                  <a:pt x="762000" y="31750"/>
                </a:lnTo>
                <a:lnTo>
                  <a:pt x="0" y="31750"/>
                </a:lnTo>
                <a:lnTo>
                  <a:pt x="0" y="0"/>
                </a:lnTo>
                <a:close/>
              </a:path>
            </a:pathLst>
          </a:custGeom>
          <a:solidFill>
            <a:srgbClr val="8B0000"/>
          </a:solidFill>
          <a:ln>
            <a:noFill/>
          </a:ln>
        </p:spPr>
      </p:sp>
      <p:sp>
        <p:nvSpPr>
          <p:cNvPr id="341" name="Google Shape;341;p11"/>
          <p:cNvSpPr/>
          <p:nvPr/>
        </p:nvSpPr>
        <p:spPr>
          <a:xfrm>
            <a:off x="321469" y="861219"/>
            <a:ext cx="2198688" cy="1039812"/>
          </a:xfrm>
          <a:custGeom>
            <a:rect b="b" l="l" r="r" t="t"/>
            <a:pathLst>
              <a:path extrusionOk="0" h="1039812" w="2198688">
                <a:moveTo>
                  <a:pt x="0" y="0"/>
                </a:moveTo>
                <a:lnTo>
                  <a:pt x="2198688" y="0"/>
                </a:lnTo>
                <a:lnTo>
                  <a:pt x="2198688" y="1039812"/>
                </a:lnTo>
                <a:lnTo>
                  <a:pt x="0" y="1039812"/>
                </a:lnTo>
                <a:lnTo>
                  <a:pt x="0" y="0"/>
                </a:lnTo>
                <a:close/>
              </a:path>
            </a:pathLst>
          </a:custGeom>
          <a:solidFill>
            <a:srgbClr val="F9FAFB"/>
          </a:solidFill>
          <a:ln cap="flat" cmpd="sng" w="12700">
            <a:solidFill>
              <a:srgbClr val="E5E7EB"/>
            </a:solidFill>
            <a:prstDash val="solid"/>
            <a:round/>
            <a:headEnd len="sm" w="sm" type="none"/>
            <a:tailEnd len="sm" w="sm" type="none"/>
          </a:ln>
        </p:spPr>
      </p:sp>
      <p:sp>
        <p:nvSpPr>
          <p:cNvPr id="342" name="Google Shape;342;p11"/>
          <p:cNvSpPr/>
          <p:nvPr/>
        </p:nvSpPr>
        <p:spPr>
          <a:xfrm>
            <a:off x="1305285" y="992188"/>
            <a:ext cx="238125" cy="238125"/>
          </a:xfrm>
          <a:custGeom>
            <a:rect b="b" l="l" r="r" t="t"/>
            <a:pathLst>
              <a:path extrusionOk="0" h="238125" w="238125">
                <a:moveTo>
                  <a:pt x="208359" y="119062"/>
                </a:moveTo>
                <a:cubicBezTo>
                  <a:pt x="208359" y="69778"/>
                  <a:pt x="168347" y="29766"/>
                  <a:pt x="119062" y="29766"/>
                </a:cubicBezTo>
                <a:cubicBezTo>
                  <a:pt x="69778" y="29766"/>
                  <a:pt x="29766" y="69778"/>
                  <a:pt x="29766" y="119062"/>
                </a:cubicBezTo>
                <a:cubicBezTo>
                  <a:pt x="29766" y="168347"/>
                  <a:pt x="69778" y="208359"/>
                  <a:pt x="119062" y="208359"/>
                </a:cubicBezTo>
                <a:cubicBezTo>
                  <a:pt x="168347" y="208359"/>
                  <a:pt x="208359" y="168347"/>
                  <a:pt x="208359" y="119063"/>
                </a:cubicBezTo>
                <a:close/>
                <a:moveTo>
                  <a:pt x="0" y="119062"/>
                </a:moveTo>
                <a:cubicBezTo>
                  <a:pt x="0" y="53350"/>
                  <a:pt x="53350" y="0"/>
                  <a:pt x="119062" y="0"/>
                </a:cubicBezTo>
                <a:cubicBezTo>
                  <a:pt x="184775" y="0"/>
                  <a:pt x="238125" y="53350"/>
                  <a:pt x="238125" y="119062"/>
                </a:cubicBezTo>
                <a:cubicBezTo>
                  <a:pt x="238125" y="184775"/>
                  <a:pt x="184775" y="238125"/>
                  <a:pt x="119062" y="238125"/>
                </a:cubicBezTo>
                <a:cubicBezTo>
                  <a:pt x="53350" y="238125"/>
                  <a:pt x="0" y="184775"/>
                  <a:pt x="0" y="119062"/>
                </a:cubicBezTo>
                <a:close/>
                <a:moveTo>
                  <a:pt x="119062" y="156270"/>
                </a:moveTo>
                <a:cubicBezTo>
                  <a:pt x="139598" y="156270"/>
                  <a:pt x="156270" y="139598"/>
                  <a:pt x="156270" y="119062"/>
                </a:cubicBezTo>
                <a:cubicBezTo>
                  <a:pt x="156270" y="98527"/>
                  <a:pt x="139598" y="81855"/>
                  <a:pt x="119062" y="81855"/>
                </a:cubicBezTo>
                <a:cubicBezTo>
                  <a:pt x="98527" y="81855"/>
                  <a:pt x="81855" y="98527"/>
                  <a:pt x="81855" y="119062"/>
                </a:cubicBezTo>
                <a:cubicBezTo>
                  <a:pt x="81855" y="139598"/>
                  <a:pt x="98527" y="156270"/>
                  <a:pt x="119062" y="156270"/>
                </a:cubicBezTo>
                <a:close/>
                <a:moveTo>
                  <a:pt x="119062" y="52090"/>
                </a:moveTo>
                <a:cubicBezTo>
                  <a:pt x="156026" y="52090"/>
                  <a:pt x="186035" y="82099"/>
                  <a:pt x="186035" y="119062"/>
                </a:cubicBezTo>
                <a:cubicBezTo>
                  <a:pt x="186035" y="156026"/>
                  <a:pt x="156026" y="186035"/>
                  <a:pt x="119062" y="186035"/>
                </a:cubicBezTo>
                <a:cubicBezTo>
                  <a:pt x="82099" y="186035"/>
                  <a:pt x="52090" y="156026"/>
                  <a:pt x="52090" y="119062"/>
                </a:cubicBezTo>
                <a:cubicBezTo>
                  <a:pt x="52090" y="82099"/>
                  <a:pt x="82099" y="52090"/>
                  <a:pt x="119062" y="52090"/>
                </a:cubicBezTo>
                <a:close/>
                <a:moveTo>
                  <a:pt x="104180" y="119062"/>
                </a:moveTo>
                <a:cubicBezTo>
                  <a:pt x="104180" y="110848"/>
                  <a:pt x="110848" y="104180"/>
                  <a:pt x="119062" y="104180"/>
                </a:cubicBezTo>
                <a:cubicBezTo>
                  <a:pt x="127277" y="104180"/>
                  <a:pt x="133945" y="110848"/>
                  <a:pt x="133945" y="119062"/>
                </a:cubicBezTo>
                <a:cubicBezTo>
                  <a:pt x="133945" y="127277"/>
                  <a:pt x="127277" y="133945"/>
                  <a:pt x="119062" y="133945"/>
                </a:cubicBezTo>
                <a:cubicBezTo>
                  <a:pt x="110848" y="133945"/>
                  <a:pt x="104180" y="127277"/>
                  <a:pt x="104180" y="119062"/>
                </a:cubicBezTo>
                <a:close/>
              </a:path>
            </a:pathLst>
          </a:custGeom>
          <a:solidFill>
            <a:srgbClr val="8B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1"/>
          <p:cNvSpPr/>
          <p:nvPr/>
        </p:nvSpPr>
        <p:spPr>
          <a:xfrm>
            <a:off x="420688" y="1293813"/>
            <a:ext cx="2000250" cy="1905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0" i="0" lang="en-US" sz="1000" u="none" cap="none" strike="noStrike">
                <a:solidFill>
                  <a:srgbClr val="6B7280"/>
                </a:solidFill>
                <a:latin typeface="Sorts Mill Goudy"/>
                <a:ea typeface="Sorts Mill Goudy"/>
                <a:cs typeface="Sorts Mill Goudy"/>
                <a:sym typeface="Sorts Mill Goudy"/>
              </a:rPr>
              <a:t>Accuracy</a:t>
            </a:r>
            <a:endParaRPr b="0" i="0" sz="1600" u="none" cap="none" strike="noStrike"/>
          </a:p>
        </p:txBody>
      </p:sp>
      <p:sp>
        <p:nvSpPr>
          <p:cNvPr id="344" name="Google Shape;344;p11"/>
          <p:cNvSpPr/>
          <p:nvPr/>
        </p:nvSpPr>
        <p:spPr>
          <a:xfrm>
            <a:off x="404813" y="1516063"/>
            <a:ext cx="2032000" cy="25400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None/>
            </a:pPr>
            <a:r>
              <a:rPr b="1" i="0" lang="en-US" sz="1500" u="none" cap="none" strike="noStrike">
                <a:solidFill>
                  <a:srgbClr val="1F2937"/>
                </a:solidFill>
                <a:latin typeface="Sorts Mill Goudy"/>
                <a:ea typeface="Sorts Mill Goudy"/>
                <a:cs typeface="Sorts Mill Goudy"/>
                <a:sym typeface="Sorts Mill Goudy"/>
              </a:rPr>
              <a:t>Overall</a:t>
            </a:r>
            <a:endParaRPr b="0" i="0" sz="1600" u="none" cap="none" strike="noStrike"/>
          </a:p>
        </p:txBody>
      </p:sp>
      <p:sp>
        <p:nvSpPr>
          <p:cNvPr id="345" name="Google Shape;345;p11"/>
          <p:cNvSpPr/>
          <p:nvPr/>
        </p:nvSpPr>
        <p:spPr>
          <a:xfrm>
            <a:off x="2658256" y="861219"/>
            <a:ext cx="2198688" cy="1039812"/>
          </a:xfrm>
          <a:custGeom>
            <a:rect b="b" l="l" r="r" t="t"/>
            <a:pathLst>
              <a:path extrusionOk="0" h="1039812" w="2198688">
                <a:moveTo>
                  <a:pt x="0" y="0"/>
                </a:moveTo>
                <a:lnTo>
                  <a:pt x="2198688" y="0"/>
                </a:lnTo>
                <a:lnTo>
                  <a:pt x="2198688" y="1039812"/>
                </a:lnTo>
                <a:lnTo>
                  <a:pt x="0" y="1039812"/>
                </a:lnTo>
                <a:lnTo>
                  <a:pt x="0" y="0"/>
                </a:lnTo>
                <a:close/>
              </a:path>
            </a:pathLst>
          </a:custGeom>
          <a:solidFill>
            <a:srgbClr val="F9FAFB"/>
          </a:solidFill>
          <a:ln cap="flat" cmpd="sng" w="12700">
            <a:solidFill>
              <a:srgbClr val="E5E7EB"/>
            </a:solidFill>
            <a:prstDash val="solid"/>
            <a:round/>
            <a:headEnd len="sm" w="sm" type="none"/>
            <a:tailEnd len="sm" w="sm" type="none"/>
          </a:ln>
        </p:spPr>
      </p:sp>
      <p:sp>
        <p:nvSpPr>
          <p:cNvPr id="346" name="Google Shape;346;p11"/>
          <p:cNvSpPr/>
          <p:nvPr/>
        </p:nvSpPr>
        <p:spPr>
          <a:xfrm>
            <a:off x="3627189" y="992188"/>
            <a:ext cx="267891" cy="238125"/>
          </a:xfrm>
          <a:custGeom>
            <a:rect b="b" l="l" r="r" t="t"/>
            <a:pathLst>
              <a:path extrusionOk="0" h="238125" w="267891">
                <a:moveTo>
                  <a:pt x="133945" y="-7441"/>
                </a:moveTo>
                <a:cubicBezTo>
                  <a:pt x="142177" y="-7441"/>
                  <a:pt x="148828" y="-791"/>
                  <a:pt x="148828" y="7441"/>
                </a:cubicBezTo>
                <a:lnTo>
                  <a:pt x="148828" y="15953"/>
                </a:lnTo>
                <a:cubicBezTo>
                  <a:pt x="194453" y="22464"/>
                  <a:pt x="230544" y="58555"/>
                  <a:pt x="237055" y="104180"/>
                </a:cubicBezTo>
                <a:lnTo>
                  <a:pt x="245566" y="104180"/>
                </a:lnTo>
                <a:cubicBezTo>
                  <a:pt x="253798" y="104180"/>
                  <a:pt x="260449" y="110830"/>
                  <a:pt x="260449" y="119062"/>
                </a:cubicBezTo>
                <a:cubicBezTo>
                  <a:pt x="260449" y="127295"/>
                  <a:pt x="253798" y="133945"/>
                  <a:pt x="245566" y="133945"/>
                </a:cubicBezTo>
                <a:lnTo>
                  <a:pt x="237055" y="133945"/>
                </a:lnTo>
                <a:cubicBezTo>
                  <a:pt x="230544" y="179570"/>
                  <a:pt x="194453" y="215661"/>
                  <a:pt x="148828" y="222172"/>
                </a:cubicBezTo>
                <a:lnTo>
                  <a:pt x="148828" y="230684"/>
                </a:lnTo>
                <a:cubicBezTo>
                  <a:pt x="148828" y="238916"/>
                  <a:pt x="142177" y="245566"/>
                  <a:pt x="133945" y="245566"/>
                </a:cubicBezTo>
                <a:cubicBezTo>
                  <a:pt x="125713" y="245566"/>
                  <a:pt x="119062" y="238916"/>
                  <a:pt x="119062" y="230684"/>
                </a:cubicBezTo>
                <a:lnTo>
                  <a:pt x="119062" y="222172"/>
                </a:lnTo>
                <a:cubicBezTo>
                  <a:pt x="73437" y="215661"/>
                  <a:pt x="37347" y="179570"/>
                  <a:pt x="30835" y="133945"/>
                </a:cubicBezTo>
                <a:lnTo>
                  <a:pt x="22324" y="133945"/>
                </a:lnTo>
                <a:cubicBezTo>
                  <a:pt x="14092" y="133945"/>
                  <a:pt x="7441" y="127295"/>
                  <a:pt x="7441" y="119062"/>
                </a:cubicBezTo>
                <a:cubicBezTo>
                  <a:pt x="7441" y="110830"/>
                  <a:pt x="14092" y="104180"/>
                  <a:pt x="22324" y="104180"/>
                </a:cubicBezTo>
                <a:lnTo>
                  <a:pt x="30835" y="104180"/>
                </a:lnTo>
                <a:cubicBezTo>
                  <a:pt x="37347" y="58555"/>
                  <a:pt x="73437" y="22464"/>
                  <a:pt x="119062" y="15953"/>
                </a:cubicBezTo>
                <a:lnTo>
                  <a:pt x="119062" y="7441"/>
                </a:lnTo>
                <a:cubicBezTo>
                  <a:pt x="119062" y="-791"/>
                  <a:pt x="125713" y="-7441"/>
                  <a:pt x="133945" y="-7441"/>
                </a:cubicBezTo>
                <a:close/>
                <a:moveTo>
                  <a:pt x="61020" y="133945"/>
                </a:moveTo>
                <a:cubicBezTo>
                  <a:pt x="66926" y="163106"/>
                  <a:pt x="89901" y="186082"/>
                  <a:pt x="119062" y="191988"/>
                </a:cubicBezTo>
                <a:lnTo>
                  <a:pt x="119062" y="186035"/>
                </a:lnTo>
                <a:cubicBezTo>
                  <a:pt x="119062" y="177803"/>
                  <a:pt x="125713" y="171152"/>
                  <a:pt x="133945" y="171152"/>
                </a:cubicBezTo>
                <a:cubicBezTo>
                  <a:pt x="142177" y="171152"/>
                  <a:pt x="148828" y="177803"/>
                  <a:pt x="148828" y="186035"/>
                </a:cubicBezTo>
                <a:lnTo>
                  <a:pt x="148828" y="191988"/>
                </a:lnTo>
                <a:cubicBezTo>
                  <a:pt x="177989" y="186082"/>
                  <a:pt x="200964" y="163106"/>
                  <a:pt x="206871" y="133945"/>
                </a:cubicBezTo>
                <a:lnTo>
                  <a:pt x="200918" y="133945"/>
                </a:lnTo>
                <a:cubicBezTo>
                  <a:pt x="192686" y="133945"/>
                  <a:pt x="186035" y="127295"/>
                  <a:pt x="186035" y="119062"/>
                </a:cubicBezTo>
                <a:cubicBezTo>
                  <a:pt x="186035" y="110830"/>
                  <a:pt x="192686" y="104180"/>
                  <a:pt x="200918" y="104180"/>
                </a:cubicBezTo>
                <a:lnTo>
                  <a:pt x="206871" y="104180"/>
                </a:lnTo>
                <a:cubicBezTo>
                  <a:pt x="200964" y="75019"/>
                  <a:pt x="177989" y="52043"/>
                  <a:pt x="148828" y="46137"/>
                </a:cubicBezTo>
                <a:lnTo>
                  <a:pt x="148828" y="52090"/>
                </a:lnTo>
                <a:cubicBezTo>
                  <a:pt x="148828" y="60322"/>
                  <a:pt x="142177" y="66973"/>
                  <a:pt x="133945" y="66973"/>
                </a:cubicBezTo>
                <a:cubicBezTo>
                  <a:pt x="125713" y="66973"/>
                  <a:pt x="119062" y="60322"/>
                  <a:pt x="119062" y="52090"/>
                </a:cubicBezTo>
                <a:lnTo>
                  <a:pt x="119062" y="46137"/>
                </a:lnTo>
                <a:cubicBezTo>
                  <a:pt x="89901" y="52043"/>
                  <a:pt x="66926" y="75019"/>
                  <a:pt x="61020" y="104180"/>
                </a:cubicBezTo>
                <a:lnTo>
                  <a:pt x="66973" y="104180"/>
                </a:lnTo>
                <a:cubicBezTo>
                  <a:pt x="75205" y="104180"/>
                  <a:pt x="81855" y="110830"/>
                  <a:pt x="81855" y="119062"/>
                </a:cubicBezTo>
                <a:cubicBezTo>
                  <a:pt x="81855" y="127295"/>
                  <a:pt x="75205" y="133945"/>
                  <a:pt x="66973" y="133945"/>
                </a:cubicBezTo>
                <a:lnTo>
                  <a:pt x="61020" y="133945"/>
                </a:lnTo>
                <a:close/>
                <a:moveTo>
                  <a:pt x="133945" y="96738"/>
                </a:moveTo>
                <a:cubicBezTo>
                  <a:pt x="146266" y="96738"/>
                  <a:pt x="156270" y="106741"/>
                  <a:pt x="156270" y="119062"/>
                </a:cubicBezTo>
                <a:cubicBezTo>
                  <a:pt x="156270" y="131384"/>
                  <a:pt x="146266" y="141387"/>
                  <a:pt x="133945" y="141387"/>
                </a:cubicBezTo>
                <a:cubicBezTo>
                  <a:pt x="121624" y="141387"/>
                  <a:pt x="111621" y="131384"/>
                  <a:pt x="111621" y="119062"/>
                </a:cubicBezTo>
                <a:cubicBezTo>
                  <a:pt x="111621" y="106741"/>
                  <a:pt x="121624" y="96738"/>
                  <a:pt x="133945" y="96738"/>
                </a:cubicBezTo>
                <a:close/>
              </a:path>
            </a:pathLst>
          </a:custGeom>
          <a:solidFill>
            <a:srgbClr val="8B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1"/>
          <p:cNvSpPr/>
          <p:nvPr/>
        </p:nvSpPr>
        <p:spPr>
          <a:xfrm>
            <a:off x="2757475" y="1293813"/>
            <a:ext cx="2000250" cy="1905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0" i="0" lang="en-US" sz="1000" u="none" cap="none" strike="noStrike">
                <a:solidFill>
                  <a:srgbClr val="6B7280"/>
                </a:solidFill>
                <a:latin typeface="Sorts Mill Goudy"/>
                <a:ea typeface="Sorts Mill Goudy"/>
                <a:cs typeface="Sorts Mill Goudy"/>
                <a:sym typeface="Sorts Mill Goudy"/>
              </a:rPr>
              <a:t>Precision</a:t>
            </a:r>
            <a:endParaRPr b="0" i="0" sz="1600" u="none" cap="none" strike="noStrike"/>
          </a:p>
        </p:txBody>
      </p:sp>
      <p:sp>
        <p:nvSpPr>
          <p:cNvPr id="348" name="Google Shape;348;p11"/>
          <p:cNvSpPr/>
          <p:nvPr/>
        </p:nvSpPr>
        <p:spPr>
          <a:xfrm>
            <a:off x="2741600" y="1516063"/>
            <a:ext cx="2032000" cy="25400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None/>
            </a:pPr>
            <a:r>
              <a:rPr b="1" i="0" lang="en-US" sz="1500" u="none" cap="none" strike="noStrike">
                <a:solidFill>
                  <a:srgbClr val="1F2937"/>
                </a:solidFill>
                <a:latin typeface="Sorts Mill Goudy"/>
                <a:ea typeface="Sorts Mill Goudy"/>
                <a:cs typeface="Sorts Mill Goudy"/>
                <a:sym typeface="Sorts Mill Goudy"/>
              </a:rPr>
              <a:t>Exactness</a:t>
            </a:r>
            <a:endParaRPr b="0" i="0" sz="1600" u="none" cap="none" strike="noStrike"/>
          </a:p>
        </p:txBody>
      </p:sp>
      <p:sp>
        <p:nvSpPr>
          <p:cNvPr id="349" name="Google Shape;349;p11"/>
          <p:cNvSpPr/>
          <p:nvPr/>
        </p:nvSpPr>
        <p:spPr>
          <a:xfrm>
            <a:off x="4995044" y="861219"/>
            <a:ext cx="2198688" cy="1039812"/>
          </a:xfrm>
          <a:custGeom>
            <a:rect b="b" l="l" r="r" t="t"/>
            <a:pathLst>
              <a:path extrusionOk="0" h="1039812" w="2198688">
                <a:moveTo>
                  <a:pt x="0" y="0"/>
                </a:moveTo>
                <a:lnTo>
                  <a:pt x="2198688" y="0"/>
                </a:lnTo>
                <a:lnTo>
                  <a:pt x="2198688" y="1039812"/>
                </a:lnTo>
                <a:lnTo>
                  <a:pt x="0" y="1039812"/>
                </a:lnTo>
                <a:lnTo>
                  <a:pt x="0" y="0"/>
                </a:lnTo>
                <a:close/>
              </a:path>
            </a:pathLst>
          </a:custGeom>
          <a:solidFill>
            <a:srgbClr val="F9FAFB"/>
          </a:solidFill>
          <a:ln cap="flat" cmpd="sng" w="12700">
            <a:solidFill>
              <a:srgbClr val="E5E7EB"/>
            </a:solidFill>
            <a:prstDash val="solid"/>
            <a:round/>
            <a:headEnd len="sm" w="sm" type="none"/>
            <a:tailEnd len="sm" w="sm" type="none"/>
          </a:ln>
        </p:spPr>
      </p:sp>
      <p:sp>
        <p:nvSpPr>
          <p:cNvPr id="350" name="Google Shape;350;p11"/>
          <p:cNvSpPr/>
          <p:nvPr/>
        </p:nvSpPr>
        <p:spPr>
          <a:xfrm>
            <a:off x="5978860" y="992188"/>
            <a:ext cx="238125" cy="238125"/>
          </a:xfrm>
          <a:custGeom>
            <a:rect b="b" l="l" r="r" t="t"/>
            <a:pathLst>
              <a:path extrusionOk="0" h="238125" w="238125">
                <a:moveTo>
                  <a:pt x="193477" y="96738"/>
                </a:moveTo>
                <a:cubicBezTo>
                  <a:pt x="193477" y="118086"/>
                  <a:pt x="186547" y="137806"/>
                  <a:pt x="174873" y="153805"/>
                </a:cubicBezTo>
                <a:lnTo>
                  <a:pt x="233753" y="212731"/>
                </a:lnTo>
                <a:cubicBezTo>
                  <a:pt x="239567" y="218545"/>
                  <a:pt x="239567" y="227986"/>
                  <a:pt x="233753" y="233800"/>
                </a:cubicBezTo>
                <a:cubicBezTo>
                  <a:pt x="227940" y="239613"/>
                  <a:pt x="218498" y="239613"/>
                  <a:pt x="212685" y="233800"/>
                </a:cubicBezTo>
                <a:lnTo>
                  <a:pt x="153805" y="174873"/>
                </a:lnTo>
                <a:cubicBezTo>
                  <a:pt x="137806" y="186547"/>
                  <a:pt x="118086" y="193477"/>
                  <a:pt x="96738" y="193477"/>
                </a:cubicBezTo>
                <a:cubicBezTo>
                  <a:pt x="43300" y="193477"/>
                  <a:pt x="0" y="150177"/>
                  <a:pt x="0" y="96738"/>
                </a:cubicBezTo>
                <a:cubicBezTo>
                  <a:pt x="0" y="43300"/>
                  <a:pt x="43300" y="0"/>
                  <a:pt x="96738" y="0"/>
                </a:cubicBezTo>
                <a:cubicBezTo>
                  <a:pt x="150177" y="0"/>
                  <a:pt x="193477" y="43300"/>
                  <a:pt x="193477" y="96738"/>
                </a:cubicBezTo>
                <a:close/>
                <a:moveTo>
                  <a:pt x="96738" y="163711"/>
                </a:moveTo>
                <a:cubicBezTo>
                  <a:pt x="133701" y="163711"/>
                  <a:pt x="163711" y="133701"/>
                  <a:pt x="163711" y="96738"/>
                </a:cubicBezTo>
                <a:cubicBezTo>
                  <a:pt x="163711" y="59775"/>
                  <a:pt x="133701" y="29766"/>
                  <a:pt x="96738" y="29766"/>
                </a:cubicBezTo>
                <a:cubicBezTo>
                  <a:pt x="59775" y="29766"/>
                  <a:pt x="29766" y="59775"/>
                  <a:pt x="29766" y="96738"/>
                </a:cubicBezTo>
                <a:cubicBezTo>
                  <a:pt x="29766" y="133701"/>
                  <a:pt x="59775" y="163711"/>
                  <a:pt x="96738" y="163711"/>
                </a:cubicBezTo>
                <a:close/>
              </a:path>
            </a:pathLst>
          </a:custGeom>
          <a:solidFill>
            <a:srgbClr val="8B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1"/>
          <p:cNvSpPr/>
          <p:nvPr/>
        </p:nvSpPr>
        <p:spPr>
          <a:xfrm>
            <a:off x="5094263" y="1293813"/>
            <a:ext cx="2000250" cy="1905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0" i="0" lang="en-US" sz="1000" u="none" cap="none" strike="noStrike">
                <a:solidFill>
                  <a:srgbClr val="6B7280"/>
                </a:solidFill>
                <a:latin typeface="Sorts Mill Goudy"/>
                <a:ea typeface="Sorts Mill Goudy"/>
                <a:cs typeface="Sorts Mill Goudy"/>
                <a:sym typeface="Sorts Mill Goudy"/>
              </a:rPr>
              <a:t>Recall</a:t>
            </a:r>
            <a:endParaRPr b="0" i="0" sz="1600" u="none" cap="none" strike="noStrike"/>
          </a:p>
        </p:txBody>
      </p:sp>
      <p:sp>
        <p:nvSpPr>
          <p:cNvPr id="352" name="Google Shape;352;p11"/>
          <p:cNvSpPr/>
          <p:nvPr/>
        </p:nvSpPr>
        <p:spPr>
          <a:xfrm>
            <a:off x="5078388" y="1516063"/>
            <a:ext cx="2032000" cy="25400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None/>
            </a:pPr>
            <a:r>
              <a:rPr b="1" i="0" lang="en-US" sz="1500" u="none" cap="none" strike="noStrike">
                <a:solidFill>
                  <a:srgbClr val="1F2937"/>
                </a:solidFill>
                <a:latin typeface="Sorts Mill Goudy"/>
                <a:ea typeface="Sorts Mill Goudy"/>
                <a:cs typeface="Sorts Mill Goudy"/>
                <a:sym typeface="Sorts Mill Goudy"/>
              </a:rPr>
              <a:t>Coverage</a:t>
            </a:r>
            <a:endParaRPr b="0" i="0" sz="1600" u="none" cap="none" strike="noStrike"/>
          </a:p>
        </p:txBody>
      </p:sp>
      <p:sp>
        <p:nvSpPr>
          <p:cNvPr id="353" name="Google Shape;353;p11"/>
          <p:cNvSpPr/>
          <p:nvPr/>
        </p:nvSpPr>
        <p:spPr>
          <a:xfrm>
            <a:off x="7331832" y="861219"/>
            <a:ext cx="2198688" cy="1039812"/>
          </a:xfrm>
          <a:custGeom>
            <a:rect b="b" l="l" r="r" t="t"/>
            <a:pathLst>
              <a:path extrusionOk="0" h="1039812" w="2198688">
                <a:moveTo>
                  <a:pt x="0" y="0"/>
                </a:moveTo>
                <a:lnTo>
                  <a:pt x="2198688" y="0"/>
                </a:lnTo>
                <a:lnTo>
                  <a:pt x="2198688" y="1039812"/>
                </a:lnTo>
                <a:lnTo>
                  <a:pt x="0" y="1039812"/>
                </a:lnTo>
                <a:lnTo>
                  <a:pt x="0" y="0"/>
                </a:lnTo>
                <a:close/>
              </a:path>
            </a:pathLst>
          </a:custGeom>
          <a:solidFill>
            <a:srgbClr val="F9FAFB"/>
          </a:solidFill>
          <a:ln cap="flat" cmpd="sng" w="12700">
            <a:solidFill>
              <a:srgbClr val="E5E7EB"/>
            </a:solidFill>
            <a:prstDash val="solid"/>
            <a:round/>
            <a:headEnd len="sm" w="sm" type="none"/>
            <a:tailEnd len="sm" w="sm" type="none"/>
          </a:ln>
        </p:spPr>
      </p:sp>
      <p:sp>
        <p:nvSpPr>
          <p:cNvPr id="354" name="Google Shape;354;p11"/>
          <p:cNvSpPr/>
          <p:nvPr/>
        </p:nvSpPr>
        <p:spPr>
          <a:xfrm>
            <a:off x="8285882" y="992188"/>
            <a:ext cx="297656" cy="238125"/>
          </a:xfrm>
          <a:custGeom>
            <a:rect b="b" l="l" r="r" t="t"/>
            <a:pathLst>
              <a:path extrusionOk="0" h="238125" w="297656">
                <a:moveTo>
                  <a:pt x="178594" y="14883"/>
                </a:moveTo>
                <a:lnTo>
                  <a:pt x="238125" y="14883"/>
                </a:lnTo>
                <a:cubicBezTo>
                  <a:pt x="246357" y="14883"/>
                  <a:pt x="253008" y="21534"/>
                  <a:pt x="253008" y="29766"/>
                </a:cubicBezTo>
                <a:cubicBezTo>
                  <a:pt x="253008" y="37998"/>
                  <a:pt x="246357" y="44648"/>
                  <a:pt x="238125" y="44648"/>
                </a:cubicBezTo>
                <a:lnTo>
                  <a:pt x="185291" y="44648"/>
                </a:lnTo>
                <a:cubicBezTo>
                  <a:pt x="182873" y="56648"/>
                  <a:pt x="174641" y="66554"/>
                  <a:pt x="163711" y="71298"/>
                </a:cubicBezTo>
                <a:lnTo>
                  <a:pt x="163711" y="208359"/>
                </a:lnTo>
                <a:lnTo>
                  <a:pt x="238125" y="208359"/>
                </a:lnTo>
                <a:cubicBezTo>
                  <a:pt x="246357" y="208359"/>
                  <a:pt x="253008" y="215010"/>
                  <a:pt x="253008" y="223242"/>
                </a:cubicBezTo>
                <a:cubicBezTo>
                  <a:pt x="253008" y="231474"/>
                  <a:pt x="246357" y="238125"/>
                  <a:pt x="238125" y="238125"/>
                </a:cubicBezTo>
                <a:lnTo>
                  <a:pt x="59531" y="238125"/>
                </a:lnTo>
                <a:cubicBezTo>
                  <a:pt x="51299" y="238125"/>
                  <a:pt x="44648" y="231474"/>
                  <a:pt x="44648" y="223242"/>
                </a:cubicBezTo>
                <a:cubicBezTo>
                  <a:pt x="44648" y="215010"/>
                  <a:pt x="51299" y="208359"/>
                  <a:pt x="59531" y="208359"/>
                </a:cubicBezTo>
                <a:lnTo>
                  <a:pt x="133945" y="208359"/>
                </a:lnTo>
                <a:lnTo>
                  <a:pt x="133945" y="71298"/>
                </a:lnTo>
                <a:cubicBezTo>
                  <a:pt x="123016" y="66508"/>
                  <a:pt x="114784" y="56601"/>
                  <a:pt x="112365" y="44648"/>
                </a:cubicBezTo>
                <a:lnTo>
                  <a:pt x="59531" y="44648"/>
                </a:lnTo>
                <a:cubicBezTo>
                  <a:pt x="51299" y="44648"/>
                  <a:pt x="44648" y="37998"/>
                  <a:pt x="44648" y="29766"/>
                </a:cubicBezTo>
                <a:cubicBezTo>
                  <a:pt x="44648" y="21534"/>
                  <a:pt x="51299" y="14883"/>
                  <a:pt x="59531" y="14883"/>
                </a:cubicBezTo>
                <a:lnTo>
                  <a:pt x="119062" y="14883"/>
                </a:lnTo>
                <a:cubicBezTo>
                  <a:pt x="125853" y="5860"/>
                  <a:pt x="136643" y="0"/>
                  <a:pt x="148828" y="0"/>
                </a:cubicBezTo>
                <a:cubicBezTo>
                  <a:pt x="161013" y="0"/>
                  <a:pt x="171803" y="5860"/>
                  <a:pt x="178594" y="14883"/>
                </a:cubicBezTo>
                <a:close/>
                <a:moveTo>
                  <a:pt x="204453" y="148828"/>
                </a:moveTo>
                <a:lnTo>
                  <a:pt x="271797" y="148828"/>
                </a:lnTo>
                <a:lnTo>
                  <a:pt x="238125" y="91064"/>
                </a:lnTo>
                <a:lnTo>
                  <a:pt x="204453" y="148828"/>
                </a:lnTo>
                <a:close/>
                <a:moveTo>
                  <a:pt x="238125" y="193477"/>
                </a:moveTo>
                <a:cubicBezTo>
                  <a:pt x="208871" y="193477"/>
                  <a:pt x="184547" y="177664"/>
                  <a:pt x="179524" y="156781"/>
                </a:cubicBezTo>
                <a:cubicBezTo>
                  <a:pt x="178315" y="151665"/>
                  <a:pt x="179989" y="146410"/>
                  <a:pt x="182640" y="141852"/>
                </a:cubicBezTo>
                <a:lnTo>
                  <a:pt x="226916" y="65949"/>
                </a:lnTo>
                <a:cubicBezTo>
                  <a:pt x="229242" y="61950"/>
                  <a:pt x="233521" y="59531"/>
                  <a:pt x="238125" y="59531"/>
                </a:cubicBezTo>
                <a:cubicBezTo>
                  <a:pt x="242729" y="59531"/>
                  <a:pt x="247008" y="61996"/>
                  <a:pt x="249334" y="65949"/>
                </a:cubicBezTo>
                <a:lnTo>
                  <a:pt x="293610" y="141852"/>
                </a:lnTo>
                <a:cubicBezTo>
                  <a:pt x="296261" y="146410"/>
                  <a:pt x="297935" y="151665"/>
                  <a:pt x="296726" y="156781"/>
                </a:cubicBezTo>
                <a:cubicBezTo>
                  <a:pt x="291703" y="177617"/>
                  <a:pt x="267379" y="193477"/>
                  <a:pt x="238125" y="193477"/>
                </a:cubicBezTo>
                <a:close/>
                <a:moveTo>
                  <a:pt x="58973" y="91064"/>
                </a:moveTo>
                <a:lnTo>
                  <a:pt x="25301" y="148828"/>
                </a:lnTo>
                <a:lnTo>
                  <a:pt x="92692" y="148828"/>
                </a:lnTo>
                <a:lnTo>
                  <a:pt x="58973" y="91064"/>
                </a:lnTo>
                <a:close/>
                <a:moveTo>
                  <a:pt x="419" y="156781"/>
                </a:moveTo>
                <a:cubicBezTo>
                  <a:pt x="-791" y="151665"/>
                  <a:pt x="884" y="146410"/>
                  <a:pt x="3535" y="141852"/>
                </a:cubicBezTo>
                <a:lnTo>
                  <a:pt x="47811" y="65949"/>
                </a:lnTo>
                <a:cubicBezTo>
                  <a:pt x="50136" y="61950"/>
                  <a:pt x="54415" y="59531"/>
                  <a:pt x="59020" y="59531"/>
                </a:cubicBezTo>
                <a:cubicBezTo>
                  <a:pt x="63624" y="59531"/>
                  <a:pt x="67903" y="61996"/>
                  <a:pt x="70228" y="65949"/>
                </a:cubicBezTo>
                <a:lnTo>
                  <a:pt x="114505" y="141852"/>
                </a:lnTo>
                <a:cubicBezTo>
                  <a:pt x="117156" y="146410"/>
                  <a:pt x="118830" y="151665"/>
                  <a:pt x="117621" y="156781"/>
                </a:cubicBezTo>
                <a:cubicBezTo>
                  <a:pt x="112598" y="177617"/>
                  <a:pt x="88274" y="193477"/>
                  <a:pt x="59020" y="193477"/>
                </a:cubicBezTo>
                <a:cubicBezTo>
                  <a:pt x="29766" y="193477"/>
                  <a:pt x="5442" y="177664"/>
                  <a:pt x="419" y="156781"/>
                </a:cubicBezTo>
                <a:close/>
              </a:path>
            </a:pathLst>
          </a:custGeom>
          <a:solidFill>
            <a:srgbClr val="8B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1"/>
          <p:cNvSpPr/>
          <p:nvPr/>
        </p:nvSpPr>
        <p:spPr>
          <a:xfrm>
            <a:off x="7431050" y="1293813"/>
            <a:ext cx="2000250" cy="1905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0" i="0" lang="en-US" sz="1000" u="none" cap="none" strike="noStrike">
                <a:solidFill>
                  <a:srgbClr val="6B7280"/>
                </a:solidFill>
                <a:latin typeface="Sorts Mill Goudy"/>
                <a:ea typeface="Sorts Mill Goudy"/>
                <a:cs typeface="Sorts Mill Goudy"/>
                <a:sym typeface="Sorts Mill Goudy"/>
              </a:rPr>
              <a:t>F1-Score</a:t>
            </a:r>
            <a:endParaRPr b="0" i="0" sz="1600" u="none" cap="none" strike="noStrike"/>
          </a:p>
        </p:txBody>
      </p:sp>
      <p:sp>
        <p:nvSpPr>
          <p:cNvPr id="356" name="Google Shape;356;p11"/>
          <p:cNvSpPr/>
          <p:nvPr/>
        </p:nvSpPr>
        <p:spPr>
          <a:xfrm>
            <a:off x="7415175" y="1516063"/>
            <a:ext cx="2032000" cy="25400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None/>
            </a:pPr>
            <a:r>
              <a:rPr b="1" i="0" lang="en-US" sz="1500" u="none" cap="none" strike="noStrike">
                <a:solidFill>
                  <a:srgbClr val="1F2937"/>
                </a:solidFill>
                <a:latin typeface="Sorts Mill Goudy"/>
                <a:ea typeface="Sorts Mill Goudy"/>
                <a:cs typeface="Sorts Mill Goudy"/>
                <a:sym typeface="Sorts Mill Goudy"/>
              </a:rPr>
              <a:t>Harmonic</a:t>
            </a:r>
            <a:endParaRPr b="0" i="0" sz="1600" u="none" cap="none" strike="noStrike"/>
          </a:p>
        </p:txBody>
      </p:sp>
      <p:sp>
        <p:nvSpPr>
          <p:cNvPr id="357" name="Google Shape;357;p11"/>
          <p:cNvSpPr/>
          <p:nvPr/>
        </p:nvSpPr>
        <p:spPr>
          <a:xfrm>
            <a:off x="9668619" y="861219"/>
            <a:ext cx="2198688" cy="1039812"/>
          </a:xfrm>
          <a:custGeom>
            <a:rect b="b" l="l" r="r" t="t"/>
            <a:pathLst>
              <a:path extrusionOk="0" h="1039812" w="2198688">
                <a:moveTo>
                  <a:pt x="0" y="0"/>
                </a:moveTo>
                <a:lnTo>
                  <a:pt x="2198688" y="0"/>
                </a:lnTo>
                <a:lnTo>
                  <a:pt x="2198688" y="1039812"/>
                </a:lnTo>
                <a:lnTo>
                  <a:pt x="0" y="1039812"/>
                </a:lnTo>
                <a:lnTo>
                  <a:pt x="0" y="0"/>
                </a:lnTo>
                <a:close/>
              </a:path>
            </a:pathLst>
          </a:custGeom>
          <a:solidFill>
            <a:srgbClr val="F9FAFB"/>
          </a:solidFill>
          <a:ln cap="flat" cmpd="sng" w="12700">
            <a:solidFill>
              <a:srgbClr val="E5E7EB"/>
            </a:solidFill>
            <a:prstDash val="solid"/>
            <a:round/>
            <a:headEnd len="sm" w="sm" type="none"/>
            <a:tailEnd len="sm" w="sm" type="none"/>
          </a:ln>
        </p:spPr>
      </p:sp>
      <p:sp>
        <p:nvSpPr>
          <p:cNvPr id="358" name="Google Shape;358;p11"/>
          <p:cNvSpPr/>
          <p:nvPr/>
        </p:nvSpPr>
        <p:spPr>
          <a:xfrm>
            <a:off x="10652435" y="992188"/>
            <a:ext cx="238125" cy="238125"/>
          </a:xfrm>
          <a:custGeom>
            <a:rect b="b" l="l" r="r" t="t"/>
            <a:pathLst>
              <a:path extrusionOk="0" h="238125" w="238125">
                <a:moveTo>
                  <a:pt x="14883" y="14883"/>
                </a:moveTo>
                <a:cubicBezTo>
                  <a:pt x="23115" y="14883"/>
                  <a:pt x="29766" y="21534"/>
                  <a:pt x="29766" y="29766"/>
                </a:cubicBezTo>
                <a:lnTo>
                  <a:pt x="29766" y="186035"/>
                </a:lnTo>
                <a:cubicBezTo>
                  <a:pt x="29766" y="190128"/>
                  <a:pt x="33114" y="193477"/>
                  <a:pt x="37207" y="193477"/>
                </a:cubicBezTo>
                <a:lnTo>
                  <a:pt x="223242" y="193477"/>
                </a:lnTo>
                <a:cubicBezTo>
                  <a:pt x="231474" y="193477"/>
                  <a:pt x="238125" y="200127"/>
                  <a:pt x="238125" y="208359"/>
                </a:cubicBezTo>
                <a:cubicBezTo>
                  <a:pt x="238125" y="216591"/>
                  <a:pt x="231474" y="223242"/>
                  <a:pt x="223242" y="223242"/>
                </a:cubicBezTo>
                <a:lnTo>
                  <a:pt x="37207" y="223242"/>
                </a:lnTo>
                <a:cubicBezTo>
                  <a:pt x="16650" y="223242"/>
                  <a:pt x="0" y="206592"/>
                  <a:pt x="0" y="186035"/>
                </a:cubicBezTo>
                <a:lnTo>
                  <a:pt x="0" y="29766"/>
                </a:lnTo>
                <a:cubicBezTo>
                  <a:pt x="0" y="21534"/>
                  <a:pt x="6651" y="14883"/>
                  <a:pt x="14883" y="14883"/>
                </a:cubicBezTo>
                <a:close/>
                <a:moveTo>
                  <a:pt x="111621" y="44648"/>
                </a:moveTo>
                <a:cubicBezTo>
                  <a:pt x="114737" y="44648"/>
                  <a:pt x="117714" y="45951"/>
                  <a:pt x="119853" y="48276"/>
                </a:cubicBezTo>
                <a:lnTo>
                  <a:pt x="152921" y="84320"/>
                </a:lnTo>
                <a:lnTo>
                  <a:pt x="174408" y="62787"/>
                </a:lnTo>
                <a:cubicBezTo>
                  <a:pt x="178780" y="58415"/>
                  <a:pt x="185849" y="58415"/>
                  <a:pt x="190174" y="62787"/>
                </a:cubicBezTo>
                <a:lnTo>
                  <a:pt x="219940" y="92552"/>
                </a:lnTo>
                <a:cubicBezTo>
                  <a:pt x="222033" y="94645"/>
                  <a:pt x="223196" y="97482"/>
                  <a:pt x="223196" y="100459"/>
                </a:cubicBezTo>
                <a:lnTo>
                  <a:pt x="223196" y="152549"/>
                </a:lnTo>
                <a:cubicBezTo>
                  <a:pt x="223196" y="158734"/>
                  <a:pt x="218219" y="163711"/>
                  <a:pt x="212034" y="163711"/>
                </a:cubicBezTo>
                <a:lnTo>
                  <a:pt x="70647" y="163711"/>
                </a:lnTo>
                <a:cubicBezTo>
                  <a:pt x="64461" y="163711"/>
                  <a:pt x="59485" y="158734"/>
                  <a:pt x="59485" y="152549"/>
                </a:cubicBezTo>
                <a:lnTo>
                  <a:pt x="59485" y="100459"/>
                </a:lnTo>
                <a:cubicBezTo>
                  <a:pt x="59485" y="97668"/>
                  <a:pt x="60554" y="94971"/>
                  <a:pt x="62415" y="92925"/>
                </a:cubicBezTo>
                <a:lnTo>
                  <a:pt x="103343" y="48276"/>
                </a:lnTo>
                <a:cubicBezTo>
                  <a:pt x="105435" y="45951"/>
                  <a:pt x="108458" y="44648"/>
                  <a:pt x="111575" y="44648"/>
                </a:cubicBezTo>
                <a:close/>
              </a:path>
            </a:pathLst>
          </a:custGeom>
          <a:solidFill>
            <a:srgbClr val="8B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1"/>
          <p:cNvSpPr/>
          <p:nvPr/>
        </p:nvSpPr>
        <p:spPr>
          <a:xfrm>
            <a:off x="9767838" y="1293813"/>
            <a:ext cx="2000250" cy="1905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0" i="0" lang="en-US" sz="1000" u="none" cap="none" strike="noStrike">
                <a:solidFill>
                  <a:srgbClr val="6B7280"/>
                </a:solidFill>
                <a:latin typeface="Sorts Mill Goudy"/>
                <a:ea typeface="Sorts Mill Goudy"/>
                <a:cs typeface="Sorts Mill Goudy"/>
                <a:sym typeface="Sorts Mill Goudy"/>
              </a:rPr>
              <a:t>AUC-ROC</a:t>
            </a:r>
            <a:endParaRPr b="0" i="0" sz="1600" u="none" cap="none" strike="noStrike"/>
          </a:p>
        </p:txBody>
      </p:sp>
      <p:sp>
        <p:nvSpPr>
          <p:cNvPr id="360" name="Google Shape;360;p11"/>
          <p:cNvSpPr/>
          <p:nvPr/>
        </p:nvSpPr>
        <p:spPr>
          <a:xfrm>
            <a:off x="9751963" y="1516063"/>
            <a:ext cx="2032000" cy="25400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None/>
            </a:pPr>
            <a:r>
              <a:rPr b="1" i="0" lang="en-US" sz="1500" u="none" cap="none" strike="noStrike">
                <a:solidFill>
                  <a:srgbClr val="1F2937"/>
                </a:solidFill>
                <a:latin typeface="Sorts Mill Goudy"/>
                <a:ea typeface="Sorts Mill Goudy"/>
                <a:cs typeface="Sorts Mill Goudy"/>
                <a:sym typeface="Sorts Mill Goudy"/>
              </a:rPr>
              <a:t>Threshold</a:t>
            </a:r>
            <a:endParaRPr b="0" i="0" sz="1600" u="none" cap="none" strike="noStrike"/>
          </a:p>
        </p:txBody>
      </p:sp>
      <p:sp>
        <p:nvSpPr>
          <p:cNvPr id="361" name="Google Shape;361;p11"/>
          <p:cNvSpPr/>
          <p:nvPr/>
        </p:nvSpPr>
        <p:spPr>
          <a:xfrm>
            <a:off x="365125" y="2063750"/>
            <a:ext cx="142875" cy="190500"/>
          </a:xfrm>
          <a:custGeom>
            <a:rect b="b" l="l" r="r" t="t"/>
            <a:pathLst>
              <a:path extrusionOk="0" h="190500" w="142875">
                <a:moveTo>
                  <a:pt x="115863" y="11906"/>
                </a:moveTo>
                <a:lnTo>
                  <a:pt x="119063" y="11906"/>
                </a:lnTo>
                <a:cubicBezTo>
                  <a:pt x="132197" y="11906"/>
                  <a:pt x="142875" y="22585"/>
                  <a:pt x="142875" y="35719"/>
                </a:cubicBezTo>
                <a:lnTo>
                  <a:pt x="142875" y="166688"/>
                </a:lnTo>
                <a:cubicBezTo>
                  <a:pt x="142875" y="179822"/>
                  <a:pt x="132197" y="190500"/>
                  <a:pt x="119063" y="190500"/>
                </a:cubicBezTo>
                <a:lnTo>
                  <a:pt x="23812" y="190500"/>
                </a:lnTo>
                <a:cubicBezTo>
                  <a:pt x="10678" y="190500"/>
                  <a:pt x="0" y="179822"/>
                  <a:pt x="0" y="166688"/>
                </a:cubicBezTo>
                <a:lnTo>
                  <a:pt x="0" y="35719"/>
                </a:lnTo>
                <a:cubicBezTo>
                  <a:pt x="0" y="22585"/>
                  <a:pt x="10678" y="11906"/>
                  <a:pt x="23812" y="11906"/>
                </a:cubicBezTo>
                <a:lnTo>
                  <a:pt x="27012" y="11906"/>
                </a:lnTo>
                <a:cubicBezTo>
                  <a:pt x="31105" y="4800"/>
                  <a:pt x="38807" y="0"/>
                  <a:pt x="47625" y="0"/>
                </a:cubicBezTo>
                <a:lnTo>
                  <a:pt x="95250" y="0"/>
                </a:lnTo>
                <a:cubicBezTo>
                  <a:pt x="104068" y="0"/>
                  <a:pt x="111770" y="4800"/>
                  <a:pt x="115863" y="11906"/>
                </a:cubicBezTo>
                <a:close/>
                <a:moveTo>
                  <a:pt x="92273" y="41672"/>
                </a:moveTo>
                <a:cubicBezTo>
                  <a:pt x="97222" y="41672"/>
                  <a:pt x="101203" y="37691"/>
                  <a:pt x="101203" y="32742"/>
                </a:cubicBezTo>
                <a:cubicBezTo>
                  <a:pt x="101203" y="27794"/>
                  <a:pt x="97222" y="23812"/>
                  <a:pt x="92273" y="23812"/>
                </a:cubicBezTo>
                <a:lnTo>
                  <a:pt x="50602" y="23812"/>
                </a:lnTo>
                <a:cubicBezTo>
                  <a:pt x="45653" y="23812"/>
                  <a:pt x="41672" y="27794"/>
                  <a:pt x="41672" y="32742"/>
                </a:cubicBezTo>
                <a:cubicBezTo>
                  <a:pt x="41672" y="37691"/>
                  <a:pt x="45653" y="41672"/>
                  <a:pt x="50602" y="41672"/>
                </a:cubicBezTo>
                <a:lnTo>
                  <a:pt x="92273" y="41672"/>
                </a:lnTo>
                <a:close/>
                <a:moveTo>
                  <a:pt x="102840" y="96999"/>
                </a:moveTo>
                <a:cubicBezTo>
                  <a:pt x="105445" y="92832"/>
                  <a:pt x="104180" y="87325"/>
                  <a:pt x="100012" y="84683"/>
                </a:cubicBezTo>
                <a:cubicBezTo>
                  <a:pt x="95845" y="82042"/>
                  <a:pt x="90339" y="83344"/>
                  <a:pt x="87697" y="87511"/>
                </a:cubicBezTo>
                <a:lnTo>
                  <a:pt x="64852" y="124085"/>
                </a:lnTo>
                <a:lnTo>
                  <a:pt x="54806" y="110691"/>
                </a:lnTo>
                <a:cubicBezTo>
                  <a:pt x="51829" y="106747"/>
                  <a:pt x="46248" y="105928"/>
                  <a:pt x="42304" y="108905"/>
                </a:cubicBezTo>
                <a:cubicBezTo>
                  <a:pt x="38360" y="111882"/>
                  <a:pt x="37542" y="117463"/>
                  <a:pt x="40518" y="121407"/>
                </a:cubicBezTo>
                <a:lnTo>
                  <a:pt x="58378" y="145219"/>
                </a:lnTo>
                <a:cubicBezTo>
                  <a:pt x="60127" y="147563"/>
                  <a:pt x="62954" y="148903"/>
                  <a:pt x="65894" y="148791"/>
                </a:cubicBezTo>
                <a:cubicBezTo>
                  <a:pt x="68833" y="148679"/>
                  <a:pt x="71512" y="147117"/>
                  <a:pt x="73075" y="144587"/>
                </a:cubicBezTo>
                <a:lnTo>
                  <a:pt x="102840" y="96962"/>
                </a:lnTo>
                <a:close/>
              </a:path>
            </a:pathLst>
          </a:custGeom>
          <a:solidFill>
            <a:srgbClr val="8B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1"/>
          <p:cNvSpPr/>
          <p:nvPr/>
        </p:nvSpPr>
        <p:spPr>
          <a:xfrm>
            <a:off x="555625" y="2032000"/>
            <a:ext cx="5540375" cy="2540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i="0" lang="en-US" sz="1500" u="none" cap="none" strike="noStrike">
                <a:solidFill>
                  <a:srgbClr val="8B0000"/>
                </a:solidFill>
                <a:latin typeface="Sorts Mill Goudy"/>
                <a:ea typeface="Sorts Mill Goudy"/>
                <a:cs typeface="Sorts Mill Goudy"/>
                <a:sym typeface="Sorts Mill Goudy"/>
              </a:rPr>
              <a:t>Evaluation Metrics</a:t>
            </a:r>
            <a:endParaRPr b="0" i="0" sz="1600" u="none" cap="none" strike="noStrike"/>
          </a:p>
        </p:txBody>
      </p:sp>
      <p:sp>
        <p:nvSpPr>
          <p:cNvPr id="363" name="Google Shape;363;p11"/>
          <p:cNvSpPr/>
          <p:nvPr/>
        </p:nvSpPr>
        <p:spPr>
          <a:xfrm>
            <a:off x="333375" y="2381250"/>
            <a:ext cx="5667375" cy="571500"/>
          </a:xfrm>
          <a:custGeom>
            <a:rect b="b" l="l" r="r" t="t"/>
            <a:pathLst>
              <a:path extrusionOk="0" h="571500" w="5667375">
                <a:moveTo>
                  <a:pt x="0" y="0"/>
                </a:moveTo>
                <a:lnTo>
                  <a:pt x="5667375" y="0"/>
                </a:lnTo>
                <a:lnTo>
                  <a:pt x="5667375" y="571500"/>
                </a:lnTo>
                <a:lnTo>
                  <a:pt x="0" y="571500"/>
                </a:lnTo>
                <a:lnTo>
                  <a:pt x="0" y="0"/>
                </a:lnTo>
                <a:close/>
              </a:path>
            </a:pathLst>
          </a:custGeom>
          <a:solidFill>
            <a:srgbClr val="F9FAFB"/>
          </a:solidFill>
          <a:ln>
            <a:noFill/>
          </a:ln>
        </p:spPr>
      </p:sp>
      <p:sp>
        <p:nvSpPr>
          <p:cNvPr id="364" name="Google Shape;364;p11"/>
          <p:cNvSpPr/>
          <p:nvPr/>
        </p:nvSpPr>
        <p:spPr>
          <a:xfrm>
            <a:off x="333375" y="2381250"/>
            <a:ext cx="31750" cy="571500"/>
          </a:xfrm>
          <a:custGeom>
            <a:rect b="b" l="l" r="r" t="t"/>
            <a:pathLst>
              <a:path extrusionOk="0" h="571500" w="31750">
                <a:moveTo>
                  <a:pt x="0" y="0"/>
                </a:moveTo>
                <a:lnTo>
                  <a:pt x="31750" y="0"/>
                </a:lnTo>
                <a:lnTo>
                  <a:pt x="31750" y="571500"/>
                </a:lnTo>
                <a:lnTo>
                  <a:pt x="0" y="571500"/>
                </a:lnTo>
                <a:lnTo>
                  <a:pt x="0" y="0"/>
                </a:lnTo>
                <a:close/>
              </a:path>
            </a:pathLst>
          </a:custGeom>
          <a:solidFill>
            <a:srgbClr val="8B0000"/>
          </a:solidFill>
          <a:ln>
            <a:noFill/>
          </a:ln>
        </p:spPr>
      </p:sp>
      <p:sp>
        <p:nvSpPr>
          <p:cNvPr id="365" name="Google Shape;365;p11"/>
          <p:cNvSpPr/>
          <p:nvPr/>
        </p:nvSpPr>
        <p:spPr>
          <a:xfrm>
            <a:off x="476250" y="2444750"/>
            <a:ext cx="650875" cy="22225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i="0" lang="en-US" sz="1125" u="none" cap="none" strike="noStrike">
                <a:solidFill>
                  <a:srgbClr val="1F2937"/>
                </a:solidFill>
                <a:latin typeface="Sorts Mill Goudy"/>
                <a:ea typeface="Sorts Mill Goudy"/>
                <a:cs typeface="Sorts Mill Goudy"/>
                <a:sym typeface="Sorts Mill Goudy"/>
              </a:rPr>
              <a:t>Accuracy</a:t>
            </a:r>
            <a:endParaRPr b="0" i="0" sz="1600" u="none" cap="none" strike="noStrike"/>
          </a:p>
        </p:txBody>
      </p:sp>
      <p:sp>
        <p:nvSpPr>
          <p:cNvPr id="366" name="Google Shape;366;p11"/>
          <p:cNvSpPr/>
          <p:nvPr/>
        </p:nvSpPr>
        <p:spPr>
          <a:xfrm>
            <a:off x="5078264" y="2476500"/>
            <a:ext cx="976312" cy="15875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875" u="none" cap="none" strike="noStrike">
                <a:solidFill>
                  <a:srgbClr val="6B7280"/>
                </a:solidFill>
                <a:latin typeface="Sorts Mill Goudy"/>
                <a:ea typeface="Sorts Mill Goudy"/>
                <a:cs typeface="Sorts Mill Goudy"/>
                <a:sym typeface="Sorts Mill Goudy"/>
              </a:rPr>
              <a:t>Overall correctness</a:t>
            </a:r>
            <a:endParaRPr b="0" i="0" sz="1600" u="none" cap="none" strike="noStrike"/>
          </a:p>
        </p:txBody>
      </p:sp>
      <p:sp>
        <p:nvSpPr>
          <p:cNvPr id="367" name="Google Shape;367;p11"/>
          <p:cNvSpPr/>
          <p:nvPr/>
        </p:nvSpPr>
        <p:spPr>
          <a:xfrm>
            <a:off x="476250" y="2698750"/>
            <a:ext cx="5588000" cy="1905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0" i="0" lang="en-US" sz="1000" u="none" cap="none" strike="noStrike">
                <a:solidFill>
                  <a:srgbClr val="1F2937"/>
                </a:solidFill>
                <a:latin typeface="Sorts Mill Goudy"/>
                <a:ea typeface="Sorts Mill Goudy"/>
                <a:cs typeface="Sorts Mill Goudy"/>
                <a:sym typeface="Sorts Mill Goudy"/>
              </a:rPr>
              <a:t>Proportion of correctly classified URLs (both legitimate and phishing)</a:t>
            </a:r>
            <a:endParaRPr b="0" i="0" sz="1600" u="none" cap="none" strike="noStrike"/>
          </a:p>
        </p:txBody>
      </p:sp>
      <p:sp>
        <p:nvSpPr>
          <p:cNvPr id="368" name="Google Shape;368;p11"/>
          <p:cNvSpPr/>
          <p:nvPr/>
        </p:nvSpPr>
        <p:spPr>
          <a:xfrm>
            <a:off x="333375" y="3016250"/>
            <a:ext cx="5667375" cy="571500"/>
          </a:xfrm>
          <a:custGeom>
            <a:rect b="b" l="l" r="r" t="t"/>
            <a:pathLst>
              <a:path extrusionOk="0" h="571500" w="5667375">
                <a:moveTo>
                  <a:pt x="0" y="0"/>
                </a:moveTo>
                <a:lnTo>
                  <a:pt x="5667375" y="0"/>
                </a:lnTo>
                <a:lnTo>
                  <a:pt x="5667375" y="571500"/>
                </a:lnTo>
                <a:lnTo>
                  <a:pt x="0" y="571500"/>
                </a:lnTo>
                <a:lnTo>
                  <a:pt x="0" y="0"/>
                </a:lnTo>
                <a:close/>
              </a:path>
            </a:pathLst>
          </a:custGeom>
          <a:solidFill>
            <a:srgbClr val="F9FAFB"/>
          </a:solidFill>
          <a:ln>
            <a:noFill/>
          </a:ln>
        </p:spPr>
      </p:sp>
      <p:sp>
        <p:nvSpPr>
          <p:cNvPr id="369" name="Google Shape;369;p11"/>
          <p:cNvSpPr/>
          <p:nvPr/>
        </p:nvSpPr>
        <p:spPr>
          <a:xfrm>
            <a:off x="333375" y="3016250"/>
            <a:ext cx="31750" cy="571500"/>
          </a:xfrm>
          <a:custGeom>
            <a:rect b="b" l="l" r="r" t="t"/>
            <a:pathLst>
              <a:path extrusionOk="0" h="571500" w="31750">
                <a:moveTo>
                  <a:pt x="0" y="0"/>
                </a:moveTo>
                <a:lnTo>
                  <a:pt x="31750" y="0"/>
                </a:lnTo>
                <a:lnTo>
                  <a:pt x="31750" y="571500"/>
                </a:lnTo>
                <a:lnTo>
                  <a:pt x="0" y="571500"/>
                </a:lnTo>
                <a:lnTo>
                  <a:pt x="0" y="0"/>
                </a:lnTo>
                <a:close/>
              </a:path>
            </a:pathLst>
          </a:custGeom>
          <a:solidFill>
            <a:srgbClr val="8B0000"/>
          </a:solidFill>
          <a:ln>
            <a:noFill/>
          </a:ln>
        </p:spPr>
      </p:sp>
      <p:sp>
        <p:nvSpPr>
          <p:cNvPr id="370" name="Google Shape;370;p11"/>
          <p:cNvSpPr/>
          <p:nvPr/>
        </p:nvSpPr>
        <p:spPr>
          <a:xfrm>
            <a:off x="476250" y="3079750"/>
            <a:ext cx="635000" cy="22225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i="0" lang="en-US" sz="1125" u="none" cap="none" strike="noStrike">
                <a:solidFill>
                  <a:srgbClr val="1F2937"/>
                </a:solidFill>
                <a:latin typeface="Sorts Mill Goudy"/>
                <a:ea typeface="Sorts Mill Goudy"/>
                <a:cs typeface="Sorts Mill Goudy"/>
                <a:sym typeface="Sorts Mill Goudy"/>
              </a:rPr>
              <a:t>Precision</a:t>
            </a:r>
            <a:endParaRPr b="0" i="0" sz="1600" u="none" cap="none" strike="noStrike"/>
          </a:p>
        </p:txBody>
      </p:sp>
      <p:sp>
        <p:nvSpPr>
          <p:cNvPr id="371" name="Google Shape;371;p11"/>
          <p:cNvSpPr/>
          <p:nvPr/>
        </p:nvSpPr>
        <p:spPr>
          <a:xfrm>
            <a:off x="5108711" y="3111500"/>
            <a:ext cx="944563" cy="15875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875" u="none" cap="none" strike="noStrike">
                <a:solidFill>
                  <a:srgbClr val="6B7280"/>
                </a:solidFill>
                <a:latin typeface="Sorts Mill Goudy"/>
                <a:ea typeface="Sorts Mill Goudy"/>
                <a:cs typeface="Sorts Mill Goudy"/>
                <a:sym typeface="Sorts Mill Goudy"/>
              </a:rPr>
              <a:t>Exactness measure</a:t>
            </a:r>
            <a:endParaRPr b="0" i="0" sz="1600" u="none" cap="none" strike="noStrike"/>
          </a:p>
        </p:txBody>
      </p:sp>
      <p:sp>
        <p:nvSpPr>
          <p:cNvPr id="372" name="Google Shape;372;p11"/>
          <p:cNvSpPr/>
          <p:nvPr/>
        </p:nvSpPr>
        <p:spPr>
          <a:xfrm>
            <a:off x="476250" y="3333750"/>
            <a:ext cx="5588000" cy="1905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0" i="0" lang="en-US" sz="1000" u="none" cap="none" strike="noStrike">
                <a:solidFill>
                  <a:srgbClr val="1F2937"/>
                </a:solidFill>
                <a:latin typeface="Sorts Mill Goudy"/>
                <a:ea typeface="Sorts Mill Goudy"/>
                <a:cs typeface="Sorts Mill Goudy"/>
                <a:sym typeface="Sorts Mill Goudy"/>
              </a:rPr>
              <a:t>Ratio of true positives to total predicted positives</a:t>
            </a:r>
            <a:endParaRPr b="0" i="0" sz="1600" u="none" cap="none" strike="noStrike"/>
          </a:p>
        </p:txBody>
      </p:sp>
      <p:sp>
        <p:nvSpPr>
          <p:cNvPr id="373" name="Google Shape;373;p11"/>
          <p:cNvSpPr/>
          <p:nvPr/>
        </p:nvSpPr>
        <p:spPr>
          <a:xfrm>
            <a:off x="333375" y="3651250"/>
            <a:ext cx="5667375" cy="571500"/>
          </a:xfrm>
          <a:custGeom>
            <a:rect b="b" l="l" r="r" t="t"/>
            <a:pathLst>
              <a:path extrusionOk="0" h="571500" w="5667375">
                <a:moveTo>
                  <a:pt x="0" y="0"/>
                </a:moveTo>
                <a:lnTo>
                  <a:pt x="5667375" y="0"/>
                </a:lnTo>
                <a:lnTo>
                  <a:pt x="5667375" y="571500"/>
                </a:lnTo>
                <a:lnTo>
                  <a:pt x="0" y="571500"/>
                </a:lnTo>
                <a:lnTo>
                  <a:pt x="0" y="0"/>
                </a:lnTo>
                <a:close/>
              </a:path>
            </a:pathLst>
          </a:custGeom>
          <a:solidFill>
            <a:srgbClr val="F9FAFB"/>
          </a:solidFill>
          <a:ln>
            <a:noFill/>
          </a:ln>
        </p:spPr>
      </p:sp>
      <p:sp>
        <p:nvSpPr>
          <p:cNvPr id="374" name="Google Shape;374;p11"/>
          <p:cNvSpPr/>
          <p:nvPr/>
        </p:nvSpPr>
        <p:spPr>
          <a:xfrm>
            <a:off x="333375" y="3651250"/>
            <a:ext cx="31750" cy="571500"/>
          </a:xfrm>
          <a:custGeom>
            <a:rect b="b" l="l" r="r" t="t"/>
            <a:pathLst>
              <a:path extrusionOk="0" h="571500" w="31750">
                <a:moveTo>
                  <a:pt x="0" y="0"/>
                </a:moveTo>
                <a:lnTo>
                  <a:pt x="31750" y="0"/>
                </a:lnTo>
                <a:lnTo>
                  <a:pt x="31750" y="571500"/>
                </a:lnTo>
                <a:lnTo>
                  <a:pt x="0" y="571500"/>
                </a:lnTo>
                <a:lnTo>
                  <a:pt x="0" y="0"/>
                </a:lnTo>
                <a:close/>
              </a:path>
            </a:pathLst>
          </a:custGeom>
          <a:solidFill>
            <a:srgbClr val="8B0000"/>
          </a:solidFill>
          <a:ln>
            <a:noFill/>
          </a:ln>
        </p:spPr>
      </p:sp>
      <p:sp>
        <p:nvSpPr>
          <p:cNvPr id="375" name="Google Shape;375;p11"/>
          <p:cNvSpPr/>
          <p:nvPr/>
        </p:nvSpPr>
        <p:spPr>
          <a:xfrm>
            <a:off x="476250" y="3714750"/>
            <a:ext cx="452438" cy="22225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i="0" lang="en-US" sz="1125" u="none" cap="none" strike="noStrike">
                <a:solidFill>
                  <a:srgbClr val="1F2937"/>
                </a:solidFill>
                <a:latin typeface="Sorts Mill Goudy"/>
                <a:ea typeface="Sorts Mill Goudy"/>
                <a:cs typeface="Sorts Mill Goudy"/>
                <a:sym typeface="Sorts Mill Goudy"/>
              </a:rPr>
              <a:t>Recall</a:t>
            </a:r>
            <a:endParaRPr b="0" i="0" sz="1600" u="none" cap="none" strike="noStrike"/>
          </a:p>
        </p:txBody>
      </p:sp>
      <p:sp>
        <p:nvSpPr>
          <p:cNvPr id="376" name="Google Shape;376;p11"/>
          <p:cNvSpPr/>
          <p:nvPr/>
        </p:nvSpPr>
        <p:spPr>
          <a:xfrm>
            <a:off x="5508811" y="3714750"/>
            <a:ext cx="492125" cy="222250"/>
          </a:xfrm>
          <a:custGeom>
            <a:rect b="b" l="l" r="r" t="t"/>
            <a:pathLst>
              <a:path extrusionOk="0" h="222250" w="492125">
                <a:moveTo>
                  <a:pt x="0" y="0"/>
                </a:moveTo>
                <a:lnTo>
                  <a:pt x="492125" y="0"/>
                </a:lnTo>
                <a:lnTo>
                  <a:pt x="492125" y="222250"/>
                </a:lnTo>
                <a:lnTo>
                  <a:pt x="0" y="222250"/>
                </a:lnTo>
                <a:lnTo>
                  <a:pt x="0" y="0"/>
                </a:lnTo>
                <a:close/>
              </a:path>
            </a:pathLst>
          </a:custGeom>
          <a:solidFill>
            <a:srgbClr val="8B0000"/>
          </a:solidFill>
          <a:ln>
            <a:noFill/>
          </a:ln>
        </p:spPr>
      </p:sp>
      <p:sp>
        <p:nvSpPr>
          <p:cNvPr id="377" name="Google Shape;377;p11"/>
          <p:cNvSpPr/>
          <p:nvPr/>
        </p:nvSpPr>
        <p:spPr>
          <a:xfrm>
            <a:off x="5508811" y="3714750"/>
            <a:ext cx="547688" cy="222250"/>
          </a:xfrm>
          <a:prstGeom prst="rect">
            <a:avLst/>
          </a:prstGeom>
          <a:noFill/>
          <a:ln>
            <a:noFill/>
          </a:ln>
        </p:spPr>
        <p:txBody>
          <a:bodyPr anchorCtr="0" anchor="ctr" bIns="31750" lIns="63500" spcFirstLastPara="1" rIns="63500" wrap="square" tIns="31750">
            <a:noAutofit/>
          </a:bodyPr>
          <a:lstStyle/>
          <a:p>
            <a:pPr indent="0" lvl="0" marL="0" marR="0" rtl="0" algn="l">
              <a:lnSpc>
                <a:spcPct val="120000"/>
              </a:lnSpc>
              <a:spcBef>
                <a:spcPts val="0"/>
              </a:spcBef>
              <a:spcAft>
                <a:spcPts val="0"/>
              </a:spcAft>
              <a:buNone/>
            </a:pPr>
            <a:r>
              <a:rPr b="0" i="0" lang="en-US" sz="875" u="none" cap="none" strike="noStrike">
                <a:solidFill>
                  <a:srgbClr val="FFFFFF"/>
                </a:solidFill>
                <a:latin typeface="Sorts Mill Goudy"/>
                <a:ea typeface="Sorts Mill Goudy"/>
                <a:cs typeface="Sorts Mill Goudy"/>
                <a:sym typeface="Sorts Mill Goudy"/>
              </a:rPr>
              <a:t>Critical</a:t>
            </a:r>
            <a:endParaRPr b="0" i="0" sz="1600" u="none" cap="none" strike="noStrike"/>
          </a:p>
        </p:txBody>
      </p:sp>
      <p:sp>
        <p:nvSpPr>
          <p:cNvPr id="378" name="Google Shape;378;p11"/>
          <p:cNvSpPr/>
          <p:nvPr/>
        </p:nvSpPr>
        <p:spPr>
          <a:xfrm>
            <a:off x="476250" y="3968750"/>
            <a:ext cx="5588000" cy="1905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0" i="0" lang="en-US" sz="1000" u="none" cap="none" strike="noStrike">
                <a:solidFill>
                  <a:srgbClr val="1F2937"/>
                </a:solidFill>
                <a:latin typeface="Sorts Mill Goudy"/>
                <a:ea typeface="Sorts Mill Goudy"/>
                <a:cs typeface="Sorts Mill Goudy"/>
                <a:sym typeface="Sorts Mill Goudy"/>
              </a:rPr>
              <a:t>Ratio of true positives to actual positives - </a:t>
            </a:r>
            <a:r>
              <a:rPr b="1" i="0" lang="en-US" sz="1000" u="none" cap="none" strike="noStrike">
                <a:solidFill>
                  <a:srgbClr val="1F2937"/>
                </a:solidFill>
                <a:latin typeface="Sorts Mill Goudy"/>
                <a:ea typeface="Sorts Mill Goudy"/>
                <a:cs typeface="Sorts Mill Goudy"/>
                <a:sym typeface="Sorts Mill Goudy"/>
              </a:rPr>
              <a:t>minimize false negatives</a:t>
            </a:r>
            <a:endParaRPr b="0" i="0" sz="1600" u="none" cap="none" strike="noStrike"/>
          </a:p>
        </p:txBody>
      </p:sp>
      <p:sp>
        <p:nvSpPr>
          <p:cNvPr id="379" name="Google Shape;379;p11"/>
          <p:cNvSpPr/>
          <p:nvPr/>
        </p:nvSpPr>
        <p:spPr>
          <a:xfrm>
            <a:off x="333375" y="4286250"/>
            <a:ext cx="5667375" cy="571500"/>
          </a:xfrm>
          <a:custGeom>
            <a:rect b="b" l="l" r="r" t="t"/>
            <a:pathLst>
              <a:path extrusionOk="0" h="571500" w="5667375">
                <a:moveTo>
                  <a:pt x="0" y="0"/>
                </a:moveTo>
                <a:lnTo>
                  <a:pt x="5667375" y="0"/>
                </a:lnTo>
                <a:lnTo>
                  <a:pt x="5667375" y="571500"/>
                </a:lnTo>
                <a:lnTo>
                  <a:pt x="0" y="571500"/>
                </a:lnTo>
                <a:lnTo>
                  <a:pt x="0" y="0"/>
                </a:lnTo>
                <a:close/>
              </a:path>
            </a:pathLst>
          </a:custGeom>
          <a:solidFill>
            <a:srgbClr val="F9FAFB"/>
          </a:solidFill>
          <a:ln>
            <a:noFill/>
          </a:ln>
        </p:spPr>
      </p:sp>
      <p:sp>
        <p:nvSpPr>
          <p:cNvPr id="380" name="Google Shape;380;p11"/>
          <p:cNvSpPr/>
          <p:nvPr/>
        </p:nvSpPr>
        <p:spPr>
          <a:xfrm>
            <a:off x="333375" y="4286250"/>
            <a:ext cx="31750" cy="571500"/>
          </a:xfrm>
          <a:custGeom>
            <a:rect b="b" l="l" r="r" t="t"/>
            <a:pathLst>
              <a:path extrusionOk="0" h="571500" w="31750">
                <a:moveTo>
                  <a:pt x="0" y="0"/>
                </a:moveTo>
                <a:lnTo>
                  <a:pt x="31750" y="0"/>
                </a:lnTo>
                <a:lnTo>
                  <a:pt x="31750" y="571500"/>
                </a:lnTo>
                <a:lnTo>
                  <a:pt x="0" y="571500"/>
                </a:lnTo>
                <a:lnTo>
                  <a:pt x="0" y="0"/>
                </a:lnTo>
                <a:close/>
              </a:path>
            </a:pathLst>
          </a:custGeom>
          <a:solidFill>
            <a:srgbClr val="8B0000"/>
          </a:solidFill>
          <a:ln>
            <a:noFill/>
          </a:ln>
        </p:spPr>
      </p:sp>
      <p:sp>
        <p:nvSpPr>
          <p:cNvPr id="381" name="Google Shape;381;p11"/>
          <p:cNvSpPr/>
          <p:nvPr/>
        </p:nvSpPr>
        <p:spPr>
          <a:xfrm>
            <a:off x="476250" y="4349750"/>
            <a:ext cx="595313" cy="22225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i="0" lang="en-US" sz="1125" u="none" cap="none" strike="noStrike">
                <a:solidFill>
                  <a:srgbClr val="1F2937"/>
                </a:solidFill>
                <a:latin typeface="Sorts Mill Goudy"/>
                <a:ea typeface="Sorts Mill Goudy"/>
                <a:cs typeface="Sorts Mill Goudy"/>
                <a:sym typeface="Sorts Mill Goudy"/>
              </a:rPr>
              <a:t>F1-Score</a:t>
            </a:r>
            <a:endParaRPr b="0" i="0" sz="1600" u="none" cap="none" strike="noStrike"/>
          </a:p>
        </p:txBody>
      </p:sp>
      <p:sp>
        <p:nvSpPr>
          <p:cNvPr id="382" name="Google Shape;382;p11"/>
          <p:cNvSpPr/>
          <p:nvPr/>
        </p:nvSpPr>
        <p:spPr>
          <a:xfrm>
            <a:off x="5147035" y="4381500"/>
            <a:ext cx="912813" cy="15875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875" u="none" cap="none" strike="noStrike">
                <a:solidFill>
                  <a:srgbClr val="6B7280"/>
                </a:solidFill>
                <a:latin typeface="Sorts Mill Goudy"/>
                <a:ea typeface="Sorts Mill Goudy"/>
                <a:cs typeface="Sorts Mill Goudy"/>
                <a:sym typeface="Sorts Mill Goudy"/>
              </a:rPr>
              <a:t>Balanced measure</a:t>
            </a:r>
            <a:endParaRPr b="0" i="0" sz="1600" u="none" cap="none" strike="noStrike"/>
          </a:p>
        </p:txBody>
      </p:sp>
      <p:sp>
        <p:nvSpPr>
          <p:cNvPr id="383" name="Google Shape;383;p11"/>
          <p:cNvSpPr/>
          <p:nvPr/>
        </p:nvSpPr>
        <p:spPr>
          <a:xfrm>
            <a:off x="476250" y="4603750"/>
            <a:ext cx="5588000" cy="1905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0" i="0" lang="en-US" sz="1000" u="none" cap="none" strike="noStrike">
                <a:solidFill>
                  <a:srgbClr val="1F2937"/>
                </a:solidFill>
                <a:latin typeface="Sorts Mill Goudy"/>
                <a:ea typeface="Sorts Mill Goudy"/>
                <a:cs typeface="Sorts Mill Goudy"/>
                <a:sym typeface="Sorts Mill Goudy"/>
              </a:rPr>
              <a:t>Harmonic mean of precision and recall</a:t>
            </a:r>
            <a:endParaRPr b="0" i="0" sz="1600" u="none" cap="none" strike="noStrike"/>
          </a:p>
        </p:txBody>
      </p:sp>
      <p:sp>
        <p:nvSpPr>
          <p:cNvPr id="384" name="Google Shape;384;p11"/>
          <p:cNvSpPr/>
          <p:nvPr/>
        </p:nvSpPr>
        <p:spPr>
          <a:xfrm>
            <a:off x="333375" y="4921250"/>
            <a:ext cx="5667375" cy="571500"/>
          </a:xfrm>
          <a:custGeom>
            <a:rect b="b" l="l" r="r" t="t"/>
            <a:pathLst>
              <a:path extrusionOk="0" h="571500" w="5667375">
                <a:moveTo>
                  <a:pt x="0" y="0"/>
                </a:moveTo>
                <a:lnTo>
                  <a:pt x="5667375" y="0"/>
                </a:lnTo>
                <a:lnTo>
                  <a:pt x="5667375" y="571500"/>
                </a:lnTo>
                <a:lnTo>
                  <a:pt x="0" y="571500"/>
                </a:lnTo>
                <a:lnTo>
                  <a:pt x="0" y="0"/>
                </a:lnTo>
                <a:close/>
              </a:path>
            </a:pathLst>
          </a:custGeom>
          <a:solidFill>
            <a:srgbClr val="F9FAFB"/>
          </a:solidFill>
          <a:ln>
            <a:noFill/>
          </a:ln>
        </p:spPr>
      </p:sp>
      <p:sp>
        <p:nvSpPr>
          <p:cNvPr id="385" name="Google Shape;385;p11"/>
          <p:cNvSpPr/>
          <p:nvPr/>
        </p:nvSpPr>
        <p:spPr>
          <a:xfrm>
            <a:off x="333375" y="4921250"/>
            <a:ext cx="31750" cy="571500"/>
          </a:xfrm>
          <a:custGeom>
            <a:rect b="b" l="l" r="r" t="t"/>
            <a:pathLst>
              <a:path extrusionOk="0" h="571500" w="31750">
                <a:moveTo>
                  <a:pt x="0" y="0"/>
                </a:moveTo>
                <a:lnTo>
                  <a:pt x="31750" y="0"/>
                </a:lnTo>
                <a:lnTo>
                  <a:pt x="31750" y="571500"/>
                </a:lnTo>
                <a:lnTo>
                  <a:pt x="0" y="571500"/>
                </a:lnTo>
                <a:lnTo>
                  <a:pt x="0" y="0"/>
                </a:lnTo>
                <a:close/>
              </a:path>
            </a:pathLst>
          </a:custGeom>
          <a:solidFill>
            <a:srgbClr val="8B0000"/>
          </a:solidFill>
          <a:ln>
            <a:noFill/>
          </a:ln>
        </p:spPr>
      </p:sp>
      <p:sp>
        <p:nvSpPr>
          <p:cNvPr id="386" name="Google Shape;386;p11"/>
          <p:cNvSpPr/>
          <p:nvPr/>
        </p:nvSpPr>
        <p:spPr>
          <a:xfrm>
            <a:off x="476250" y="4984750"/>
            <a:ext cx="809625" cy="22225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i="0" lang="en-US" sz="1125" u="none" cap="none" strike="noStrike">
                <a:solidFill>
                  <a:srgbClr val="1F2937"/>
                </a:solidFill>
                <a:latin typeface="Sorts Mill Goudy"/>
                <a:ea typeface="Sorts Mill Goudy"/>
                <a:cs typeface="Sorts Mill Goudy"/>
                <a:sym typeface="Sorts Mill Goudy"/>
              </a:rPr>
              <a:t>AUC-ROC</a:t>
            </a:r>
            <a:endParaRPr b="0" i="0" sz="1600" u="none" cap="none" strike="noStrike"/>
          </a:p>
        </p:txBody>
      </p:sp>
      <p:sp>
        <p:nvSpPr>
          <p:cNvPr id="387" name="Google Shape;387;p11"/>
          <p:cNvSpPr/>
          <p:nvPr/>
        </p:nvSpPr>
        <p:spPr>
          <a:xfrm>
            <a:off x="5103378" y="5016500"/>
            <a:ext cx="952500" cy="15875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875" u="none" cap="none" strike="noStrike">
                <a:solidFill>
                  <a:srgbClr val="6B7280"/>
                </a:solidFill>
                <a:latin typeface="Sorts Mill Goudy"/>
                <a:ea typeface="Sorts Mill Goudy"/>
                <a:cs typeface="Sorts Mill Goudy"/>
                <a:sym typeface="Sorts Mill Goudy"/>
              </a:rPr>
              <a:t>Threshold analysis</a:t>
            </a:r>
            <a:endParaRPr b="0" i="0" sz="1600" u="none" cap="none" strike="noStrike"/>
          </a:p>
        </p:txBody>
      </p:sp>
      <p:sp>
        <p:nvSpPr>
          <p:cNvPr id="388" name="Google Shape;388;p11"/>
          <p:cNvSpPr/>
          <p:nvPr/>
        </p:nvSpPr>
        <p:spPr>
          <a:xfrm>
            <a:off x="476250" y="5238750"/>
            <a:ext cx="5588000" cy="1905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0" i="0" lang="en-US" sz="1000" u="none" cap="none" strike="noStrike">
                <a:solidFill>
                  <a:srgbClr val="1F2937"/>
                </a:solidFill>
                <a:latin typeface="Sorts Mill Goudy"/>
                <a:ea typeface="Sorts Mill Goudy"/>
                <a:cs typeface="Sorts Mill Goudy"/>
                <a:sym typeface="Sorts Mill Goudy"/>
              </a:rPr>
              <a:t>Area under ROC curve for threshold-independent evaluation</a:t>
            </a:r>
            <a:endParaRPr b="0" i="0" sz="1600" u="none" cap="none" strike="noStrike"/>
          </a:p>
        </p:txBody>
      </p:sp>
      <p:sp>
        <p:nvSpPr>
          <p:cNvPr id="389" name="Google Shape;389;p11"/>
          <p:cNvSpPr/>
          <p:nvPr/>
        </p:nvSpPr>
        <p:spPr>
          <a:xfrm>
            <a:off x="6215063" y="2063750"/>
            <a:ext cx="190500" cy="190500"/>
          </a:xfrm>
          <a:custGeom>
            <a:rect b="b" l="l" r="r" t="t"/>
            <a:pathLst>
              <a:path extrusionOk="0" h="190500" w="190500">
                <a:moveTo>
                  <a:pt x="53690" y="0"/>
                </a:moveTo>
                <a:lnTo>
                  <a:pt x="137033" y="0"/>
                </a:lnTo>
                <a:cubicBezTo>
                  <a:pt x="146893" y="0"/>
                  <a:pt x="154930" y="8111"/>
                  <a:pt x="154558" y="17934"/>
                </a:cubicBezTo>
                <a:cubicBezTo>
                  <a:pt x="154484" y="19906"/>
                  <a:pt x="154409" y="21878"/>
                  <a:pt x="154298" y="23812"/>
                </a:cubicBezTo>
                <a:lnTo>
                  <a:pt x="172752" y="23812"/>
                </a:lnTo>
                <a:cubicBezTo>
                  <a:pt x="182463" y="23812"/>
                  <a:pt x="191021" y="31849"/>
                  <a:pt x="190277" y="42342"/>
                </a:cubicBezTo>
                <a:cubicBezTo>
                  <a:pt x="187486" y="80925"/>
                  <a:pt x="167767" y="102133"/>
                  <a:pt x="146372" y="113221"/>
                </a:cubicBezTo>
                <a:cubicBezTo>
                  <a:pt x="140494" y="116272"/>
                  <a:pt x="134503" y="118542"/>
                  <a:pt x="128811" y="120216"/>
                </a:cubicBezTo>
                <a:cubicBezTo>
                  <a:pt x="121295" y="130857"/>
                  <a:pt x="113481" y="136475"/>
                  <a:pt x="107268" y="139489"/>
                </a:cubicBezTo>
                <a:lnTo>
                  <a:pt x="107268" y="166688"/>
                </a:lnTo>
                <a:lnTo>
                  <a:pt x="131080" y="166688"/>
                </a:lnTo>
                <a:cubicBezTo>
                  <a:pt x="137666" y="166688"/>
                  <a:pt x="142987" y="172008"/>
                  <a:pt x="142987" y="178594"/>
                </a:cubicBezTo>
                <a:cubicBezTo>
                  <a:pt x="142987" y="185179"/>
                  <a:pt x="137666" y="190500"/>
                  <a:pt x="131080" y="190500"/>
                </a:cubicBezTo>
                <a:lnTo>
                  <a:pt x="59643" y="190500"/>
                </a:lnTo>
                <a:cubicBezTo>
                  <a:pt x="53057" y="190500"/>
                  <a:pt x="47737" y="185179"/>
                  <a:pt x="47737" y="178594"/>
                </a:cubicBezTo>
                <a:cubicBezTo>
                  <a:pt x="47737" y="172008"/>
                  <a:pt x="53057" y="166688"/>
                  <a:pt x="59643" y="166688"/>
                </a:cubicBezTo>
                <a:lnTo>
                  <a:pt x="83455" y="166688"/>
                </a:lnTo>
                <a:lnTo>
                  <a:pt x="83455" y="139489"/>
                </a:lnTo>
                <a:cubicBezTo>
                  <a:pt x="77502" y="136624"/>
                  <a:pt x="70098" y="131304"/>
                  <a:pt x="62880" y="121518"/>
                </a:cubicBezTo>
                <a:cubicBezTo>
                  <a:pt x="56034" y="119732"/>
                  <a:pt x="48592" y="117016"/>
                  <a:pt x="41337" y="112923"/>
                </a:cubicBezTo>
                <a:cubicBezTo>
                  <a:pt x="21208" y="101650"/>
                  <a:pt x="3051" y="80404"/>
                  <a:pt x="446" y="42267"/>
                </a:cubicBezTo>
                <a:cubicBezTo>
                  <a:pt x="-260" y="31812"/>
                  <a:pt x="8260" y="23775"/>
                  <a:pt x="17971" y="23775"/>
                </a:cubicBezTo>
                <a:lnTo>
                  <a:pt x="36426" y="23775"/>
                </a:lnTo>
                <a:cubicBezTo>
                  <a:pt x="36314" y="21841"/>
                  <a:pt x="36240" y="19906"/>
                  <a:pt x="36165" y="17897"/>
                </a:cubicBezTo>
                <a:cubicBezTo>
                  <a:pt x="35793" y="8037"/>
                  <a:pt x="43830" y="-37"/>
                  <a:pt x="53690" y="-37"/>
                </a:cubicBezTo>
                <a:close/>
                <a:moveTo>
                  <a:pt x="37765" y="41672"/>
                </a:moveTo>
                <a:lnTo>
                  <a:pt x="18269" y="41672"/>
                </a:lnTo>
                <a:cubicBezTo>
                  <a:pt x="20575" y="73186"/>
                  <a:pt x="35049" y="88962"/>
                  <a:pt x="49969" y="97334"/>
                </a:cubicBezTo>
                <a:cubicBezTo>
                  <a:pt x="44611" y="83455"/>
                  <a:pt x="40184" y="65336"/>
                  <a:pt x="37765" y="41672"/>
                </a:cubicBezTo>
                <a:close/>
                <a:moveTo>
                  <a:pt x="141387" y="95548"/>
                </a:moveTo>
                <a:cubicBezTo>
                  <a:pt x="156456" y="86692"/>
                  <a:pt x="170073" y="70954"/>
                  <a:pt x="172380" y="41672"/>
                </a:cubicBezTo>
                <a:lnTo>
                  <a:pt x="152921" y="41672"/>
                </a:lnTo>
                <a:cubicBezTo>
                  <a:pt x="150614" y="64331"/>
                  <a:pt x="146447" y="81930"/>
                  <a:pt x="141387" y="95548"/>
                </a:cubicBezTo>
                <a:close/>
              </a:path>
            </a:pathLst>
          </a:custGeom>
          <a:solidFill>
            <a:srgbClr val="8B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1"/>
          <p:cNvSpPr/>
          <p:nvPr/>
        </p:nvSpPr>
        <p:spPr>
          <a:xfrm>
            <a:off x="6429375" y="2032000"/>
            <a:ext cx="5540375" cy="2540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i="0" lang="en-US" sz="1500" u="none" cap="none" strike="noStrike">
                <a:solidFill>
                  <a:srgbClr val="8B0000"/>
                </a:solidFill>
                <a:latin typeface="Sorts Mill Goudy"/>
                <a:ea typeface="Sorts Mill Goudy"/>
                <a:cs typeface="Sorts Mill Goudy"/>
                <a:sym typeface="Sorts Mill Goudy"/>
              </a:rPr>
              <a:t>Expected Outcome</a:t>
            </a:r>
            <a:endParaRPr b="0" i="0" sz="1600" u="none" cap="none" strike="noStrike"/>
          </a:p>
        </p:txBody>
      </p:sp>
      <p:sp>
        <p:nvSpPr>
          <p:cNvPr id="391" name="Google Shape;391;p11"/>
          <p:cNvSpPr/>
          <p:nvPr/>
        </p:nvSpPr>
        <p:spPr>
          <a:xfrm>
            <a:off x="6191250" y="2381250"/>
            <a:ext cx="5683250" cy="1516063"/>
          </a:xfrm>
          <a:custGeom>
            <a:rect b="b" l="l" r="r" t="t"/>
            <a:pathLst>
              <a:path extrusionOk="0" h="1516063" w="5683250">
                <a:moveTo>
                  <a:pt x="0" y="0"/>
                </a:moveTo>
                <a:lnTo>
                  <a:pt x="5683250" y="0"/>
                </a:lnTo>
                <a:lnTo>
                  <a:pt x="5683250" y="1516063"/>
                </a:lnTo>
                <a:lnTo>
                  <a:pt x="0" y="1516063"/>
                </a:lnTo>
                <a:lnTo>
                  <a:pt x="0" y="0"/>
                </a:lnTo>
                <a:close/>
              </a:path>
            </a:pathLst>
          </a:custGeom>
          <a:solidFill>
            <a:srgbClr val="8B0000"/>
          </a:solidFill>
          <a:ln>
            <a:noFill/>
          </a:ln>
        </p:spPr>
      </p:sp>
      <p:sp>
        <p:nvSpPr>
          <p:cNvPr id="392" name="Google Shape;392;p11"/>
          <p:cNvSpPr/>
          <p:nvPr/>
        </p:nvSpPr>
        <p:spPr>
          <a:xfrm>
            <a:off x="6373813" y="2651125"/>
            <a:ext cx="428625" cy="381000"/>
          </a:xfrm>
          <a:custGeom>
            <a:rect b="b" l="l" r="r" t="t"/>
            <a:pathLst>
              <a:path extrusionOk="0" h="381000" w="428625">
                <a:moveTo>
                  <a:pt x="230312" y="-14064"/>
                </a:moveTo>
                <a:cubicBezTo>
                  <a:pt x="227261" y="-20017"/>
                  <a:pt x="221084" y="-23812"/>
                  <a:pt x="214387" y="-23812"/>
                </a:cubicBezTo>
                <a:cubicBezTo>
                  <a:pt x="207690" y="-23812"/>
                  <a:pt x="201513" y="-20017"/>
                  <a:pt x="198462" y="-14064"/>
                </a:cubicBezTo>
                <a:lnTo>
                  <a:pt x="143694" y="93241"/>
                </a:lnTo>
                <a:lnTo>
                  <a:pt x="24705" y="112142"/>
                </a:lnTo>
                <a:cubicBezTo>
                  <a:pt x="18083" y="113184"/>
                  <a:pt x="12576" y="117872"/>
                  <a:pt x="10492" y="124271"/>
                </a:cubicBezTo>
                <a:cubicBezTo>
                  <a:pt x="8409" y="130671"/>
                  <a:pt x="10120" y="137666"/>
                  <a:pt x="14808" y="142429"/>
                </a:cubicBezTo>
                <a:lnTo>
                  <a:pt x="99938" y="227633"/>
                </a:lnTo>
                <a:lnTo>
                  <a:pt x="81186" y="346621"/>
                </a:lnTo>
                <a:cubicBezTo>
                  <a:pt x="80144" y="353244"/>
                  <a:pt x="82897" y="359941"/>
                  <a:pt x="88329" y="363885"/>
                </a:cubicBezTo>
                <a:cubicBezTo>
                  <a:pt x="93762" y="367829"/>
                  <a:pt x="100905" y="368424"/>
                  <a:pt x="106933" y="365373"/>
                </a:cubicBezTo>
                <a:lnTo>
                  <a:pt x="214387" y="310753"/>
                </a:lnTo>
                <a:lnTo>
                  <a:pt x="321766" y="365373"/>
                </a:lnTo>
                <a:cubicBezTo>
                  <a:pt x="327720" y="368424"/>
                  <a:pt x="334938" y="367829"/>
                  <a:pt x="340370" y="363885"/>
                </a:cubicBezTo>
                <a:cubicBezTo>
                  <a:pt x="345802" y="359941"/>
                  <a:pt x="348555" y="353318"/>
                  <a:pt x="347514" y="346621"/>
                </a:cubicBezTo>
                <a:lnTo>
                  <a:pt x="328687" y="227633"/>
                </a:lnTo>
                <a:lnTo>
                  <a:pt x="413817" y="142429"/>
                </a:lnTo>
                <a:cubicBezTo>
                  <a:pt x="418579" y="137666"/>
                  <a:pt x="420216" y="130671"/>
                  <a:pt x="418133" y="124271"/>
                </a:cubicBezTo>
                <a:cubicBezTo>
                  <a:pt x="416049" y="117872"/>
                  <a:pt x="410617" y="113184"/>
                  <a:pt x="403920" y="112142"/>
                </a:cubicBezTo>
                <a:lnTo>
                  <a:pt x="285006" y="93241"/>
                </a:lnTo>
                <a:lnTo>
                  <a:pt x="230312" y="-14064"/>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1"/>
          <p:cNvSpPr/>
          <p:nvPr/>
        </p:nvSpPr>
        <p:spPr>
          <a:xfrm>
            <a:off x="6953250" y="2540000"/>
            <a:ext cx="1381125" cy="1905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0" i="0" lang="en-US" sz="1000" u="none" cap="none" strike="noStrike">
                <a:solidFill>
                  <a:srgbClr val="FFFFFF"/>
                </a:solidFill>
                <a:latin typeface="Sorts Mill Goudy"/>
                <a:ea typeface="Sorts Mill Goudy"/>
                <a:cs typeface="Sorts Mill Goudy"/>
                <a:sym typeface="Sorts Mill Goudy"/>
              </a:rPr>
              <a:t>Target Performance</a:t>
            </a:r>
            <a:endParaRPr b="0" i="0" sz="1600" u="none" cap="none" strike="noStrike"/>
          </a:p>
        </p:txBody>
      </p:sp>
      <p:sp>
        <p:nvSpPr>
          <p:cNvPr id="394" name="Google Shape;394;p11"/>
          <p:cNvSpPr/>
          <p:nvPr/>
        </p:nvSpPr>
        <p:spPr>
          <a:xfrm>
            <a:off x="6953250" y="2762250"/>
            <a:ext cx="1508125" cy="381000"/>
          </a:xfrm>
          <a:prstGeom prst="rect">
            <a:avLst/>
          </a:prstGeom>
          <a:noFill/>
          <a:ln>
            <a:noFill/>
          </a:ln>
        </p:spPr>
        <p:txBody>
          <a:bodyPr anchorCtr="0" anchor="ctr" bIns="0" lIns="0" spcFirstLastPara="1" rIns="0" wrap="square" tIns="0">
            <a:noAutofit/>
          </a:bodyPr>
          <a:lstStyle/>
          <a:p>
            <a:pPr indent="0" lvl="0" marL="0" marR="0" rtl="0" algn="l">
              <a:lnSpc>
                <a:spcPct val="80000"/>
              </a:lnSpc>
              <a:spcBef>
                <a:spcPts val="0"/>
              </a:spcBef>
              <a:spcAft>
                <a:spcPts val="0"/>
              </a:spcAft>
              <a:buNone/>
            </a:pPr>
            <a:r>
              <a:rPr b="1" i="0" lang="en-US" sz="3000" u="none" cap="none" strike="noStrike">
                <a:solidFill>
                  <a:srgbClr val="FFFFFF"/>
                </a:solidFill>
                <a:latin typeface="Sorts Mill Goudy"/>
                <a:ea typeface="Sorts Mill Goudy"/>
                <a:cs typeface="Sorts Mill Goudy"/>
                <a:sym typeface="Sorts Mill Goudy"/>
              </a:rPr>
              <a:t>F1 &gt; 0.95</a:t>
            </a:r>
            <a:endParaRPr b="0" i="0" sz="1600" u="none" cap="none" strike="noStrike"/>
          </a:p>
        </p:txBody>
      </p:sp>
      <p:sp>
        <p:nvSpPr>
          <p:cNvPr id="395" name="Google Shape;395;p11"/>
          <p:cNvSpPr/>
          <p:nvPr/>
        </p:nvSpPr>
        <p:spPr>
          <a:xfrm>
            <a:off x="6350000" y="3270250"/>
            <a:ext cx="5437188" cy="468313"/>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b="0" i="0" lang="en-US" sz="1125" u="none" cap="none" strike="noStrike">
                <a:solidFill>
                  <a:srgbClr val="FFFFFF"/>
                </a:solidFill>
                <a:latin typeface="Sorts Mill Goudy"/>
                <a:ea typeface="Sorts Mill Goudy"/>
                <a:cs typeface="Sorts Mill Goudy"/>
                <a:sym typeface="Sorts Mill Goudy"/>
              </a:rPr>
              <a:t>High-performing classifier capable of reliably distinguishing phishing from legitimate URLs</a:t>
            </a:r>
            <a:endParaRPr b="0" i="0" sz="1600" u="none" cap="none" strike="noStrike"/>
          </a:p>
        </p:txBody>
      </p:sp>
      <p:sp>
        <p:nvSpPr>
          <p:cNvPr id="396" name="Google Shape;396;p11"/>
          <p:cNvSpPr/>
          <p:nvPr/>
        </p:nvSpPr>
        <p:spPr>
          <a:xfrm>
            <a:off x="6211094" y="4020344"/>
            <a:ext cx="158750" cy="158750"/>
          </a:xfrm>
          <a:custGeom>
            <a:rect b="b" l="l" r="r" t="t"/>
            <a:pathLst>
              <a:path extrusionOk="0" h="158750" w="158750">
                <a:moveTo>
                  <a:pt x="39688" y="99219"/>
                </a:moveTo>
                <a:lnTo>
                  <a:pt x="7596" y="99219"/>
                </a:lnTo>
                <a:cubicBezTo>
                  <a:pt x="-124" y="99219"/>
                  <a:pt x="-4868" y="90816"/>
                  <a:pt x="-899" y="84181"/>
                </a:cubicBezTo>
                <a:lnTo>
                  <a:pt x="15503" y="56834"/>
                </a:lnTo>
                <a:cubicBezTo>
                  <a:pt x="18200" y="52338"/>
                  <a:pt x="23037" y="49609"/>
                  <a:pt x="28277" y="49609"/>
                </a:cubicBezTo>
                <a:lnTo>
                  <a:pt x="57733" y="49609"/>
                </a:lnTo>
                <a:cubicBezTo>
                  <a:pt x="81328" y="9643"/>
                  <a:pt x="116520" y="7627"/>
                  <a:pt x="140053" y="11069"/>
                </a:cubicBezTo>
                <a:cubicBezTo>
                  <a:pt x="144022" y="11658"/>
                  <a:pt x="147123" y="14759"/>
                  <a:pt x="147681" y="18697"/>
                </a:cubicBezTo>
                <a:cubicBezTo>
                  <a:pt x="151123" y="42230"/>
                  <a:pt x="149107" y="77422"/>
                  <a:pt x="109141" y="101017"/>
                </a:cubicBezTo>
                <a:lnTo>
                  <a:pt x="109141" y="130473"/>
                </a:lnTo>
                <a:cubicBezTo>
                  <a:pt x="109141" y="135713"/>
                  <a:pt x="106412" y="140550"/>
                  <a:pt x="101916" y="143247"/>
                </a:cubicBezTo>
                <a:lnTo>
                  <a:pt x="74569" y="159649"/>
                </a:lnTo>
                <a:cubicBezTo>
                  <a:pt x="67965" y="163618"/>
                  <a:pt x="59531" y="158843"/>
                  <a:pt x="59531" y="151154"/>
                </a:cubicBezTo>
                <a:lnTo>
                  <a:pt x="59531" y="119062"/>
                </a:lnTo>
                <a:cubicBezTo>
                  <a:pt x="59531" y="108117"/>
                  <a:pt x="50633" y="99219"/>
                  <a:pt x="39688" y="99219"/>
                </a:cubicBezTo>
                <a:lnTo>
                  <a:pt x="39656" y="99219"/>
                </a:lnTo>
                <a:close/>
                <a:moveTo>
                  <a:pt x="124023" y="49609"/>
                </a:moveTo>
                <a:cubicBezTo>
                  <a:pt x="124023" y="41395"/>
                  <a:pt x="117355" y="34727"/>
                  <a:pt x="109141" y="34727"/>
                </a:cubicBezTo>
                <a:cubicBezTo>
                  <a:pt x="100927" y="34727"/>
                  <a:pt x="94258" y="41395"/>
                  <a:pt x="94258" y="49609"/>
                </a:cubicBezTo>
                <a:cubicBezTo>
                  <a:pt x="94258" y="57823"/>
                  <a:pt x="100927" y="64492"/>
                  <a:pt x="109141" y="64492"/>
                </a:cubicBezTo>
                <a:cubicBezTo>
                  <a:pt x="117355" y="64492"/>
                  <a:pt x="124023" y="57823"/>
                  <a:pt x="124023" y="49609"/>
                </a:cubicBezTo>
                <a:close/>
              </a:path>
            </a:pathLst>
          </a:custGeom>
          <a:solidFill>
            <a:srgbClr val="8B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1"/>
          <p:cNvSpPr/>
          <p:nvPr/>
        </p:nvSpPr>
        <p:spPr>
          <a:xfrm>
            <a:off x="6389688" y="3988594"/>
            <a:ext cx="5564188" cy="22225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250" u="none" cap="none" strike="noStrike">
                <a:solidFill>
                  <a:srgbClr val="1F2937"/>
                </a:solidFill>
                <a:latin typeface="Sorts Mill Goudy"/>
                <a:ea typeface="Sorts Mill Goudy"/>
                <a:cs typeface="Sorts Mill Goudy"/>
                <a:sym typeface="Sorts Mill Goudy"/>
              </a:rPr>
              <a:t>Deployment Ready</a:t>
            </a:r>
            <a:endParaRPr b="0" i="0" sz="1600" u="none" cap="none" strike="noStrike"/>
          </a:p>
        </p:txBody>
      </p:sp>
      <p:sp>
        <p:nvSpPr>
          <p:cNvPr id="398" name="Google Shape;398;p11"/>
          <p:cNvSpPr/>
          <p:nvPr/>
        </p:nvSpPr>
        <p:spPr>
          <a:xfrm>
            <a:off x="6195219" y="4310063"/>
            <a:ext cx="5675313" cy="579438"/>
          </a:xfrm>
          <a:custGeom>
            <a:rect b="b" l="l" r="r" t="t"/>
            <a:pathLst>
              <a:path extrusionOk="0" h="579438" w="5675313">
                <a:moveTo>
                  <a:pt x="0" y="0"/>
                </a:moveTo>
                <a:lnTo>
                  <a:pt x="5675313" y="0"/>
                </a:lnTo>
                <a:lnTo>
                  <a:pt x="5675313" y="579438"/>
                </a:lnTo>
                <a:lnTo>
                  <a:pt x="0" y="579438"/>
                </a:lnTo>
                <a:lnTo>
                  <a:pt x="0" y="0"/>
                </a:lnTo>
                <a:close/>
              </a:path>
            </a:pathLst>
          </a:custGeom>
          <a:solidFill>
            <a:srgbClr val="F9FAFB"/>
          </a:solidFill>
          <a:ln cap="flat" cmpd="sng" w="12700">
            <a:solidFill>
              <a:srgbClr val="E5E7EB"/>
            </a:solidFill>
            <a:prstDash val="solid"/>
            <a:round/>
            <a:headEnd len="sm" w="sm" type="none"/>
            <a:tailEnd len="sm" w="sm" type="none"/>
          </a:ln>
        </p:spPr>
      </p:sp>
      <p:sp>
        <p:nvSpPr>
          <p:cNvPr id="399" name="Google Shape;399;p11"/>
          <p:cNvSpPr/>
          <p:nvPr/>
        </p:nvSpPr>
        <p:spPr>
          <a:xfrm>
            <a:off x="6314281" y="4441031"/>
            <a:ext cx="158750" cy="158750"/>
          </a:xfrm>
          <a:custGeom>
            <a:rect b="b" l="l" r="r" t="t"/>
            <a:pathLst>
              <a:path extrusionOk="0" h="158750" w="158750">
                <a:moveTo>
                  <a:pt x="0" y="79375"/>
                </a:moveTo>
                <a:cubicBezTo>
                  <a:pt x="0" y="64926"/>
                  <a:pt x="3876" y="51346"/>
                  <a:pt x="10635" y="39408"/>
                </a:cubicBezTo>
                <a:lnTo>
                  <a:pt x="44679" y="98692"/>
                </a:lnTo>
                <a:cubicBezTo>
                  <a:pt x="51470" y="110846"/>
                  <a:pt x="64461" y="119062"/>
                  <a:pt x="79375" y="119062"/>
                </a:cubicBezTo>
                <a:cubicBezTo>
                  <a:pt x="83809" y="119062"/>
                  <a:pt x="87778" y="118349"/>
                  <a:pt x="92025" y="117016"/>
                </a:cubicBezTo>
                <a:lnTo>
                  <a:pt x="68368" y="158006"/>
                </a:lnTo>
                <a:cubicBezTo>
                  <a:pt x="29735" y="152642"/>
                  <a:pt x="0" y="119466"/>
                  <a:pt x="0" y="79375"/>
                </a:cubicBezTo>
                <a:close/>
                <a:moveTo>
                  <a:pt x="113202" y="99715"/>
                </a:moveTo>
                <a:cubicBezTo>
                  <a:pt x="117016" y="93762"/>
                  <a:pt x="119062" y="86537"/>
                  <a:pt x="119062" y="79375"/>
                </a:cubicBezTo>
                <a:cubicBezTo>
                  <a:pt x="119062" y="67531"/>
                  <a:pt x="113854" y="56896"/>
                  <a:pt x="105637" y="49609"/>
                </a:cubicBezTo>
                <a:lnTo>
                  <a:pt x="152983" y="49609"/>
                </a:lnTo>
                <a:cubicBezTo>
                  <a:pt x="156704" y="58787"/>
                  <a:pt x="158750" y="68864"/>
                  <a:pt x="158750" y="79375"/>
                </a:cubicBezTo>
                <a:cubicBezTo>
                  <a:pt x="158750" y="123217"/>
                  <a:pt x="123217" y="158471"/>
                  <a:pt x="79375" y="158750"/>
                </a:cubicBezTo>
                <a:lnTo>
                  <a:pt x="113202" y="99715"/>
                </a:lnTo>
                <a:close/>
                <a:moveTo>
                  <a:pt x="148146" y="39688"/>
                </a:moveTo>
                <a:lnTo>
                  <a:pt x="79375" y="39688"/>
                </a:lnTo>
                <a:cubicBezTo>
                  <a:pt x="59872" y="39688"/>
                  <a:pt x="44121" y="53361"/>
                  <a:pt x="40463" y="71531"/>
                </a:cubicBezTo>
                <a:lnTo>
                  <a:pt x="16805" y="30541"/>
                </a:lnTo>
                <a:cubicBezTo>
                  <a:pt x="31316" y="11937"/>
                  <a:pt x="53950" y="0"/>
                  <a:pt x="79375" y="0"/>
                </a:cubicBezTo>
                <a:cubicBezTo>
                  <a:pt x="108769" y="0"/>
                  <a:pt x="134410" y="15968"/>
                  <a:pt x="148146" y="39688"/>
                </a:cubicBezTo>
                <a:close/>
                <a:moveTo>
                  <a:pt x="106660" y="79375"/>
                </a:moveTo>
                <a:cubicBezTo>
                  <a:pt x="106660" y="94434"/>
                  <a:pt x="94434" y="106660"/>
                  <a:pt x="79375" y="106660"/>
                </a:cubicBezTo>
                <a:cubicBezTo>
                  <a:pt x="64316" y="106660"/>
                  <a:pt x="52090" y="94434"/>
                  <a:pt x="52090" y="79375"/>
                </a:cubicBezTo>
                <a:cubicBezTo>
                  <a:pt x="52090" y="64316"/>
                  <a:pt x="64316" y="52090"/>
                  <a:pt x="79375" y="52090"/>
                </a:cubicBezTo>
                <a:cubicBezTo>
                  <a:pt x="94434" y="52090"/>
                  <a:pt x="106660" y="64316"/>
                  <a:pt x="106660" y="79375"/>
                </a:cubicBezTo>
                <a:close/>
              </a:path>
            </a:pathLst>
          </a:custGeom>
          <a:solidFill>
            <a:srgbClr val="8B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1"/>
          <p:cNvSpPr/>
          <p:nvPr/>
        </p:nvSpPr>
        <p:spPr>
          <a:xfrm>
            <a:off x="6588125" y="4409281"/>
            <a:ext cx="1539875" cy="1905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i="0" lang="en-US" sz="1000" u="none" cap="none" strike="noStrike">
                <a:solidFill>
                  <a:srgbClr val="1F2937"/>
                </a:solidFill>
                <a:latin typeface="Sorts Mill Goudy"/>
                <a:ea typeface="Sorts Mill Goudy"/>
                <a:cs typeface="Sorts Mill Goudy"/>
                <a:sym typeface="Sorts Mill Goudy"/>
              </a:rPr>
              <a:t>Browser Extensions</a:t>
            </a:r>
            <a:endParaRPr b="0" i="0" sz="1600" u="none" cap="none" strike="noStrike"/>
          </a:p>
        </p:txBody>
      </p:sp>
      <p:sp>
        <p:nvSpPr>
          <p:cNvPr id="401" name="Google Shape;401;p11"/>
          <p:cNvSpPr/>
          <p:nvPr/>
        </p:nvSpPr>
        <p:spPr>
          <a:xfrm>
            <a:off x="6588125" y="4599781"/>
            <a:ext cx="1539875" cy="1905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0" i="0" lang="en-US" sz="1000" u="none" cap="none" strike="noStrike">
                <a:solidFill>
                  <a:srgbClr val="6B7280"/>
                </a:solidFill>
                <a:latin typeface="Sorts Mill Goudy"/>
                <a:ea typeface="Sorts Mill Goudy"/>
                <a:cs typeface="Sorts Mill Goudy"/>
                <a:sym typeface="Sorts Mill Goudy"/>
              </a:rPr>
              <a:t>Real-time URL verification</a:t>
            </a:r>
            <a:endParaRPr b="0" i="0" sz="1600" u="none" cap="none" strike="noStrike"/>
          </a:p>
        </p:txBody>
      </p:sp>
      <p:sp>
        <p:nvSpPr>
          <p:cNvPr id="402" name="Google Shape;402;p11"/>
          <p:cNvSpPr/>
          <p:nvPr/>
        </p:nvSpPr>
        <p:spPr>
          <a:xfrm>
            <a:off x="6195219" y="4960938"/>
            <a:ext cx="5675313" cy="579438"/>
          </a:xfrm>
          <a:custGeom>
            <a:rect b="b" l="l" r="r" t="t"/>
            <a:pathLst>
              <a:path extrusionOk="0" h="579438" w="5675313">
                <a:moveTo>
                  <a:pt x="0" y="0"/>
                </a:moveTo>
                <a:lnTo>
                  <a:pt x="5675313" y="0"/>
                </a:lnTo>
                <a:lnTo>
                  <a:pt x="5675313" y="579438"/>
                </a:lnTo>
                <a:lnTo>
                  <a:pt x="0" y="579438"/>
                </a:lnTo>
                <a:lnTo>
                  <a:pt x="0" y="0"/>
                </a:lnTo>
                <a:close/>
              </a:path>
            </a:pathLst>
          </a:custGeom>
          <a:solidFill>
            <a:srgbClr val="F9FAFB"/>
          </a:solidFill>
          <a:ln cap="flat" cmpd="sng" w="12700">
            <a:solidFill>
              <a:srgbClr val="E5E7EB"/>
            </a:solidFill>
            <a:prstDash val="solid"/>
            <a:round/>
            <a:headEnd len="sm" w="sm" type="none"/>
            <a:tailEnd len="sm" w="sm" type="none"/>
          </a:ln>
        </p:spPr>
      </p:sp>
      <p:sp>
        <p:nvSpPr>
          <p:cNvPr id="403" name="Google Shape;403;p11"/>
          <p:cNvSpPr/>
          <p:nvPr/>
        </p:nvSpPr>
        <p:spPr>
          <a:xfrm>
            <a:off x="6314281" y="5091906"/>
            <a:ext cx="158750" cy="158750"/>
          </a:xfrm>
          <a:custGeom>
            <a:rect b="b" l="l" r="r" t="t"/>
            <a:pathLst>
              <a:path extrusionOk="0" h="158750" w="158750">
                <a:moveTo>
                  <a:pt x="14883" y="19844"/>
                </a:moveTo>
                <a:cubicBezTo>
                  <a:pt x="6666" y="19844"/>
                  <a:pt x="0" y="26510"/>
                  <a:pt x="0" y="34727"/>
                </a:cubicBezTo>
                <a:cubicBezTo>
                  <a:pt x="0" y="39408"/>
                  <a:pt x="2201" y="43811"/>
                  <a:pt x="5953" y="46633"/>
                </a:cubicBezTo>
                <a:lnTo>
                  <a:pt x="70445" y="95002"/>
                </a:lnTo>
                <a:cubicBezTo>
                  <a:pt x="75747" y="98971"/>
                  <a:pt x="83003" y="98971"/>
                  <a:pt x="88305" y="95002"/>
                </a:cubicBezTo>
                <a:lnTo>
                  <a:pt x="152797" y="46633"/>
                </a:lnTo>
                <a:cubicBezTo>
                  <a:pt x="156549" y="43811"/>
                  <a:pt x="158750" y="39408"/>
                  <a:pt x="158750" y="34727"/>
                </a:cubicBezTo>
                <a:cubicBezTo>
                  <a:pt x="158750" y="26510"/>
                  <a:pt x="152084" y="19844"/>
                  <a:pt x="143867" y="19844"/>
                </a:cubicBezTo>
                <a:lnTo>
                  <a:pt x="14883" y="19844"/>
                </a:lnTo>
                <a:close/>
                <a:moveTo>
                  <a:pt x="0" y="60771"/>
                </a:moveTo>
                <a:lnTo>
                  <a:pt x="0" y="119062"/>
                </a:lnTo>
                <a:cubicBezTo>
                  <a:pt x="0" y="130008"/>
                  <a:pt x="8899" y="138906"/>
                  <a:pt x="19844" y="138906"/>
                </a:cubicBezTo>
                <a:lnTo>
                  <a:pt x="138906" y="138906"/>
                </a:lnTo>
                <a:cubicBezTo>
                  <a:pt x="149851" y="138906"/>
                  <a:pt x="158750" y="130008"/>
                  <a:pt x="158750" y="119062"/>
                </a:cubicBezTo>
                <a:lnTo>
                  <a:pt x="158750" y="60771"/>
                </a:lnTo>
                <a:lnTo>
                  <a:pt x="97234" y="106908"/>
                </a:lnTo>
                <a:cubicBezTo>
                  <a:pt x="86661" y="114846"/>
                  <a:pt x="72089" y="114846"/>
                  <a:pt x="61516" y="106908"/>
                </a:cubicBezTo>
                <a:lnTo>
                  <a:pt x="0" y="60771"/>
                </a:lnTo>
                <a:close/>
              </a:path>
            </a:pathLst>
          </a:custGeom>
          <a:solidFill>
            <a:srgbClr val="8B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1"/>
          <p:cNvSpPr/>
          <p:nvPr/>
        </p:nvSpPr>
        <p:spPr>
          <a:xfrm>
            <a:off x="6588125" y="5060156"/>
            <a:ext cx="1984375" cy="1905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i="0" lang="en-US" sz="1000" u="none" cap="none" strike="noStrike">
                <a:solidFill>
                  <a:srgbClr val="1F2937"/>
                </a:solidFill>
                <a:latin typeface="Sorts Mill Goudy"/>
                <a:ea typeface="Sorts Mill Goudy"/>
                <a:cs typeface="Sorts Mill Goudy"/>
                <a:sym typeface="Sorts Mill Goudy"/>
              </a:rPr>
              <a:t>Email Filtering</a:t>
            </a:r>
            <a:endParaRPr b="0" i="0" sz="1600" u="none" cap="none" strike="noStrike"/>
          </a:p>
        </p:txBody>
      </p:sp>
      <p:sp>
        <p:nvSpPr>
          <p:cNvPr id="405" name="Google Shape;405;p11"/>
          <p:cNvSpPr/>
          <p:nvPr/>
        </p:nvSpPr>
        <p:spPr>
          <a:xfrm>
            <a:off x="6588125" y="5250656"/>
            <a:ext cx="1984375" cy="1905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0" i="0" lang="en-US" sz="1000" u="none" cap="none" strike="noStrike">
                <a:solidFill>
                  <a:srgbClr val="6B7280"/>
                </a:solidFill>
                <a:latin typeface="Sorts Mill Goudy"/>
                <a:ea typeface="Sorts Mill Goudy"/>
                <a:cs typeface="Sorts Mill Goudy"/>
                <a:sym typeface="Sorts Mill Goudy"/>
              </a:rPr>
              <a:t>Automated phishing link detection</a:t>
            </a:r>
            <a:endParaRPr b="0" i="0" sz="1600" u="none" cap="none" strike="noStrike"/>
          </a:p>
        </p:txBody>
      </p:sp>
      <p:sp>
        <p:nvSpPr>
          <p:cNvPr id="406" name="Google Shape;406;p11"/>
          <p:cNvSpPr/>
          <p:nvPr/>
        </p:nvSpPr>
        <p:spPr>
          <a:xfrm>
            <a:off x="6195219" y="5611813"/>
            <a:ext cx="5675313" cy="579438"/>
          </a:xfrm>
          <a:custGeom>
            <a:rect b="b" l="l" r="r" t="t"/>
            <a:pathLst>
              <a:path extrusionOk="0" h="579438" w="5675313">
                <a:moveTo>
                  <a:pt x="0" y="0"/>
                </a:moveTo>
                <a:lnTo>
                  <a:pt x="5675313" y="0"/>
                </a:lnTo>
                <a:lnTo>
                  <a:pt x="5675313" y="579438"/>
                </a:lnTo>
                <a:lnTo>
                  <a:pt x="0" y="579438"/>
                </a:lnTo>
                <a:lnTo>
                  <a:pt x="0" y="0"/>
                </a:lnTo>
                <a:close/>
              </a:path>
            </a:pathLst>
          </a:custGeom>
          <a:solidFill>
            <a:srgbClr val="F9FAFB"/>
          </a:solidFill>
          <a:ln cap="flat" cmpd="sng" w="12700">
            <a:solidFill>
              <a:srgbClr val="E5E7EB"/>
            </a:solidFill>
            <a:prstDash val="solid"/>
            <a:round/>
            <a:headEnd len="sm" w="sm" type="none"/>
            <a:tailEnd len="sm" w="sm" type="none"/>
          </a:ln>
        </p:spPr>
      </p:sp>
      <p:sp>
        <p:nvSpPr>
          <p:cNvPr id="407" name="Google Shape;407;p11"/>
          <p:cNvSpPr/>
          <p:nvPr/>
        </p:nvSpPr>
        <p:spPr>
          <a:xfrm>
            <a:off x="6314281" y="5742781"/>
            <a:ext cx="158750" cy="158750"/>
          </a:xfrm>
          <a:custGeom>
            <a:rect b="b" l="l" r="r" t="t"/>
            <a:pathLst>
              <a:path extrusionOk="0" h="158750" w="158750">
                <a:moveTo>
                  <a:pt x="79375" y="0"/>
                </a:moveTo>
                <a:cubicBezTo>
                  <a:pt x="80801" y="0"/>
                  <a:pt x="82228" y="310"/>
                  <a:pt x="83530" y="899"/>
                </a:cubicBezTo>
                <a:lnTo>
                  <a:pt x="141945" y="25673"/>
                </a:lnTo>
                <a:cubicBezTo>
                  <a:pt x="148766" y="28556"/>
                  <a:pt x="153851" y="35285"/>
                  <a:pt x="153820" y="43408"/>
                </a:cubicBezTo>
                <a:cubicBezTo>
                  <a:pt x="153665" y="74166"/>
                  <a:pt x="141015" y="130442"/>
                  <a:pt x="87592" y="156021"/>
                </a:cubicBezTo>
                <a:cubicBezTo>
                  <a:pt x="82414" y="158502"/>
                  <a:pt x="76398" y="158502"/>
                  <a:pt x="71220" y="156021"/>
                </a:cubicBezTo>
                <a:cubicBezTo>
                  <a:pt x="17766" y="130442"/>
                  <a:pt x="5147" y="74166"/>
                  <a:pt x="4992" y="43408"/>
                </a:cubicBezTo>
                <a:cubicBezTo>
                  <a:pt x="4961" y="35285"/>
                  <a:pt x="10046" y="28556"/>
                  <a:pt x="16867" y="25673"/>
                </a:cubicBezTo>
                <a:lnTo>
                  <a:pt x="75251" y="899"/>
                </a:lnTo>
                <a:cubicBezTo>
                  <a:pt x="76553" y="310"/>
                  <a:pt x="77949" y="0"/>
                  <a:pt x="79375" y="0"/>
                </a:cubicBezTo>
                <a:close/>
                <a:moveTo>
                  <a:pt x="79375" y="20712"/>
                </a:moveTo>
                <a:lnTo>
                  <a:pt x="79375" y="137945"/>
                </a:lnTo>
                <a:cubicBezTo>
                  <a:pt x="122163" y="117233"/>
                  <a:pt x="133666" y="71344"/>
                  <a:pt x="133945" y="43873"/>
                </a:cubicBezTo>
                <a:lnTo>
                  <a:pt x="79375" y="20743"/>
                </a:lnTo>
                <a:lnTo>
                  <a:pt x="79375" y="20743"/>
                </a:lnTo>
                <a:close/>
              </a:path>
            </a:pathLst>
          </a:custGeom>
          <a:solidFill>
            <a:srgbClr val="8B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1"/>
          <p:cNvSpPr/>
          <p:nvPr/>
        </p:nvSpPr>
        <p:spPr>
          <a:xfrm>
            <a:off x="6588125" y="5711031"/>
            <a:ext cx="1912938" cy="1905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i="0" lang="en-US" sz="1000" u="none" cap="none" strike="noStrike">
                <a:solidFill>
                  <a:srgbClr val="1F2937"/>
                </a:solidFill>
                <a:latin typeface="Sorts Mill Goudy"/>
                <a:ea typeface="Sorts Mill Goudy"/>
                <a:cs typeface="Sorts Mill Goudy"/>
                <a:sym typeface="Sorts Mill Goudy"/>
              </a:rPr>
              <a:t>Security Tools</a:t>
            </a:r>
            <a:endParaRPr b="0" i="0" sz="1600" u="none" cap="none" strike="noStrike"/>
          </a:p>
        </p:txBody>
      </p:sp>
      <p:sp>
        <p:nvSpPr>
          <p:cNvPr id="409" name="Google Shape;409;p11"/>
          <p:cNvSpPr/>
          <p:nvPr/>
        </p:nvSpPr>
        <p:spPr>
          <a:xfrm>
            <a:off x="6588125" y="5901531"/>
            <a:ext cx="1912938" cy="1905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0" i="0" lang="en-US" sz="1000" u="none" cap="none" strike="noStrike">
                <a:solidFill>
                  <a:srgbClr val="6B7280"/>
                </a:solidFill>
                <a:latin typeface="Sorts Mill Goudy"/>
                <a:ea typeface="Sorts Mill Goudy"/>
                <a:cs typeface="Sorts Mill Goudy"/>
                <a:sym typeface="Sorts Mill Goudy"/>
              </a:rPr>
              <a:t>Enterprise cybersecurity solutions</a:t>
            </a:r>
            <a:endParaRPr b="0" i="0" sz="1600" u="none" cap="none" strike="noStrike"/>
          </a:p>
        </p:txBody>
      </p:sp>
    </p:spTree>
  </p:cSld>
  <p:clrMapOvr>
    <a:masterClrMapping/>
  </p:clrMapOvr>
  <p:transition>
    <p:fade/>
  </p:transition>
</p:sld>
</file>

<file path=ppt/theme/theme1.xml><?xml version="1.0" encoding="utf-8"?>
<a:theme xmlns:a="http://schemas.openxmlformats.org/drawingml/2006/main" xmlns:r="http://schemas.openxmlformats.org/officeDocument/2006/relationships"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